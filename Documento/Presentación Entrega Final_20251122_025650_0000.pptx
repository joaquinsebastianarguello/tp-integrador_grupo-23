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chivo Black" charset="1" panose="020B0A03020202020B04"/>
      <p:regular r:id="rId28"/>
    </p:embeddedFont>
    <p:embeddedFont>
      <p:font typeface="Space Mono" charset="1" panose="02000509040000020004"/>
      <p:regular r:id="rId29"/>
    </p:embeddedFont>
    <p:embeddedFont>
      <p:font typeface="Arial"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1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sp>
        <p:nvSpPr>
          <p:cNvPr name="AutoShape 2" id="2"/>
          <p:cNvSpPr/>
          <p:nvPr/>
        </p:nvSpPr>
        <p:spPr>
          <a:xfrm flipV="true">
            <a:off x="10644629" y="0"/>
            <a:ext cx="0" cy="10287000"/>
          </a:xfrm>
          <a:prstGeom prst="line">
            <a:avLst/>
          </a:prstGeom>
          <a:ln cap="flat" w="333375">
            <a:solidFill>
              <a:srgbClr val="FFFFFF"/>
            </a:solidFill>
            <a:prstDash val="solid"/>
            <a:headEnd type="none" len="sm" w="sm"/>
            <a:tailEnd type="none" len="sm" w="sm"/>
          </a:ln>
        </p:spPr>
      </p:sp>
      <p:grpSp>
        <p:nvGrpSpPr>
          <p:cNvPr name="Group 3" id="3"/>
          <p:cNvGrpSpPr/>
          <p:nvPr/>
        </p:nvGrpSpPr>
        <p:grpSpPr>
          <a:xfrm rot="-5400000">
            <a:off x="8928953" y="1715676"/>
            <a:ext cx="10287000" cy="6855648"/>
            <a:chOff x="0" y="0"/>
            <a:chExt cx="707734" cy="471661"/>
          </a:xfrm>
        </p:grpSpPr>
        <p:sp>
          <p:nvSpPr>
            <p:cNvPr name="Freeform 4" id="4"/>
            <p:cNvSpPr/>
            <p:nvPr/>
          </p:nvSpPr>
          <p:spPr>
            <a:xfrm flipH="false" flipV="false" rot="0">
              <a:off x="0" y="0"/>
              <a:ext cx="707734" cy="471661"/>
            </a:xfrm>
            <a:custGeom>
              <a:avLst/>
              <a:gdLst/>
              <a:ahLst/>
              <a:cxnLst/>
              <a:rect r="r" b="b" t="t" l="l"/>
              <a:pathLst>
                <a:path h="471661" w="707734">
                  <a:moveTo>
                    <a:pt x="0" y="0"/>
                  </a:moveTo>
                  <a:lnTo>
                    <a:pt x="707734" y="0"/>
                  </a:lnTo>
                  <a:lnTo>
                    <a:pt x="707734" y="471661"/>
                  </a:lnTo>
                  <a:lnTo>
                    <a:pt x="0" y="471661"/>
                  </a:lnTo>
                  <a:close/>
                </a:path>
              </a:pathLst>
            </a:custGeom>
            <a:solidFill>
              <a:srgbClr val="DC8651"/>
            </a:solidFill>
          </p:spPr>
        </p:sp>
        <p:sp>
          <p:nvSpPr>
            <p:cNvPr name="TextBox 5" id="5"/>
            <p:cNvSpPr txBox="true"/>
            <p:nvPr/>
          </p:nvSpPr>
          <p:spPr>
            <a:xfrm>
              <a:off x="0" y="-38100"/>
              <a:ext cx="707734" cy="50976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1776442"/>
            <a:ext cx="18537701" cy="2932834"/>
            <a:chOff x="0" y="0"/>
            <a:chExt cx="3814342" cy="603464"/>
          </a:xfrm>
        </p:grpSpPr>
        <p:sp>
          <p:nvSpPr>
            <p:cNvPr name="Freeform 7" id="7"/>
            <p:cNvSpPr/>
            <p:nvPr/>
          </p:nvSpPr>
          <p:spPr>
            <a:xfrm flipH="false" flipV="false" rot="0">
              <a:off x="0" y="0"/>
              <a:ext cx="3814342" cy="603464"/>
            </a:xfrm>
            <a:custGeom>
              <a:avLst/>
              <a:gdLst/>
              <a:ahLst/>
              <a:cxnLst/>
              <a:rect r="r" b="b" t="t" l="l"/>
              <a:pathLst>
                <a:path h="603464" w="3814342">
                  <a:moveTo>
                    <a:pt x="0" y="0"/>
                  </a:moveTo>
                  <a:lnTo>
                    <a:pt x="3814342" y="0"/>
                  </a:lnTo>
                  <a:lnTo>
                    <a:pt x="3814342" y="603464"/>
                  </a:lnTo>
                  <a:lnTo>
                    <a:pt x="0" y="603464"/>
                  </a:lnTo>
                  <a:close/>
                </a:path>
              </a:pathLst>
            </a:custGeom>
            <a:solidFill>
              <a:srgbClr val="5BB5DC"/>
            </a:solidFill>
          </p:spPr>
        </p:sp>
        <p:sp>
          <p:nvSpPr>
            <p:cNvPr name="TextBox 8" id="8"/>
            <p:cNvSpPr txBox="true"/>
            <p:nvPr/>
          </p:nvSpPr>
          <p:spPr>
            <a:xfrm>
              <a:off x="0" y="-38100"/>
              <a:ext cx="3814342" cy="64156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954685" y="1943966"/>
            <a:ext cx="12378630" cy="2331086"/>
          </a:xfrm>
          <a:prstGeom prst="rect">
            <a:avLst/>
          </a:prstGeom>
        </p:spPr>
        <p:txBody>
          <a:bodyPr anchor="t" rtlCol="false" tIns="0" lIns="0" bIns="0" rIns="0">
            <a:spAutoFit/>
          </a:bodyPr>
          <a:lstStyle/>
          <a:p>
            <a:pPr algn="just">
              <a:lnSpc>
                <a:spcPts val="19039"/>
              </a:lnSpc>
            </a:pPr>
            <a:r>
              <a:rPr lang="en-US" sz="13599">
                <a:solidFill>
                  <a:srgbClr val="FFFFFF"/>
                </a:solidFill>
                <a:latin typeface="Archivo Black"/>
                <a:ea typeface="Archivo Black"/>
                <a:cs typeface="Archivo Black"/>
                <a:sym typeface="Archivo Black"/>
              </a:rPr>
              <a:t>Trabajo Final</a:t>
            </a:r>
          </a:p>
        </p:txBody>
      </p:sp>
      <p:sp>
        <p:nvSpPr>
          <p:cNvPr name="TextBox 10" id="10"/>
          <p:cNvSpPr txBox="true"/>
          <p:nvPr/>
        </p:nvSpPr>
        <p:spPr>
          <a:xfrm rot="0">
            <a:off x="10644629" y="5067300"/>
            <a:ext cx="6614671" cy="1384300"/>
          </a:xfrm>
          <a:prstGeom prst="rect">
            <a:avLst/>
          </a:prstGeom>
        </p:spPr>
        <p:txBody>
          <a:bodyPr anchor="t" rtlCol="false" tIns="0" lIns="0" bIns="0" rIns="0">
            <a:spAutoFit/>
          </a:bodyPr>
          <a:lstStyle/>
          <a:p>
            <a:pPr algn="r">
              <a:lnSpc>
                <a:spcPts val="5599"/>
              </a:lnSpc>
            </a:pPr>
            <a:r>
              <a:rPr lang="en-US" sz="3999">
                <a:solidFill>
                  <a:srgbClr val="F8DCBF"/>
                </a:solidFill>
                <a:latin typeface="Archivo Black"/>
                <a:ea typeface="Archivo Black"/>
                <a:cs typeface="Archivo Black"/>
                <a:sym typeface="Archivo Black"/>
              </a:rPr>
              <a:t>CLIENTE DE CORREO ELECTRÓNICO</a:t>
            </a:r>
          </a:p>
        </p:txBody>
      </p:sp>
      <p:sp>
        <p:nvSpPr>
          <p:cNvPr name="TextBox 11" id="11"/>
          <p:cNvSpPr txBox="true"/>
          <p:nvPr/>
        </p:nvSpPr>
        <p:spPr>
          <a:xfrm rot="0">
            <a:off x="669801" y="9210675"/>
            <a:ext cx="4569768" cy="471805"/>
          </a:xfrm>
          <a:prstGeom prst="rect">
            <a:avLst/>
          </a:prstGeom>
        </p:spPr>
        <p:txBody>
          <a:bodyPr anchor="t" rtlCol="false" tIns="0" lIns="0" bIns="0" rIns="0">
            <a:spAutoFit/>
          </a:bodyPr>
          <a:lstStyle/>
          <a:p>
            <a:pPr algn="ctr">
              <a:lnSpc>
                <a:spcPts val="3919"/>
              </a:lnSpc>
            </a:pPr>
            <a:r>
              <a:rPr lang="en-US" sz="2799">
                <a:solidFill>
                  <a:srgbClr val="F8DCBF"/>
                </a:solidFill>
                <a:latin typeface="Space Mono"/>
                <a:ea typeface="Space Mono"/>
                <a:cs typeface="Space Mono"/>
                <a:sym typeface="Space Mono"/>
              </a:rPr>
              <a:t>Melisa Gisela Hidalg</a:t>
            </a:r>
            <a:r>
              <a:rPr lang="en-US" sz="2799">
                <a:solidFill>
                  <a:srgbClr val="F8DCBF"/>
                </a:solidFill>
                <a:latin typeface="Space Mono"/>
                <a:ea typeface="Space Mono"/>
                <a:cs typeface="Space Mono"/>
                <a:sym typeface="Space Mono"/>
              </a:rPr>
              <a:t>o</a:t>
            </a:r>
          </a:p>
        </p:txBody>
      </p:sp>
      <p:sp>
        <p:nvSpPr>
          <p:cNvPr name="AutoShape 12" id="12"/>
          <p:cNvSpPr/>
          <p:nvPr/>
        </p:nvSpPr>
        <p:spPr>
          <a:xfrm flipH="true">
            <a:off x="0" y="4709276"/>
            <a:ext cx="18288000" cy="0"/>
          </a:xfrm>
          <a:prstGeom prst="line">
            <a:avLst/>
          </a:prstGeom>
          <a:ln cap="flat" w="333375">
            <a:solidFill>
              <a:srgbClr val="FFFFFF"/>
            </a:solidFill>
            <a:prstDash val="solid"/>
            <a:headEnd type="none" len="sm" w="sm"/>
            <a:tailEnd type="none" len="sm" w="sm"/>
          </a:ln>
        </p:spPr>
      </p:sp>
      <p:sp>
        <p:nvSpPr>
          <p:cNvPr name="TextBox 13" id="13"/>
          <p:cNvSpPr txBox="true"/>
          <p:nvPr/>
        </p:nvSpPr>
        <p:spPr>
          <a:xfrm rot="0">
            <a:off x="269064" y="8602345"/>
            <a:ext cx="9983643" cy="655955"/>
          </a:xfrm>
          <a:prstGeom prst="rect">
            <a:avLst/>
          </a:prstGeom>
        </p:spPr>
        <p:txBody>
          <a:bodyPr anchor="t" rtlCol="false" tIns="0" lIns="0" bIns="0" rIns="0">
            <a:spAutoFit/>
          </a:bodyPr>
          <a:lstStyle/>
          <a:p>
            <a:pPr algn="ctr">
              <a:lnSpc>
                <a:spcPts val="5320"/>
              </a:lnSpc>
            </a:pPr>
            <a:r>
              <a:rPr lang="en-US" sz="3800">
                <a:solidFill>
                  <a:srgbClr val="F8DCBF"/>
                </a:solidFill>
                <a:latin typeface="Archivo Black"/>
                <a:ea typeface="Archivo Black"/>
                <a:cs typeface="Archivo Black"/>
                <a:sym typeface="Archivo Black"/>
              </a:rPr>
              <a:t>ESTRUCTURA DE DATOS EN PYTHON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594486" y="1952997"/>
            <a:ext cx="14660392" cy="3697118"/>
            <a:chOff x="0" y="0"/>
            <a:chExt cx="19547190" cy="4929490"/>
          </a:xfrm>
        </p:grpSpPr>
        <p:grpSp>
          <p:nvGrpSpPr>
            <p:cNvPr name="Group 3" id="3"/>
            <p:cNvGrpSpPr/>
            <p:nvPr/>
          </p:nvGrpSpPr>
          <p:grpSpPr>
            <a:xfrm rot="0">
              <a:off x="0" y="0"/>
              <a:ext cx="19547190" cy="4929490"/>
              <a:chOff x="0" y="0"/>
              <a:chExt cx="834990" cy="210571"/>
            </a:xfrm>
          </p:grpSpPr>
          <p:sp>
            <p:nvSpPr>
              <p:cNvPr name="Freeform 4" id="4"/>
              <p:cNvSpPr/>
              <p:nvPr/>
            </p:nvSpPr>
            <p:spPr>
              <a:xfrm flipH="false" flipV="false" rot="0">
                <a:off x="0" y="0"/>
                <a:ext cx="834990" cy="210571"/>
              </a:xfrm>
              <a:custGeom>
                <a:avLst/>
                <a:gdLst/>
                <a:ahLst/>
                <a:cxnLst/>
                <a:rect r="r" b="b" t="t" l="l"/>
                <a:pathLst>
                  <a:path h="210571" w="834990">
                    <a:moveTo>
                      <a:pt x="10314" y="0"/>
                    </a:moveTo>
                    <a:lnTo>
                      <a:pt x="824675" y="0"/>
                    </a:lnTo>
                    <a:cubicBezTo>
                      <a:pt x="827411" y="0"/>
                      <a:pt x="830034" y="1087"/>
                      <a:pt x="831969" y="3021"/>
                    </a:cubicBezTo>
                    <a:cubicBezTo>
                      <a:pt x="833903" y="4955"/>
                      <a:pt x="834990" y="7579"/>
                      <a:pt x="834990" y="10314"/>
                    </a:cubicBezTo>
                    <a:lnTo>
                      <a:pt x="834990" y="200257"/>
                    </a:lnTo>
                    <a:cubicBezTo>
                      <a:pt x="834990" y="202992"/>
                      <a:pt x="833903" y="205616"/>
                      <a:pt x="831969" y="207550"/>
                    </a:cubicBezTo>
                    <a:cubicBezTo>
                      <a:pt x="830034" y="209484"/>
                      <a:pt x="827411" y="210571"/>
                      <a:pt x="824675" y="210571"/>
                    </a:cubicBezTo>
                    <a:lnTo>
                      <a:pt x="10314" y="210571"/>
                    </a:lnTo>
                    <a:cubicBezTo>
                      <a:pt x="7579" y="210571"/>
                      <a:pt x="4955" y="209484"/>
                      <a:pt x="3021" y="207550"/>
                    </a:cubicBezTo>
                    <a:cubicBezTo>
                      <a:pt x="1087" y="205616"/>
                      <a:pt x="0" y="202992"/>
                      <a:pt x="0" y="200257"/>
                    </a:cubicBezTo>
                    <a:lnTo>
                      <a:pt x="0" y="10314"/>
                    </a:lnTo>
                    <a:cubicBezTo>
                      <a:pt x="0" y="7579"/>
                      <a:pt x="1087" y="4955"/>
                      <a:pt x="3021" y="3021"/>
                    </a:cubicBezTo>
                    <a:cubicBezTo>
                      <a:pt x="4955" y="1087"/>
                      <a:pt x="7579" y="0"/>
                      <a:pt x="10314" y="0"/>
                    </a:cubicBezTo>
                    <a:close/>
                  </a:path>
                </a:pathLst>
              </a:custGeom>
              <a:solidFill>
                <a:srgbClr val="5BB5DC"/>
              </a:solidFill>
              <a:ln w="133350" cap="rnd">
                <a:solidFill>
                  <a:srgbClr val="F8DCBF"/>
                </a:solidFill>
                <a:prstDash val="solid"/>
                <a:round/>
              </a:ln>
            </p:spPr>
          </p:sp>
          <p:sp>
            <p:nvSpPr>
              <p:cNvPr name="TextBox 5" id="5"/>
              <p:cNvSpPr txBox="true"/>
              <p:nvPr/>
            </p:nvSpPr>
            <p:spPr>
              <a:xfrm>
                <a:off x="0" y="-38100"/>
                <a:ext cx="834990" cy="24867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0789" y="451715"/>
              <a:ext cx="19225612" cy="3934248"/>
            </a:xfrm>
            <a:prstGeom prst="rect">
              <a:avLst/>
            </a:prstGeom>
          </p:spPr>
          <p:txBody>
            <a:bodyPr anchor="t" rtlCol="false" tIns="0" lIns="0" bIns="0" rIns="0">
              <a:spAutoFit/>
            </a:bodyPr>
            <a:lstStyle/>
            <a:p>
              <a:pPr algn="just">
                <a:lnSpc>
                  <a:spcPts val="3919"/>
                </a:lnSpc>
                <a:spcBef>
                  <a:spcPct val="0"/>
                </a:spcBef>
              </a:pPr>
              <a:r>
                <a:rPr lang="en-US" sz="2799">
                  <a:solidFill>
                    <a:srgbClr val="FFFFFF"/>
                  </a:solidFill>
                  <a:latin typeface="Archivo Black"/>
                  <a:ea typeface="Archivo Black"/>
                  <a:cs typeface="Archivo Black"/>
                  <a:sym typeface="Archivo Black"/>
                </a:rPr>
                <a:t>El proyecto consiste en simular un sistema de correo electrónico, se tomo como ejemplo el correo interno del campus, aunque tendría la misma aplicación en un sistema de comunicacion para empleados dentro de una</a:t>
              </a:r>
              <a:r>
                <a:rPr lang="en-US" sz="2799">
                  <a:solidFill>
                    <a:srgbClr val="FFFFFF"/>
                  </a:solidFill>
                  <a:latin typeface="Archivo Black"/>
                  <a:ea typeface="Archivo Black"/>
                  <a:cs typeface="Archivo Black"/>
                  <a:sym typeface="Archivo Black"/>
                </a:rPr>
                <a:t> empresas. El mismo está construido usando programación orientada a objetos y varias estructuras de datos. La idea principal aplicar conceptos de diseño, eficiencia, recursividad y algoritmos.</a:t>
              </a:r>
            </a:p>
          </p:txBody>
        </p:sp>
      </p:grpSp>
      <p:grpSp>
        <p:nvGrpSpPr>
          <p:cNvPr name="Group 7" id="7"/>
          <p:cNvGrpSpPr/>
          <p:nvPr/>
        </p:nvGrpSpPr>
        <p:grpSpPr>
          <a:xfrm rot="0">
            <a:off x="2446508" y="6212635"/>
            <a:ext cx="14660392" cy="3697118"/>
            <a:chOff x="0" y="0"/>
            <a:chExt cx="834990" cy="210571"/>
          </a:xfrm>
        </p:grpSpPr>
        <p:sp>
          <p:nvSpPr>
            <p:cNvPr name="Freeform 8" id="8"/>
            <p:cNvSpPr/>
            <p:nvPr/>
          </p:nvSpPr>
          <p:spPr>
            <a:xfrm flipH="false" flipV="false" rot="0">
              <a:off x="0" y="0"/>
              <a:ext cx="834990" cy="210571"/>
            </a:xfrm>
            <a:custGeom>
              <a:avLst/>
              <a:gdLst/>
              <a:ahLst/>
              <a:cxnLst/>
              <a:rect r="r" b="b" t="t" l="l"/>
              <a:pathLst>
                <a:path h="210571" w="834990">
                  <a:moveTo>
                    <a:pt x="10314" y="0"/>
                  </a:moveTo>
                  <a:lnTo>
                    <a:pt x="824675" y="0"/>
                  </a:lnTo>
                  <a:cubicBezTo>
                    <a:pt x="827411" y="0"/>
                    <a:pt x="830034" y="1087"/>
                    <a:pt x="831969" y="3021"/>
                  </a:cubicBezTo>
                  <a:cubicBezTo>
                    <a:pt x="833903" y="4955"/>
                    <a:pt x="834990" y="7579"/>
                    <a:pt x="834990" y="10314"/>
                  </a:cubicBezTo>
                  <a:lnTo>
                    <a:pt x="834990" y="200257"/>
                  </a:lnTo>
                  <a:cubicBezTo>
                    <a:pt x="834990" y="202992"/>
                    <a:pt x="833903" y="205616"/>
                    <a:pt x="831969" y="207550"/>
                  </a:cubicBezTo>
                  <a:cubicBezTo>
                    <a:pt x="830034" y="209484"/>
                    <a:pt x="827411" y="210571"/>
                    <a:pt x="824675" y="210571"/>
                  </a:cubicBezTo>
                  <a:lnTo>
                    <a:pt x="10314" y="210571"/>
                  </a:lnTo>
                  <a:cubicBezTo>
                    <a:pt x="7579" y="210571"/>
                    <a:pt x="4955" y="209484"/>
                    <a:pt x="3021" y="207550"/>
                  </a:cubicBezTo>
                  <a:cubicBezTo>
                    <a:pt x="1087" y="205616"/>
                    <a:pt x="0" y="202992"/>
                    <a:pt x="0" y="200257"/>
                  </a:cubicBezTo>
                  <a:lnTo>
                    <a:pt x="0" y="10314"/>
                  </a:lnTo>
                  <a:cubicBezTo>
                    <a:pt x="0" y="7579"/>
                    <a:pt x="1087" y="4955"/>
                    <a:pt x="3021" y="3021"/>
                  </a:cubicBezTo>
                  <a:cubicBezTo>
                    <a:pt x="4955" y="1087"/>
                    <a:pt x="7579" y="0"/>
                    <a:pt x="10314" y="0"/>
                  </a:cubicBezTo>
                  <a:close/>
                </a:path>
              </a:pathLst>
            </a:custGeom>
            <a:solidFill>
              <a:srgbClr val="5BB5DC"/>
            </a:solidFill>
            <a:ln w="133350" cap="rnd">
              <a:solidFill>
                <a:srgbClr val="F8DCBF"/>
              </a:solidFill>
              <a:prstDash val="solid"/>
              <a:round/>
            </a:ln>
          </p:spPr>
        </p:sp>
        <p:sp>
          <p:nvSpPr>
            <p:cNvPr name="TextBox 9" id="9"/>
            <p:cNvSpPr txBox="true"/>
            <p:nvPr/>
          </p:nvSpPr>
          <p:spPr>
            <a:xfrm>
              <a:off x="0" y="-38100"/>
              <a:ext cx="834990" cy="248671"/>
            </a:xfrm>
            <a:prstGeom prst="rect">
              <a:avLst/>
            </a:prstGeom>
          </p:spPr>
          <p:txBody>
            <a:bodyPr anchor="ctr" rtlCol="false" tIns="50800" lIns="50800" bIns="50800" rIns="50800"/>
            <a:lstStyle/>
            <a:p>
              <a:pPr algn="ctr">
                <a:lnSpc>
                  <a:spcPts val="2659"/>
                </a:lnSpc>
              </a:pPr>
            </a:p>
          </p:txBody>
        </p:sp>
      </p:grpSp>
      <p:sp>
        <p:nvSpPr>
          <p:cNvPr name="AutoShape 10" id="10"/>
          <p:cNvSpPr/>
          <p:nvPr/>
        </p:nvSpPr>
        <p:spPr>
          <a:xfrm flipV="true">
            <a:off x="-239304" y="5921948"/>
            <a:ext cx="18527304" cy="0"/>
          </a:xfrm>
          <a:prstGeom prst="line">
            <a:avLst/>
          </a:prstGeom>
          <a:ln cap="flat" w="76200">
            <a:solidFill>
              <a:srgbClr val="DC8651"/>
            </a:solidFill>
            <a:prstDash val="sysDash"/>
            <a:headEnd type="none" len="sm" w="sm"/>
            <a:tailEnd type="none" len="sm" w="sm"/>
          </a:ln>
        </p:spPr>
      </p:sp>
      <p:grpSp>
        <p:nvGrpSpPr>
          <p:cNvPr name="Group 11" id="11"/>
          <p:cNvGrpSpPr/>
          <p:nvPr/>
        </p:nvGrpSpPr>
        <p:grpSpPr>
          <a:xfrm rot="0">
            <a:off x="890463" y="-21393"/>
            <a:ext cx="16507075" cy="1212215"/>
            <a:chOff x="0" y="0"/>
            <a:chExt cx="4347542" cy="319267"/>
          </a:xfrm>
        </p:grpSpPr>
        <p:sp>
          <p:nvSpPr>
            <p:cNvPr name="Freeform 12" id="12"/>
            <p:cNvSpPr/>
            <p:nvPr/>
          </p:nvSpPr>
          <p:spPr>
            <a:xfrm flipH="false" flipV="false" rot="0">
              <a:off x="0" y="0"/>
              <a:ext cx="4347542" cy="319267"/>
            </a:xfrm>
            <a:custGeom>
              <a:avLst/>
              <a:gdLst/>
              <a:ahLst/>
              <a:cxnLst/>
              <a:rect r="r" b="b" t="t" l="l"/>
              <a:pathLst>
                <a:path h="319267" w="4347542">
                  <a:moveTo>
                    <a:pt x="4347542" y="0"/>
                  </a:moveTo>
                  <a:lnTo>
                    <a:pt x="0" y="0"/>
                  </a:lnTo>
                  <a:lnTo>
                    <a:pt x="101600" y="159633"/>
                  </a:lnTo>
                  <a:lnTo>
                    <a:pt x="0" y="319267"/>
                  </a:lnTo>
                  <a:lnTo>
                    <a:pt x="4347542" y="319267"/>
                  </a:lnTo>
                  <a:lnTo>
                    <a:pt x="4245942" y="159633"/>
                  </a:lnTo>
                  <a:lnTo>
                    <a:pt x="4347542" y="0"/>
                  </a:lnTo>
                  <a:close/>
                </a:path>
              </a:pathLst>
            </a:custGeom>
            <a:solidFill>
              <a:srgbClr val="F8DCBF"/>
            </a:solidFill>
          </p:spPr>
        </p:sp>
        <p:sp>
          <p:nvSpPr>
            <p:cNvPr name="TextBox 13" id="13"/>
            <p:cNvSpPr txBox="true"/>
            <p:nvPr/>
          </p:nvSpPr>
          <p:spPr>
            <a:xfrm>
              <a:off x="88900" y="-38100"/>
              <a:ext cx="4169742" cy="35736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751810" y="-132250"/>
            <a:ext cx="8784381" cy="1764764"/>
            <a:chOff x="0" y="0"/>
            <a:chExt cx="2313582" cy="464794"/>
          </a:xfrm>
        </p:grpSpPr>
        <p:sp>
          <p:nvSpPr>
            <p:cNvPr name="Freeform 15" id="15"/>
            <p:cNvSpPr/>
            <p:nvPr/>
          </p:nvSpPr>
          <p:spPr>
            <a:xfrm flipH="false" flipV="false" rot="0">
              <a:off x="0" y="0"/>
              <a:ext cx="2313582" cy="464794"/>
            </a:xfrm>
            <a:custGeom>
              <a:avLst/>
              <a:gdLst/>
              <a:ahLst/>
              <a:cxnLst/>
              <a:rect r="r" b="b" t="t" l="l"/>
              <a:pathLst>
                <a:path h="464794" w="2313582">
                  <a:moveTo>
                    <a:pt x="2313582" y="0"/>
                  </a:moveTo>
                  <a:lnTo>
                    <a:pt x="2313582" y="350494"/>
                  </a:lnTo>
                  <a:lnTo>
                    <a:pt x="1156791" y="464794"/>
                  </a:lnTo>
                  <a:lnTo>
                    <a:pt x="0" y="350494"/>
                  </a:lnTo>
                  <a:lnTo>
                    <a:pt x="0" y="0"/>
                  </a:lnTo>
                  <a:lnTo>
                    <a:pt x="2313582" y="0"/>
                  </a:lnTo>
                  <a:close/>
                </a:path>
              </a:pathLst>
            </a:custGeom>
            <a:solidFill>
              <a:srgbClr val="DC8651"/>
            </a:solidFill>
          </p:spPr>
        </p:sp>
        <p:sp>
          <p:nvSpPr>
            <p:cNvPr name="TextBox 16" id="16"/>
            <p:cNvSpPr txBox="true"/>
            <p:nvPr/>
          </p:nvSpPr>
          <p:spPr>
            <a:xfrm>
              <a:off x="0" y="-38100"/>
              <a:ext cx="2313582" cy="38859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2567099" y="6544178"/>
            <a:ext cx="14419209" cy="2967355"/>
          </a:xfrm>
          <a:prstGeom prst="rect">
            <a:avLst/>
          </a:prstGeom>
        </p:spPr>
        <p:txBody>
          <a:bodyPr anchor="t" rtlCol="false" tIns="0" lIns="0" bIns="0" rIns="0">
            <a:spAutoFit/>
          </a:bodyPr>
          <a:lstStyle/>
          <a:p>
            <a:pPr algn="just">
              <a:lnSpc>
                <a:spcPts val="3919"/>
              </a:lnSpc>
              <a:spcBef>
                <a:spcPct val="0"/>
              </a:spcBef>
            </a:pPr>
            <a:r>
              <a:rPr lang="en-US" sz="2799">
                <a:solidFill>
                  <a:srgbClr val="FFFFFF"/>
                </a:solidFill>
                <a:latin typeface="Archivo Black"/>
                <a:ea typeface="Archivo Black"/>
                <a:cs typeface="Archivo Black"/>
                <a:sym typeface="Archivo Black"/>
              </a:rPr>
              <a:t>A lo largo del trabajo se fueron incorporando nuevas funcionalidades en cada entrega. Al principio solo estaban las clases básicas (Usuario, Mensaje, Carpeta, ServidorCorreo), todas bien encapsuladas y con sus getters/setters. Más adelante se sumó la estructura completa del árbol de carpetas, donde cada carpeta puede tener otras subcarpetas dentro, lo que nos permitió manejar la bandeja de entrada de manera recursiva.</a:t>
            </a:r>
          </a:p>
        </p:txBody>
      </p:sp>
      <p:sp>
        <p:nvSpPr>
          <p:cNvPr name="TextBox 18" id="18"/>
          <p:cNvSpPr txBox="true"/>
          <p:nvPr/>
        </p:nvSpPr>
        <p:spPr>
          <a:xfrm rot="0">
            <a:off x="6579989" y="185617"/>
            <a:ext cx="5128022" cy="1005205"/>
          </a:xfrm>
          <a:prstGeom prst="rect">
            <a:avLst/>
          </a:prstGeom>
        </p:spPr>
        <p:txBody>
          <a:bodyPr anchor="t" rtlCol="false" tIns="0" lIns="0" bIns="0" rIns="0">
            <a:spAutoFit/>
          </a:bodyPr>
          <a:lstStyle/>
          <a:p>
            <a:pPr algn="ctr">
              <a:lnSpc>
                <a:spcPts val="8119"/>
              </a:lnSpc>
            </a:pPr>
            <a:r>
              <a:rPr lang="en-US" sz="5799">
                <a:solidFill>
                  <a:srgbClr val="F8DCBF"/>
                </a:solidFill>
                <a:latin typeface="Archivo Black"/>
                <a:ea typeface="Archivo Black"/>
                <a:cs typeface="Archivo Black"/>
                <a:sym typeface="Archivo Black"/>
              </a:rPr>
              <a:t>Introducción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4000500" y="4125087"/>
            <a:ext cx="10287000" cy="2036826"/>
            <a:chOff x="0" y="0"/>
            <a:chExt cx="2116667" cy="419100"/>
          </a:xfrm>
        </p:grpSpPr>
        <p:sp>
          <p:nvSpPr>
            <p:cNvPr name="Freeform 3" id="3"/>
            <p:cNvSpPr/>
            <p:nvPr/>
          </p:nvSpPr>
          <p:spPr>
            <a:xfrm flipH="false" flipV="false" rot="0">
              <a:off x="0" y="0"/>
              <a:ext cx="2116667" cy="419100"/>
            </a:xfrm>
            <a:custGeom>
              <a:avLst/>
              <a:gdLst/>
              <a:ahLst/>
              <a:cxnLst/>
              <a:rect r="r" b="b" t="t" l="l"/>
              <a:pathLst>
                <a:path h="419100" w="2116667">
                  <a:moveTo>
                    <a:pt x="0" y="0"/>
                  </a:moveTo>
                  <a:lnTo>
                    <a:pt x="2116667" y="0"/>
                  </a:lnTo>
                  <a:lnTo>
                    <a:pt x="2116667" y="419100"/>
                  </a:lnTo>
                  <a:lnTo>
                    <a:pt x="0" y="419100"/>
                  </a:lnTo>
                  <a:close/>
                </a:path>
              </a:pathLst>
            </a:custGeom>
            <a:solidFill>
              <a:srgbClr val="DC8651"/>
            </a:solidFill>
          </p:spPr>
        </p:sp>
        <p:sp>
          <p:nvSpPr>
            <p:cNvPr name="TextBox 4" id="4"/>
            <p:cNvSpPr txBox="true"/>
            <p:nvPr/>
          </p:nvSpPr>
          <p:spPr>
            <a:xfrm>
              <a:off x="0" y="-38100"/>
              <a:ext cx="2116667" cy="457200"/>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flipH="true">
            <a:off x="17402300" y="0"/>
            <a:ext cx="0" cy="10287000"/>
          </a:xfrm>
          <a:prstGeom prst="line">
            <a:avLst/>
          </a:prstGeom>
          <a:ln cap="flat" w="152400">
            <a:solidFill>
              <a:srgbClr val="FFFFFF"/>
            </a:solidFill>
            <a:prstDash val="sysDot"/>
            <a:headEnd type="none" len="sm" w="sm"/>
            <a:tailEnd type="none" len="sm" w="sm"/>
          </a:ln>
        </p:spPr>
      </p:sp>
      <p:sp>
        <p:nvSpPr>
          <p:cNvPr name="AutoShape 6" id="6"/>
          <p:cNvSpPr/>
          <p:nvPr/>
        </p:nvSpPr>
        <p:spPr>
          <a:xfrm flipH="true">
            <a:off x="1028700" y="0"/>
            <a:ext cx="0" cy="10287000"/>
          </a:xfrm>
          <a:prstGeom prst="line">
            <a:avLst/>
          </a:prstGeom>
          <a:ln cap="flat" w="152400">
            <a:solidFill>
              <a:srgbClr val="FFFFFF"/>
            </a:solidFill>
            <a:prstDash val="sysDot"/>
            <a:headEnd type="none" len="sm" w="sm"/>
            <a:tailEnd type="none" len="sm" w="sm"/>
          </a:ln>
        </p:spPr>
      </p:sp>
      <p:grpSp>
        <p:nvGrpSpPr>
          <p:cNvPr name="Group 7" id="7"/>
          <p:cNvGrpSpPr/>
          <p:nvPr/>
        </p:nvGrpSpPr>
        <p:grpSpPr>
          <a:xfrm rot="0">
            <a:off x="-37721" y="5562457"/>
            <a:ext cx="18305345" cy="3697118"/>
            <a:chOff x="0" y="0"/>
            <a:chExt cx="1042590" cy="210571"/>
          </a:xfrm>
        </p:grpSpPr>
        <p:sp>
          <p:nvSpPr>
            <p:cNvPr name="Freeform 8" id="8"/>
            <p:cNvSpPr/>
            <p:nvPr/>
          </p:nvSpPr>
          <p:spPr>
            <a:xfrm flipH="false" flipV="false" rot="0">
              <a:off x="0" y="0"/>
              <a:ext cx="1042590" cy="210571"/>
            </a:xfrm>
            <a:custGeom>
              <a:avLst/>
              <a:gdLst/>
              <a:ahLst/>
              <a:cxnLst/>
              <a:rect r="r" b="b" t="t" l="l"/>
              <a:pathLst>
                <a:path h="210571" w="1042590">
                  <a:moveTo>
                    <a:pt x="8260" y="0"/>
                  </a:moveTo>
                  <a:lnTo>
                    <a:pt x="1034329" y="0"/>
                  </a:lnTo>
                  <a:cubicBezTo>
                    <a:pt x="1038891" y="0"/>
                    <a:pt x="1042590" y="3698"/>
                    <a:pt x="1042590" y="8260"/>
                  </a:cubicBezTo>
                  <a:lnTo>
                    <a:pt x="1042590" y="202311"/>
                  </a:lnTo>
                  <a:cubicBezTo>
                    <a:pt x="1042590" y="206873"/>
                    <a:pt x="1038891" y="210571"/>
                    <a:pt x="1034329" y="210571"/>
                  </a:cubicBezTo>
                  <a:lnTo>
                    <a:pt x="8260" y="210571"/>
                  </a:lnTo>
                  <a:cubicBezTo>
                    <a:pt x="3698" y="210571"/>
                    <a:pt x="0" y="206873"/>
                    <a:pt x="0" y="202311"/>
                  </a:cubicBezTo>
                  <a:lnTo>
                    <a:pt x="0" y="8260"/>
                  </a:lnTo>
                  <a:cubicBezTo>
                    <a:pt x="0" y="3698"/>
                    <a:pt x="3698" y="0"/>
                    <a:pt x="8260" y="0"/>
                  </a:cubicBezTo>
                  <a:close/>
                </a:path>
              </a:pathLst>
            </a:custGeom>
            <a:solidFill>
              <a:srgbClr val="5BB5DC"/>
            </a:solidFill>
            <a:ln w="133350" cap="rnd">
              <a:solidFill>
                <a:srgbClr val="F8DCBF"/>
              </a:solidFill>
              <a:prstDash val="solid"/>
              <a:round/>
            </a:ln>
          </p:spPr>
        </p:sp>
        <p:sp>
          <p:nvSpPr>
            <p:cNvPr name="TextBox 9" id="9"/>
            <p:cNvSpPr txBox="true"/>
            <p:nvPr/>
          </p:nvSpPr>
          <p:spPr>
            <a:xfrm>
              <a:off x="0" y="-38100"/>
              <a:ext cx="1042590" cy="24867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808458" y="1124124"/>
            <a:ext cx="14660392" cy="3697118"/>
            <a:chOff x="0" y="0"/>
            <a:chExt cx="834990" cy="210571"/>
          </a:xfrm>
        </p:grpSpPr>
        <p:sp>
          <p:nvSpPr>
            <p:cNvPr name="Freeform 11" id="11"/>
            <p:cNvSpPr/>
            <p:nvPr/>
          </p:nvSpPr>
          <p:spPr>
            <a:xfrm flipH="false" flipV="false" rot="0">
              <a:off x="0" y="0"/>
              <a:ext cx="834990" cy="210571"/>
            </a:xfrm>
            <a:custGeom>
              <a:avLst/>
              <a:gdLst/>
              <a:ahLst/>
              <a:cxnLst/>
              <a:rect r="r" b="b" t="t" l="l"/>
              <a:pathLst>
                <a:path h="210571" w="834990">
                  <a:moveTo>
                    <a:pt x="10314" y="0"/>
                  </a:moveTo>
                  <a:lnTo>
                    <a:pt x="824675" y="0"/>
                  </a:lnTo>
                  <a:cubicBezTo>
                    <a:pt x="827411" y="0"/>
                    <a:pt x="830034" y="1087"/>
                    <a:pt x="831969" y="3021"/>
                  </a:cubicBezTo>
                  <a:cubicBezTo>
                    <a:pt x="833903" y="4955"/>
                    <a:pt x="834990" y="7579"/>
                    <a:pt x="834990" y="10314"/>
                  </a:cubicBezTo>
                  <a:lnTo>
                    <a:pt x="834990" y="200257"/>
                  </a:lnTo>
                  <a:cubicBezTo>
                    <a:pt x="834990" y="202992"/>
                    <a:pt x="833903" y="205616"/>
                    <a:pt x="831969" y="207550"/>
                  </a:cubicBezTo>
                  <a:cubicBezTo>
                    <a:pt x="830034" y="209484"/>
                    <a:pt x="827411" y="210571"/>
                    <a:pt x="824675" y="210571"/>
                  </a:cubicBezTo>
                  <a:lnTo>
                    <a:pt x="10314" y="210571"/>
                  </a:lnTo>
                  <a:cubicBezTo>
                    <a:pt x="7579" y="210571"/>
                    <a:pt x="4955" y="209484"/>
                    <a:pt x="3021" y="207550"/>
                  </a:cubicBezTo>
                  <a:cubicBezTo>
                    <a:pt x="1087" y="205616"/>
                    <a:pt x="0" y="202992"/>
                    <a:pt x="0" y="200257"/>
                  </a:cubicBezTo>
                  <a:lnTo>
                    <a:pt x="0" y="10314"/>
                  </a:lnTo>
                  <a:cubicBezTo>
                    <a:pt x="0" y="7579"/>
                    <a:pt x="1087" y="4955"/>
                    <a:pt x="3021" y="3021"/>
                  </a:cubicBezTo>
                  <a:cubicBezTo>
                    <a:pt x="4955" y="1087"/>
                    <a:pt x="7579" y="0"/>
                    <a:pt x="10314" y="0"/>
                  </a:cubicBezTo>
                  <a:close/>
                </a:path>
              </a:pathLst>
            </a:custGeom>
            <a:solidFill>
              <a:srgbClr val="5BB5DC"/>
            </a:solidFill>
            <a:ln w="133350" cap="rnd">
              <a:solidFill>
                <a:srgbClr val="F8DCBF"/>
              </a:solidFill>
              <a:prstDash val="solid"/>
              <a:round/>
            </a:ln>
          </p:spPr>
        </p:sp>
        <p:sp>
          <p:nvSpPr>
            <p:cNvPr name="TextBox 12" id="12"/>
            <p:cNvSpPr txBox="true"/>
            <p:nvPr/>
          </p:nvSpPr>
          <p:spPr>
            <a:xfrm>
              <a:off x="0" y="-38100"/>
              <a:ext cx="834990" cy="248671"/>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9139238" y="4962842"/>
            <a:ext cx="9525" cy="323215"/>
          </a:xfrm>
          <a:prstGeom prst="rect">
            <a:avLst/>
          </a:prstGeom>
        </p:spPr>
        <p:txBody>
          <a:bodyPr anchor="t" rtlCol="false" tIns="0" lIns="0" bIns="0" rIns="0">
            <a:spAutoFit/>
          </a:bodyPr>
          <a:lstStyle/>
          <a:p>
            <a:pPr algn="ctr">
              <a:lnSpc>
                <a:spcPts val="2659"/>
              </a:lnSpc>
              <a:spcBef>
                <a:spcPct val="0"/>
              </a:spcBef>
            </a:pPr>
          </a:p>
        </p:txBody>
      </p:sp>
      <p:sp>
        <p:nvSpPr>
          <p:cNvPr name="TextBox 14" id="14"/>
          <p:cNvSpPr txBox="true"/>
          <p:nvPr/>
        </p:nvSpPr>
        <p:spPr>
          <a:xfrm rot="0">
            <a:off x="146664" y="6389300"/>
            <a:ext cx="18004197" cy="1976755"/>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Archivo Black"/>
                <a:ea typeface="Archivo Black"/>
                <a:cs typeface="Archivo Black"/>
                <a:sym typeface="Archivo Black"/>
              </a:rPr>
              <a:t>El resultado final es un proyecto completo donde se integran varios temas de la materia: encapsulamiento, estructuras lineales (listas, pilas, colas), recursividad con árboles generales, grafos, BFS y diseño orientado a objetos. Además, se incluye una interfaz por consola que permite manejar todas las funciones del sistema de manera interactiva.</a:t>
            </a:r>
          </a:p>
        </p:txBody>
      </p:sp>
      <p:sp>
        <p:nvSpPr>
          <p:cNvPr name="TextBox 15" id="15"/>
          <p:cNvSpPr txBox="true"/>
          <p:nvPr/>
        </p:nvSpPr>
        <p:spPr>
          <a:xfrm rot="0">
            <a:off x="1929633" y="1604962"/>
            <a:ext cx="14419209" cy="2472055"/>
          </a:xfrm>
          <a:prstGeom prst="rect">
            <a:avLst/>
          </a:prstGeom>
        </p:spPr>
        <p:txBody>
          <a:bodyPr anchor="t" rtlCol="false" tIns="0" lIns="0" bIns="0" rIns="0">
            <a:spAutoFit/>
          </a:bodyPr>
          <a:lstStyle/>
          <a:p>
            <a:pPr algn="just">
              <a:lnSpc>
                <a:spcPts val="3919"/>
              </a:lnSpc>
              <a:spcBef>
                <a:spcPct val="0"/>
              </a:spcBef>
            </a:pPr>
            <a:r>
              <a:rPr lang="en-US" sz="2799">
                <a:solidFill>
                  <a:srgbClr val="FFFFFF"/>
                </a:solidFill>
                <a:latin typeface="Archivo Black"/>
                <a:ea typeface="Archivo Black"/>
                <a:cs typeface="Archivo Black"/>
                <a:sym typeface="Archivo Black"/>
              </a:rPr>
              <a:t>Después agregamos funciones más avanzadas como filtros automáticos, una cola de prioridad para mensajes urgentes y un modelo de red con varios servidores conectados entre sí. Todo esto permitió que el sistema no solo guarde mensajes sino que también los clasifique, los ordene y hasta los envíe de un servidor a otro usando un recorrido BFS.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1270445" y="1270445"/>
            <a:ext cx="10287000" cy="7746110"/>
            <a:chOff x="0" y="0"/>
            <a:chExt cx="707734" cy="532924"/>
          </a:xfrm>
        </p:grpSpPr>
        <p:sp>
          <p:nvSpPr>
            <p:cNvPr name="Freeform 3" id="3"/>
            <p:cNvSpPr/>
            <p:nvPr/>
          </p:nvSpPr>
          <p:spPr>
            <a:xfrm flipH="false" flipV="false" rot="0">
              <a:off x="0" y="0"/>
              <a:ext cx="707734" cy="532924"/>
            </a:xfrm>
            <a:custGeom>
              <a:avLst/>
              <a:gdLst/>
              <a:ahLst/>
              <a:cxnLst/>
              <a:rect r="r" b="b" t="t" l="l"/>
              <a:pathLst>
                <a:path h="532924" w="707734">
                  <a:moveTo>
                    <a:pt x="0" y="0"/>
                  </a:moveTo>
                  <a:lnTo>
                    <a:pt x="707734" y="0"/>
                  </a:lnTo>
                  <a:lnTo>
                    <a:pt x="707734" y="532924"/>
                  </a:lnTo>
                  <a:lnTo>
                    <a:pt x="0" y="532924"/>
                  </a:lnTo>
                  <a:close/>
                </a:path>
              </a:pathLst>
            </a:custGeom>
            <a:solidFill>
              <a:srgbClr val="DC8651"/>
            </a:solidFill>
          </p:spPr>
        </p:sp>
        <p:sp>
          <p:nvSpPr>
            <p:cNvPr name="TextBox 4" id="4"/>
            <p:cNvSpPr txBox="true"/>
            <p:nvPr/>
          </p:nvSpPr>
          <p:spPr>
            <a:xfrm>
              <a:off x="0" y="-38100"/>
              <a:ext cx="707734" cy="57102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800000">
            <a:off x="-414606" y="0"/>
            <a:ext cx="19117211" cy="4413310"/>
            <a:chOff x="0" y="0"/>
            <a:chExt cx="841218" cy="194200"/>
          </a:xfrm>
        </p:grpSpPr>
        <p:sp>
          <p:nvSpPr>
            <p:cNvPr name="Freeform 6" id="6"/>
            <p:cNvSpPr/>
            <p:nvPr/>
          </p:nvSpPr>
          <p:spPr>
            <a:xfrm flipH="false" flipV="false" rot="0">
              <a:off x="0" y="0"/>
              <a:ext cx="841218" cy="194200"/>
            </a:xfrm>
            <a:custGeom>
              <a:avLst/>
              <a:gdLst/>
              <a:ahLst/>
              <a:cxnLst/>
              <a:rect r="r" b="b" t="t" l="l"/>
              <a:pathLst>
                <a:path h="194200" w="841218">
                  <a:moveTo>
                    <a:pt x="841218" y="194200"/>
                  </a:moveTo>
                  <a:cubicBezTo>
                    <a:pt x="841218" y="88422"/>
                    <a:pt x="649709" y="0"/>
                    <a:pt x="420609" y="0"/>
                  </a:cubicBezTo>
                  <a:cubicBezTo>
                    <a:pt x="191509" y="0"/>
                    <a:pt x="0" y="88422"/>
                    <a:pt x="0" y="194200"/>
                  </a:cubicBezTo>
                  <a:lnTo>
                    <a:pt x="841218" y="194200"/>
                  </a:lnTo>
                  <a:close/>
                </a:path>
              </a:pathLst>
            </a:custGeom>
            <a:solidFill>
              <a:srgbClr val="5BB5DC"/>
            </a:solidFill>
            <a:ln w="133350" cap="sq">
              <a:solidFill>
                <a:srgbClr val="F8DCBF"/>
              </a:solidFill>
              <a:prstDash val="solid"/>
              <a:miter/>
            </a:ln>
          </p:spPr>
        </p:sp>
        <p:sp>
          <p:nvSpPr>
            <p:cNvPr name="TextBox 7" id="7"/>
            <p:cNvSpPr txBox="true"/>
            <p:nvPr/>
          </p:nvSpPr>
          <p:spPr>
            <a:xfrm>
              <a:off x="197934" y="-8223"/>
              <a:ext cx="445351" cy="20242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90463" y="-21393"/>
            <a:ext cx="16507075" cy="1212215"/>
            <a:chOff x="0" y="0"/>
            <a:chExt cx="4347542" cy="319267"/>
          </a:xfrm>
        </p:grpSpPr>
        <p:sp>
          <p:nvSpPr>
            <p:cNvPr name="Freeform 9" id="9"/>
            <p:cNvSpPr/>
            <p:nvPr/>
          </p:nvSpPr>
          <p:spPr>
            <a:xfrm flipH="false" flipV="false" rot="0">
              <a:off x="0" y="0"/>
              <a:ext cx="4347542" cy="319267"/>
            </a:xfrm>
            <a:custGeom>
              <a:avLst/>
              <a:gdLst/>
              <a:ahLst/>
              <a:cxnLst/>
              <a:rect r="r" b="b" t="t" l="l"/>
              <a:pathLst>
                <a:path h="319267" w="4347542">
                  <a:moveTo>
                    <a:pt x="4347542" y="0"/>
                  </a:moveTo>
                  <a:lnTo>
                    <a:pt x="0" y="0"/>
                  </a:lnTo>
                  <a:lnTo>
                    <a:pt x="101600" y="159633"/>
                  </a:lnTo>
                  <a:lnTo>
                    <a:pt x="0" y="319267"/>
                  </a:lnTo>
                  <a:lnTo>
                    <a:pt x="4347542" y="319267"/>
                  </a:lnTo>
                  <a:lnTo>
                    <a:pt x="4245942" y="159633"/>
                  </a:lnTo>
                  <a:lnTo>
                    <a:pt x="4347542" y="0"/>
                  </a:lnTo>
                  <a:close/>
                </a:path>
              </a:pathLst>
            </a:custGeom>
            <a:solidFill>
              <a:srgbClr val="F8DCBF"/>
            </a:solidFill>
          </p:spPr>
        </p:sp>
        <p:sp>
          <p:nvSpPr>
            <p:cNvPr name="TextBox 10" id="10"/>
            <p:cNvSpPr txBox="true"/>
            <p:nvPr/>
          </p:nvSpPr>
          <p:spPr>
            <a:xfrm>
              <a:off x="88900" y="-38100"/>
              <a:ext cx="4169742" cy="35736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128724" y="-132250"/>
            <a:ext cx="8030552" cy="1764764"/>
            <a:chOff x="0" y="0"/>
            <a:chExt cx="2115043" cy="464794"/>
          </a:xfrm>
        </p:grpSpPr>
        <p:sp>
          <p:nvSpPr>
            <p:cNvPr name="Freeform 12" id="12"/>
            <p:cNvSpPr/>
            <p:nvPr/>
          </p:nvSpPr>
          <p:spPr>
            <a:xfrm flipH="false" flipV="false" rot="0">
              <a:off x="0" y="0"/>
              <a:ext cx="2115042" cy="464794"/>
            </a:xfrm>
            <a:custGeom>
              <a:avLst/>
              <a:gdLst/>
              <a:ahLst/>
              <a:cxnLst/>
              <a:rect r="r" b="b" t="t" l="l"/>
              <a:pathLst>
                <a:path h="464794" w="2115042">
                  <a:moveTo>
                    <a:pt x="2115042" y="0"/>
                  </a:moveTo>
                  <a:lnTo>
                    <a:pt x="2115042" y="350494"/>
                  </a:lnTo>
                  <a:lnTo>
                    <a:pt x="1057521" y="464794"/>
                  </a:lnTo>
                  <a:lnTo>
                    <a:pt x="0" y="350494"/>
                  </a:lnTo>
                  <a:lnTo>
                    <a:pt x="0" y="0"/>
                  </a:lnTo>
                  <a:lnTo>
                    <a:pt x="2115042" y="0"/>
                  </a:lnTo>
                  <a:close/>
                </a:path>
              </a:pathLst>
            </a:custGeom>
            <a:solidFill>
              <a:srgbClr val="DC8651"/>
            </a:solidFill>
          </p:spPr>
        </p:sp>
        <p:sp>
          <p:nvSpPr>
            <p:cNvPr name="TextBox 13" id="13"/>
            <p:cNvSpPr txBox="true"/>
            <p:nvPr/>
          </p:nvSpPr>
          <p:spPr>
            <a:xfrm>
              <a:off x="0" y="-38100"/>
              <a:ext cx="2115043" cy="38859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783288" y="185617"/>
            <a:ext cx="4721423" cy="1005205"/>
          </a:xfrm>
          <a:prstGeom prst="rect">
            <a:avLst/>
          </a:prstGeom>
        </p:spPr>
        <p:txBody>
          <a:bodyPr anchor="t" rtlCol="false" tIns="0" lIns="0" bIns="0" rIns="0">
            <a:spAutoFit/>
          </a:bodyPr>
          <a:lstStyle/>
          <a:p>
            <a:pPr algn="ctr">
              <a:lnSpc>
                <a:spcPts val="8119"/>
              </a:lnSpc>
            </a:pPr>
            <a:r>
              <a:rPr lang="en-US" sz="5799">
                <a:solidFill>
                  <a:srgbClr val="FFFFFF"/>
                </a:solidFill>
                <a:latin typeface="Archivo Black"/>
                <a:ea typeface="Archivo Black"/>
                <a:cs typeface="Archivo Black"/>
                <a:sym typeface="Archivo Black"/>
              </a:rPr>
              <a:t>OBJETIVOS</a:t>
            </a:r>
          </a:p>
        </p:txBody>
      </p:sp>
      <p:sp>
        <p:nvSpPr>
          <p:cNvPr name="TextBox 15" id="15"/>
          <p:cNvSpPr txBox="true"/>
          <p:nvPr/>
        </p:nvSpPr>
        <p:spPr>
          <a:xfrm rot="0">
            <a:off x="0" y="1806812"/>
            <a:ext cx="18288000" cy="1571625"/>
          </a:xfrm>
          <a:prstGeom prst="rect">
            <a:avLst/>
          </a:prstGeom>
        </p:spPr>
        <p:txBody>
          <a:bodyPr anchor="t" rtlCol="false" tIns="0" lIns="0" bIns="0" rIns="0">
            <a:spAutoFit/>
          </a:bodyPr>
          <a:lstStyle/>
          <a:p>
            <a:pPr algn="ctr">
              <a:lnSpc>
                <a:spcPts val="6299"/>
              </a:lnSpc>
            </a:pPr>
            <a:r>
              <a:rPr lang="en-US" sz="4500">
                <a:solidFill>
                  <a:srgbClr val="103E6A"/>
                </a:solidFill>
                <a:latin typeface="Archivo Black"/>
                <a:ea typeface="Archivo Black"/>
                <a:cs typeface="Archivo Black"/>
                <a:sym typeface="Archivo Black"/>
              </a:rPr>
              <a:t>APLICAR CORRECTAMENTE LA PROGRAMACIÓN ORIENTADA A OBJETOS (POO)</a:t>
            </a:r>
          </a:p>
        </p:txBody>
      </p:sp>
      <p:sp>
        <p:nvSpPr>
          <p:cNvPr name="TextBox 16" id="16"/>
          <p:cNvSpPr txBox="true"/>
          <p:nvPr/>
        </p:nvSpPr>
        <p:spPr>
          <a:xfrm rot="0">
            <a:off x="205661" y="4016612"/>
            <a:ext cx="6577627" cy="5939155"/>
          </a:xfrm>
          <a:prstGeom prst="rect">
            <a:avLst/>
          </a:prstGeom>
        </p:spPr>
        <p:txBody>
          <a:bodyPr anchor="t" rtlCol="false" tIns="0" lIns="0" bIns="0" rIns="0">
            <a:spAutoFit/>
          </a:bodyPr>
          <a:lstStyle/>
          <a:p>
            <a:pPr algn="l">
              <a:lnSpc>
                <a:spcPts val="3919"/>
              </a:lnSpc>
            </a:pPr>
            <a:r>
              <a:rPr lang="en-US" sz="2799">
                <a:solidFill>
                  <a:srgbClr val="F8DCBF"/>
                </a:solidFill>
                <a:latin typeface="Archivo Black"/>
                <a:ea typeface="Archivo Black"/>
                <a:cs typeface="Archivo Black"/>
                <a:sym typeface="Archivo Black"/>
              </a:rPr>
              <a:t>DEMOSTRAR EL USO DE CONCEPTOS FUNDAMENTALES COMO:</a:t>
            </a:r>
          </a:p>
          <a:p>
            <a:pPr algn="l">
              <a:lnSpc>
                <a:spcPts val="3919"/>
              </a:lnSpc>
            </a:pPr>
            <a:r>
              <a:rPr lang="en-US" sz="2799">
                <a:solidFill>
                  <a:srgbClr val="F8DCBF"/>
                </a:solidFill>
                <a:latin typeface="Archivo Black"/>
                <a:ea typeface="Archivo Black"/>
                <a:cs typeface="Archivo Black"/>
                <a:sym typeface="Archivo Black"/>
              </a:rPr>
              <a:t>- Clases y objetos</a:t>
            </a:r>
          </a:p>
          <a:p>
            <a:pPr algn="l">
              <a:lnSpc>
                <a:spcPts val="3919"/>
              </a:lnSpc>
            </a:pPr>
            <a:r>
              <a:rPr lang="en-US" sz="2799">
                <a:solidFill>
                  <a:srgbClr val="F8DCBF"/>
                </a:solidFill>
                <a:latin typeface="Archivo Black"/>
                <a:ea typeface="Archivo Black"/>
                <a:cs typeface="Archivo Black"/>
                <a:sym typeface="Archivo Black"/>
              </a:rPr>
              <a:t>- Encapsulamiento (ocultar datos internos)</a:t>
            </a:r>
          </a:p>
          <a:p>
            <a:pPr algn="l">
              <a:lnSpc>
                <a:spcPts val="3919"/>
              </a:lnSpc>
            </a:pPr>
            <a:r>
              <a:rPr lang="en-US" sz="2799">
                <a:solidFill>
                  <a:srgbClr val="F8DCBF"/>
                </a:solidFill>
                <a:latin typeface="Archivo Black"/>
                <a:ea typeface="Archivo Black"/>
                <a:cs typeface="Archivo Black"/>
                <a:sym typeface="Archivo Black"/>
              </a:rPr>
              <a:t>- Interfaces (para estandarizar funciones como enviar, recibir y listar mensajes)</a:t>
            </a:r>
          </a:p>
          <a:p>
            <a:pPr algn="l">
              <a:lnSpc>
                <a:spcPts val="3919"/>
              </a:lnSpc>
              <a:spcBef>
                <a:spcPct val="0"/>
              </a:spcBef>
            </a:pPr>
            <a:r>
              <a:rPr lang="en-US" sz="2799">
                <a:solidFill>
                  <a:srgbClr val="F8DCBF"/>
                </a:solidFill>
                <a:latin typeface="Archivo Black"/>
                <a:ea typeface="Archivo Black"/>
                <a:cs typeface="Archivo Black"/>
                <a:sym typeface="Archivo Black"/>
              </a:rPr>
              <a:t>- Relaciones entre clases (composición, uso, dependencia, etc.)</a:t>
            </a:r>
          </a:p>
        </p:txBody>
      </p:sp>
      <p:sp>
        <p:nvSpPr>
          <p:cNvPr name="TextBox 17" id="17"/>
          <p:cNvSpPr txBox="true"/>
          <p:nvPr/>
        </p:nvSpPr>
        <p:spPr>
          <a:xfrm rot="0">
            <a:off x="8713909" y="4873312"/>
            <a:ext cx="8890734" cy="4948555"/>
          </a:xfrm>
          <a:prstGeom prst="rect">
            <a:avLst/>
          </a:prstGeom>
        </p:spPr>
        <p:txBody>
          <a:bodyPr anchor="t" rtlCol="false" tIns="0" lIns="0" bIns="0" rIns="0">
            <a:spAutoFit/>
          </a:bodyPr>
          <a:lstStyle/>
          <a:p>
            <a:pPr algn="l">
              <a:lnSpc>
                <a:spcPts val="3919"/>
              </a:lnSpc>
            </a:pPr>
            <a:r>
              <a:rPr lang="en-US" sz="2799">
                <a:solidFill>
                  <a:srgbClr val="FFFFFF"/>
                </a:solidFill>
                <a:latin typeface="Archivo Black"/>
                <a:ea typeface="Archivo Black"/>
                <a:cs typeface="Archivo Black"/>
                <a:sym typeface="Archivo Black"/>
              </a:rPr>
              <a:t>IMPLEMENTAR ESTRUCTURAS DE DATOS PROPIAS PARA DEMOSTRAR MANEJO DE NODOS Y LÓGICA RECURSIVA COMO:</a:t>
            </a:r>
          </a:p>
          <a:p>
            <a:pPr algn="l">
              <a:lnSpc>
                <a:spcPts val="3919"/>
              </a:lnSpc>
            </a:pPr>
            <a:r>
              <a:rPr lang="en-US" sz="2799">
                <a:solidFill>
                  <a:srgbClr val="FFFFFF"/>
                </a:solidFill>
                <a:latin typeface="Archivo Black"/>
                <a:ea typeface="Archivo Black"/>
                <a:cs typeface="Archivo Black"/>
                <a:sym typeface="Archivo Black"/>
              </a:rPr>
              <a:t>- Listas enlazadas (para almacenar mensajes)</a:t>
            </a:r>
          </a:p>
          <a:p>
            <a:pPr algn="l">
              <a:lnSpc>
                <a:spcPts val="3919"/>
              </a:lnSpc>
            </a:pPr>
            <a:r>
              <a:rPr lang="en-US" sz="2799">
                <a:solidFill>
                  <a:srgbClr val="FFFFFF"/>
                </a:solidFill>
                <a:latin typeface="Archivo Black"/>
                <a:ea typeface="Archivo Black"/>
                <a:cs typeface="Archivo Black"/>
                <a:sym typeface="Archivo Black"/>
              </a:rPr>
              <a:t>- Pilas (para recuperación de eliminados)</a:t>
            </a:r>
          </a:p>
          <a:p>
            <a:pPr algn="l">
              <a:lnSpc>
                <a:spcPts val="3919"/>
              </a:lnSpc>
            </a:pPr>
            <a:r>
              <a:rPr lang="en-US" sz="2799">
                <a:solidFill>
                  <a:srgbClr val="FFFFFF"/>
                </a:solidFill>
                <a:latin typeface="Archivo Black"/>
                <a:ea typeface="Archivo Black"/>
                <a:cs typeface="Archivo Black"/>
                <a:sym typeface="Archivo Black"/>
              </a:rPr>
              <a:t>- Colas de prioridad (para mensajes urgentes)</a:t>
            </a:r>
          </a:p>
          <a:p>
            <a:pPr algn="l">
              <a:lnSpc>
                <a:spcPts val="3919"/>
              </a:lnSpc>
            </a:pPr>
            <a:r>
              <a:rPr lang="en-US" sz="2799">
                <a:solidFill>
                  <a:srgbClr val="FFFFFF"/>
                </a:solidFill>
                <a:latin typeface="Archivo Black"/>
                <a:ea typeface="Archivo Black"/>
                <a:cs typeface="Archivo Black"/>
                <a:sym typeface="Archivo Black"/>
              </a:rPr>
              <a:t>- Árbol general recursivo (para representar carpetas y subcarpetas)</a:t>
            </a:r>
          </a:p>
          <a:p>
            <a:pPr algn="l">
              <a:lnSpc>
                <a:spcPts val="3919"/>
              </a:lnSpc>
              <a:spcBef>
                <a:spcPct val="0"/>
              </a:spcBef>
            </a:pPr>
            <a:r>
              <a:rPr lang="en-US" sz="2799">
                <a:solidFill>
                  <a:srgbClr val="FFFFFF"/>
                </a:solidFill>
                <a:latin typeface="Archivo Black"/>
                <a:ea typeface="Archivo Black"/>
                <a:cs typeface="Archivo Black"/>
                <a:sym typeface="Archivo Black"/>
              </a:rPr>
              <a:t>Aplicar algoritmos y técnicas de recorrido</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4000500" y="4125087"/>
            <a:ext cx="10287000" cy="2036826"/>
            <a:chOff x="0" y="0"/>
            <a:chExt cx="2116667" cy="419100"/>
          </a:xfrm>
        </p:grpSpPr>
        <p:sp>
          <p:nvSpPr>
            <p:cNvPr name="Freeform 3" id="3"/>
            <p:cNvSpPr/>
            <p:nvPr/>
          </p:nvSpPr>
          <p:spPr>
            <a:xfrm flipH="false" flipV="false" rot="0">
              <a:off x="0" y="0"/>
              <a:ext cx="2116667" cy="419100"/>
            </a:xfrm>
            <a:custGeom>
              <a:avLst/>
              <a:gdLst/>
              <a:ahLst/>
              <a:cxnLst/>
              <a:rect r="r" b="b" t="t" l="l"/>
              <a:pathLst>
                <a:path h="419100" w="2116667">
                  <a:moveTo>
                    <a:pt x="0" y="0"/>
                  </a:moveTo>
                  <a:lnTo>
                    <a:pt x="2116667" y="0"/>
                  </a:lnTo>
                  <a:lnTo>
                    <a:pt x="2116667" y="419100"/>
                  </a:lnTo>
                  <a:lnTo>
                    <a:pt x="0" y="419100"/>
                  </a:lnTo>
                  <a:close/>
                </a:path>
              </a:pathLst>
            </a:custGeom>
            <a:solidFill>
              <a:srgbClr val="DC8651"/>
            </a:solidFill>
          </p:spPr>
        </p:sp>
        <p:sp>
          <p:nvSpPr>
            <p:cNvPr name="TextBox 4" id="4"/>
            <p:cNvSpPr txBox="true"/>
            <p:nvPr/>
          </p:nvSpPr>
          <p:spPr>
            <a:xfrm>
              <a:off x="0" y="-38100"/>
              <a:ext cx="2116667" cy="457200"/>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flipH="true">
            <a:off x="17402300" y="0"/>
            <a:ext cx="0" cy="10287000"/>
          </a:xfrm>
          <a:prstGeom prst="line">
            <a:avLst/>
          </a:prstGeom>
          <a:ln cap="flat" w="152400">
            <a:solidFill>
              <a:srgbClr val="FFFFFF"/>
            </a:solidFill>
            <a:prstDash val="sysDot"/>
            <a:headEnd type="none" len="sm" w="sm"/>
            <a:tailEnd type="none" len="sm" w="sm"/>
          </a:ln>
        </p:spPr>
      </p:sp>
      <p:sp>
        <p:nvSpPr>
          <p:cNvPr name="AutoShape 6" id="6"/>
          <p:cNvSpPr/>
          <p:nvPr/>
        </p:nvSpPr>
        <p:spPr>
          <a:xfrm flipH="true">
            <a:off x="1028700" y="0"/>
            <a:ext cx="0" cy="10287000"/>
          </a:xfrm>
          <a:prstGeom prst="line">
            <a:avLst/>
          </a:prstGeom>
          <a:ln cap="flat" w="152400">
            <a:solidFill>
              <a:srgbClr val="FFFFFF"/>
            </a:solidFill>
            <a:prstDash val="sysDot"/>
            <a:headEnd type="none" len="sm" w="sm"/>
            <a:tailEnd type="none" len="sm" w="sm"/>
          </a:ln>
        </p:spPr>
      </p:sp>
      <p:grpSp>
        <p:nvGrpSpPr>
          <p:cNvPr name="Group 7" id="7"/>
          <p:cNvGrpSpPr/>
          <p:nvPr/>
        </p:nvGrpSpPr>
        <p:grpSpPr>
          <a:xfrm rot="0">
            <a:off x="0" y="5315124"/>
            <a:ext cx="18300706" cy="3697118"/>
            <a:chOff x="0" y="0"/>
            <a:chExt cx="1042325" cy="210571"/>
          </a:xfrm>
        </p:grpSpPr>
        <p:sp>
          <p:nvSpPr>
            <p:cNvPr name="Freeform 8" id="8"/>
            <p:cNvSpPr/>
            <p:nvPr/>
          </p:nvSpPr>
          <p:spPr>
            <a:xfrm flipH="false" flipV="false" rot="0">
              <a:off x="0" y="0"/>
              <a:ext cx="1042325" cy="210571"/>
            </a:xfrm>
            <a:custGeom>
              <a:avLst/>
              <a:gdLst/>
              <a:ahLst/>
              <a:cxnLst/>
              <a:rect r="r" b="b" t="t" l="l"/>
              <a:pathLst>
                <a:path h="210571" w="1042325">
                  <a:moveTo>
                    <a:pt x="0" y="0"/>
                  </a:moveTo>
                  <a:lnTo>
                    <a:pt x="1042325" y="0"/>
                  </a:lnTo>
                  <a:lnTo>
                    <a:pt x="1042325" y="210571"/>
                  </a:lnTo>
                  <a:lnTo>
                    <a:pt x="0" y="210571"/>
                  </a:lnTo>
                  <a:close/>
                </a:path>
              </a:pathLst>
            </a:custGeom>
            <a:solidFill>
              <a:srgbClr val="5BB5DC"/>
            </a:solidFill>
            <a:ln w="133350" cap="sq">
              <a:solidFill>
                <a:srgbClr val="F8DCBF"/>
              </a:solidFill>
              <a:prstDash val="solid"/>
              <a:miter/>
            </a:ln>
          </p:spPr>
        </p:sp>
        <p:sp>
          <p:nvSpPr>
            <p:cNvPr name="TextBox 9" id="9"/>
            <p:cNvSpPr txBox="true"/>
            <p:nvPr/>
          </p:nvSpPr>
          <p:spPr>
            <a:xfrm>
              <a:off x="0" y="-38100"/>
              <a:ext cx="1042325" cy="24867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808458" y="1124124"/>
            <a:ext cx="14660392" cy="3697118"/>
            <a:chOff x="0" y="0"/>
            <a:chExt cx="834990" cy="210571"/>
          </a:xfrm>
        </p:grpSpPr>
        <p:sp>
          <p:nvSpPr>
            <p:cNvPr name="Freeform 11" id="11"/>
            <p:cNvSpPr/>
            <p:nvPr/>
          </p:nvSpPr>
          <p:spPr>
            <a:xfrm flipH="false" flipV="false" rot="0">
              <a:off x="0" y="0"/>
              <a:ext cx="834990" cy="210571"/>
            </a:xfrm>
            <a:custGeom>
              <a:avLst/>
              <a:gdLst/>
              <a:ahLst/>
              <a:cxnLst/>
              <a:rect r="r" b="b" t="t" l="l"/>
              <a:pathLst>
                <a:path h="210571" w="834990">
                  <a:moveTo>
                    <a:pt x="10314" y="0"/>
                  </a:moveTo>
                  <a:lnTo>
                    <a:pt x="824675" y="0"/>
                  </a:lnTo>
                  <a:cubicBezTo>
                    <a:pt x="827411" y="0"/>
                    <a:pt x="830034" y="1087"/>
                    <a:pt x="831969" y="3021"/>
                  </a:cubicBezTo>
                  <a:cubicBezTo>
                    <a:pt x="833903" y="4955"/>
                    <a:pt x="834990" y="7579"/>
                    <a:pt x="834990" y="10314"/>
                  </a:cubicBezTo>
                  <a:lnTo>
                    <a:pt x="834990" y="200257"/>
                  </a:lnTo>
                  <a:cubicBezTo>
                    <a:pt x="834990" y="202992"/>
                    <a:pt x="833903" y="205616"/>
                    <a:pt x="831969" y="207550"/>
                  </a:cubicBezTo>
                  <a:cubicBezTo>
                    <a:pt x="830034" y="209484"/>
                    <a:pt x="827411" y="210571"/>
                    <a:pt x="824675" y="210571"/>
                  </a:cubicBezTo>
                  <a:lnTo>
                    <a:pt x="10314" y="210571"/>
                  </a:lnTo>
                  <a:cubicBezTo>
                    <a:pt x="7579" y="210571"/>
                    <a:pt x="4955" y="209484"/>
                    <a:pt x="3021" y="207550"/>
                  </a:cubicBezTo>
                  <a:cubicBezTo>
                    <a:pt x="1087" y="205616"/>
                    <a:pt x="0" y="202992"/>
                    <a:pt x="0" y="200257"/>
                  </a:cubicBezTo>
                  <a:lnTo>
                    <a:pt x="0" y="10314"/>
                  </a:lnTo>
                  <a:cubicBezTo>
                    <a:pt x="0" y="7579"/>
                    <a:pt x="1087" y="4955"/>
                    <a:pt x="3021" y="3021"/>
                  </a:cubicBezTo>
                  <a:cubicBezTo>
                    <a:pt x="4955" y="1087"/>
                    <a:pt x="7579" y="0"/>
                    <a:pt x="10314" y="0"/>
                  </a:cubicBezTo>
                  <a:close/>
                </a:path>
              </a:pathLst>
            </a:custGeom>
            <a:solidFill>
              <a:srgbClr val="5BB5DC"/>
            </a:solidFill>
            <a:ln w="133350" cap="rnd">
              <a:solidFill>
                <a:srgbClr val="F8DCBF"/>
              </a:solidFill>
              <a:prstDash val="solid"/>
              <a:round/>
            </a:ln>
          </p:spPr>
        </p:sp>
        <p:sp>
          <p:nvSpPr>
            <p:cNvPr name="TextBox 12" id="12"/>
            <p:cNvSpPr txBox="true"/>
            <p:nvPr/>
          </p:nvSpPr>
          <p:spPr>
            <a:xfrm>
              <a:off x="0" y="-38100"/>
              <a:ext cx="834990" cy="248671"/>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9139238" y="4962842"/>
            <a:ext cx="9525" cy="323215"/>
          </a:xfrm>
          <a:prstGeom prst="rect">
            <a:avLst/>
          </a:prstGeom>
        </p:spPr>
        <p:txBody>
          <a:bodyPr anchor="t" rtlCol="false" tIns="0" lIns="0" bIns="0" rIns="0">
            <a:spAutoFit/>
          </a:bodyPr>
          <a:lstStyle/>
          <a:p>
            <a:pPr algn="ctr">
              <a:lnSpc>
                <a:spcPts val="2659"/>
              </a:lnSpc>
              <a:spcBef>
                <a:spcPct val="0"/>
              </a:spcBef>
            </a:pPr>
          </a:p>
        </p:txBody>
      </p:sp>
      <p:sp>
        <p:nvSpPr>
          <p:cNvPr name="TextBox 14" id="14"/>
          <p:cNvSpPr txBox="true"/>
          <p:nvPr/>
        </p:nvSpPr>
        <p:spPr>
          <a:xfrm rot="0">
            <a:off x="2899590" y="4934267"/>
            <a:ext cx="12498345" cy="4453255"/>
          </a:xfrm>
          <a:prstGeom prst="rect">
            <a:avLst/>
          </a:prstGeom>
        </p:spPr>
        <p:txBody>
          <a:bodyPr anchor="t" rtlCol="false" tIns="0" lIns="0" bIns="0" rIns="0">
            <a:spAutoFit/>
          </a:bodyPr>
          <a:lstStyle/>
          <a:p>
            <a:pPr algn="ctr">
              <a:lnSpc>
                <a:spcPts val="3919"/>
              </a:lnSpc>
              <a:spcBef>
                <a:spcPct val="0"/>
              </a:spcBef>
            </a:pPr>
          </a:p>
          <a:p>
            <a:pPr algn="ctr">
              <a:lnSpc>
                <a:spcPts val="3919"/>
              </a:lnSpc>
              <a:spcBef>
                <a:spcPct val="0"/>
              </a:spcBef>
            </a:pPr>
            <a:r>
              <a:rPr lang="en-US" sz="2799">
                <a:solidFill>
                  <a:srgbClr val="FFFFFF"/>
                </a:solidFill>
                <a:latin typeface="Archivo Black"/>
                <a:ea typeface="Archivo Black"/>
                <a:cs typeface="Archivo Black"/>
                <a:sym typeface="Archivo Black"/>
              </a:rPr>
              <a:t>La última etapa del proyecto apunta a que todo funcione junto:</a:t>
            </a:r>
          </a:p>
          <a:p>
            <a:pPr algn="ctr">
              <a:lnSpc>
                <a:spcPts val="3919"/>
              </a:lnSpc>
              <a:spcBef>
                <a:spcPct val="0"/>
              </a:spcBef>
            </a:pPr>
            <a:r>
              <a:rPr lang="en-US" sz="2799">
                <a:solidFill>
                  <a:srgbClr val="FFFFFF"/>
                </a:solidFill>
                <a:latin typeface="Archivo Black"/>
                <a:ea typeface="Archivo Black"/>
                <a:cs typeface="Archivo Black"/>
                <a:sym typeface="Archivo Black"/>
              </a:rPr>
              <a:t>- Login y autenticación</a:t>
            </a:r>
          </a:p>
          <a:p>
            <a:pPr algn="ctr">
              <a:lnSpc>
                <a:spcPts val="3919"/>
              </a:lnSpc>
              <a:spcBef>
                <a:spcPct val="0"/>
              </a:spcBef>
            </a:pPr>
            <a:r>
              <a:rPr lang="en-US" sz="2799">
                <a:solidFill>
                  <a:srgbClr val="FFFFFF"/>
                </a:solidFill>
                <a:latin typeface="Archivo Black"/>
                <a:ea typeface="Archivo Black"/>
                <a:cs typeface="Archivo Black"/>
                <a:sym typeface="Archivo Black"/>
              </a:rPr>
              <a:t>- Filtros automáticos</a:t>
            </a:r>
          </a:p>
          <a:p>
            <a:pPr algn="ctr">
              <a:lnSpc>
                <a:spcPts val="3919"/>
              </a:lnSpc>
              <a:spcBef>
                <a:spcPct val="0"/>
              </a:spcBef>
            </a:pPr>
            <a:r>
              <a:rPr lang="en-US" sz="2799">
                <a:solidFill>
                  <a:srgbClr val="FFFFFF"/>
                </a:solidFill>
                <a:latin typeface="Archivo Black"/>
                <a:ea typeface="Archivo Black"/>
                <a:cs typeface="Archivo Black"/>
                <a:sym typeface="Archivo Black"/>
              </a:rPr>
              <a:t>- Manejo de mensajes prioritarios</a:t>
            </a:r>
          </a:p>
          <a:p>
            <a:pPr algn="ctr">
              <a:lnSpc>
                <a:spcPts val="3919"/>
              </a:lnSpc>
              <a:spcBef>
                <a:spcPct val="0"/>
              </a:spcBef>
            </a:pPr>
            <a:r>
              <a:rPr lang="en-US" sz="2799">
                <a:solidFill>
                  <a:srgbClr val="FFFFFF"/>
                </a:solidFill>
                <a:latin typeface="Archivo Black"/>
                <a:ea typeface="Archivo Black"/>
                <a:cs typeface="Archivo Black"/>
                <a:sym typeface="Archivo Black"/>
              </a:rPr>
              <a:t>- Estructura de carpetas</a:t>
            </a:r>
          </a:p>
          <a:p>
            <a:pPr algn="ctr">
              <a:lnSpc>
                <a:spcPts val="3919"/>
              </a:lnSpc>
              <a:spcBef>
                <a:spcPct val="0"/>
              </a:spcBef>
            </a:pPr>
            <a:r>
              <a:rPr lang="en-US" sz="2799">
                <a:solidFill>
                  <a:srgbClr val="FFFFFF"/>
                </a:solidFill>
                <a:latin typeface="Archivo Black"/>
                <a:ea typeface="Archivo Black"/>
                <a:cs typeface="Archivo Black"/>
                <a:sym typeface="Archivo Black"/>
              </a:rPr>
              <a:t>- Envío a usuarios y departamentos</a:t>
            </a:r>
          </a:p>
          <a:p>
            <a:pPr algn="ctr">
              <a:lnSpc>
                <a:spcPts val="3919"/>
              </a:lnSpc>
              <a:spcBef>
                <a:spcPct val="0"/>
              </a:spcBef>
            </a:pPr>
            <a:r>
              <a:rPr lang="en-US" sz="2799">
                <a:solidFill>
                  <a:srgbClr val="FFFFFF"/>
                </a:solidFill>
                <a:latin typeface="Archivo Black"/>
                <a:ea typeface="Archivo Black"/>
                <a:cs typeface="Archivo Black"/>
                <a:sym typeface="Archivo Black"/>
              </a:rPr>
              <a:t>- Comunicación en red</a:t>
            </a:r>
          </a:p>
          <a:p>
            <a:pPr algn="ctr">
              <a:lnSpc>
                <a:spcPts val="3919"/>
              </a:lnSpc>
              <a:spcBef>
                <a:spcPct val="0"/>
              </a:spcBef>
            </a:pPr>
          </a:p>
        </p:txBody>
      </p:sp>
      <p:sp>
        <p:nvSpPr>
          <p:cNvPr name="TextBox 15" id="15"/>
          <p:cNvSpPr txBox="true"/>
          <p:nvPr/>
        </p:nvSpPr>
        <p:spPr>
          <a:xfrm rot="0">
            <a:off x="2278668" y="1693891"/>
            <a:ext cx="13740188" cy="2472055"/>
          </a:xfrm>
          <a:prstGeom prst="rect">
            <a:avLst/>
          </a:prstGeom>
        </p:spPr>
        <p:txBody>
          <a:bodyPr anchor="t" rtlCol="false" tIns="0" lIns="0" bIns="0" rIns="0">
            <a:spAutoFit/>
          </a:bodyPr>
          <a:lstStyle/>
          <a:p>
            <a:pPr algn="just">
              <a:lnSpc>
                <a:spcPts val="3919"/>
              </a:lnSpc>
            </a:pPr>
            <a:r>
              <a:rPr lang="en-US" sz="2799">
                <a:solidFill>
                  <a:srgbClr val="FFFFFF"/>
                </a:solidFill>
                <a:latin typeface="Archivo Black"/>
                <a:ea typeface="Archivo Black"/>
                <a:cs typeface="Archivo Black"/>
                <a:sym typeface="Archivo Black"/>
              </a:rPr>
              <a:t>El proyecto debe mostrar:</a:t>
            </a:r>
          </a:p>
          <a:p>
            <a:pPr algn="just">
              <a:lnSpc>
                <a:spcPts val="3919"/>
              </a:lnSpc>
            </a:pPr>
            <a:r>
              <a:rPr lang="en-US" sz="2799">
                <a:solidFill>
                  <a:srgbClr val="FFFFFF"/>
                </a:solidFill>
                <a:latin typeface="Archivo Black"/>
                <a:ea typeface="Archivo Black"/>
                <a:cs typeface="Archivo Black"/>
                <a:sym typeface="Archivo Black"/>
              </a:rPr>
              <a:t>- Recorridos recursivos por carpetas (preorder en tu implementación)</a:t>
            </a:r>
          </a:p>
          <a:p>
            <a:pPr algn="just">
              <a:lnSpc>
                <a:spcPts val="3919"/>
              </a:lnSpc>
            </a:pPr>
            <a:r>
              <a:rPr lang="en-US" sz="2799">
                <a:solidFill>
                  <a:srgbClr val="FFFFFF"/>
                </a:solidFill>
                <a:latin typeface="Archivo Black"/>
                <a:ea typeface="Archivo Black"/>
                <a:cs typeface="Archivo Black"/>
                <a:sym typeface="Archivo Black"/>
              </a:rPr>
              <a:t>- Búsquedas por asunto o remitente</a:t>
            </a:r>
          </a:p>
          <a:p>
            <a:pPr algn="just">
              <a:lnSpc>
                <a:spcPts val="3919"/>
              </a:lnSpc>
            </a:pPr>
            <a:r>
              <a:rPr lang="en-US" sz="2799">
                <a:solidFill>
                  <a:srgbClr val="FFFFFF"/>
                </a:solidFill>
                <a:latin typeface="Archivo Black"/>
                <a:ea typeface="Archivo Black"/>
                <a:cs typeface="Archivo Black"/>
                <a:sym typeface="Archivo Black"/>
              </a:rPr>
              <a:t>- Envío entre servidores usando BFS dentro de un grafo</a:t>
            </a:r>
          </a:p>
          <a:p>
            <a:pPr algn="just">
              <a:lnSpc>
                <a:spcPts val="3919"/>
              </a:lnSpc>
              <a:spcBef>
                <a:spcPct val="0"/>
              </a:spcBef>
            </a:pPr>
            <a:r>
              <a:rPr lang="en-US" sz="2799">
                <a:solidFill>
                  <a:srgbClr val="FFFFFF"/>
                </a:solidFill>
                <a:latin typeface="Archivo Black"/>
                <a:ea typeface="Archivo Black"/>
                <a:cs typeface="Archivo Black"/>
                <a:sym typeface="Archivo Black"/>
              </a:rPr>
              <a:t>Integrar todas las funcionalidades en un sistema completo</a:t>
            </a:r>
          </a:p>
        </p:txBody>
      </p:sp>
      <p:sp>
        <p:nvSpPr>
          <p:cNvPr name="TextBox 16" id="16"/>
          <p:cNvSpPr txBox="true"/>
          <p:nvPr/>
        </p:nvSpPr>
        <p:spPr>
          <a:xfrm rot="0">
            <a:off x="1808458" y="9435148"/>
            <a:ext cx="14042906"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TODO ESTO PRESENTADO DESDE UN MENÚ INTERACTIVO SIMPLE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1573353" y="1270445"/>
            <a:ext cx="10287000" cy="7746110"/>
            <a:chOff x="0" y="0"/>
            <a:chExt cx="707734" cy="532924"/>
          </a:xfrm>
        </p:grpSpPr>
        <p:sp>
          <p:nvSpPr>
            <p:cNvPr name="Freeform 3" id="3"/>
            <p:cNvSpPr/>
            <p:nvPr/>
          </p:nvSpPr>
          <p:spPr>
            <a:xfrm flipH="false" flipV="false" rot="0">
              <a:off x="0" y="0"/>
              <a:ext cx="707734" cy="532924"/>
            </a:xfrm>
            <a:custGeom>
              <a:avLst/>
              <a:gdLst/>
              <a:ahLst/>
              <a:cxnLst/>
              <a:rect r="r" b="b" t="t" l="l"/>
              <a:pathLst>
                <a:path h="532924" w="707734">
                  <a:moveTo>
                    <a:pt x="0" y="0"/>
                  </a:moveTo>
                  <a:lnTo>
                    <a:pt x="707734" y="0"/>
                  </a:lnTo>
                  <a:lnTo>
                    <a:pt x="707734" y="532924"/>
                  </a:lnTo>
                  <a:lnTo>
                    <a:pt x="0" y="532924"/>
                  </a:lnTo>
                  <a:close/>
                </a:path>
              </a:pathLst>
            </a:custGeom>
            <a:solidFill>
              <a:srgbClr val="DC8651"/>
            </a:solidFill>
          </p:spPr>
        </p:sp>
        <p:sp>
          <p:nvSpPr>
            <p:cNvPr name="TextBox 4" id="4"/>
            <p:cNvSpPr txBox="true"/>
            <p:nvPr/>
          </p:nvSpPr>
          <p:spPr>
            <a:xfrm>
              <a:off x="0" y="-38100"/>
              <a:ext cx="707734" cy="57102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7647000" y="-6984285"/>
            <a:ext cx="2411016" cy="17705017"/>
            <a:chOff x="0" y="0"/>
            <a:chExt cx="635000" cy="4663050"/>
          </a:xfrm>
        </p:grpSpPr>
        <p:sp>
          <p:nvSpPr>
            <p:cNvPr name="Freeform 6" id="6"/>
            <p:cNvSpPr/>
            <p:nvPr/>
          </p:nvSpPr>
          <p:spPr>
            <a:xfrm flipH="false" flipV="false" rot="0">
              <a:off x="0" y="0"/>
              <a:ext cx="635000" cy="4663049"/>
            </a:xfrm>
            <a:custGeom>
              <a:avLst/>
              <a:gdLst/>
              <a:ahLst/>
              <a:cxnLst/>
              <a:rect r="r" b="b" t="t" l="l"/>
              <a:pathLst>
                <a:path h="4663049" w="635000">
                  <a:moveTo>
                    <a:pt x="635000" y="0"/>
                  </a:moveTo>
                  <a:lnTo>
                    <a:pt x="635000" y="4548749"/>
                  </a:lnTo>
                  <a:lnTo>
                    <a:pt x="317500" y="4663049"/>
                  </a:lnTo>
                  <a:lnTo>
                    <a:pt x="0" y="4548749"/>
                  </a:lnTo>
                  <a:lnTo>
                    <a:pt x="0" y="0"/>
                  </a:lnTo>
                  <a:lnTo>
                    <a:pt x="635000" y="0"/>
                  </a:lnTo>
                  <a:close/>
                </a:path>
              </a:pathLst>
            </a:custGeom>
            <a:solidFill>
              <a:srgbClr val="5BB5DC"/>
            </a:solidFill>
          </p:spPr>
        </p:sp>
        <p:sp>
          <p:nvSpPr>
            <p:cNvPr name="TextBox 7" id="7"/>
            <p:cNvSpPr txBox="true"/>
            <p:nvPr/>
          </p:nvSpPr>
          <p:spPr>
            <a:xfrm>
              <a:off x="0" y="-38100"/>
              <a:ext cx="635000" cy="458685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013279" y="3751759"/>
            <a:ext cx="7407148" cy="5015983"/>
          </a:xfrm>
          <a:prstGeom prst="rect">
            <a:avLst/>
          </a:prstGeom>
        </p:spPr>
        <p:txBody>
          <a:bodyPr anchor="t" rtlCol="false" tIns="0" lIns="0" bIns="0" rIns="0">
            <a:spAutoFit/>
          </a:bodyPr>
          <a:lstStyle/>
          <a:p>
            <a:pPr algn="l">
              <a:lnSpc>
                <a:spcPts val="4414"/>
              </a:lnSpc>
            </a:pPr>
            <a:r>
              <a:rPr lang="en-US" sz="3153">
                <a:solidFill>
                  <a:srgbClr val="FFFFFF"/>
                </a:solidFill>
                <a:latin typeface="Archivo Black"/>
                <a:ea typeface="Archivo Black"/>
                <a:cs typeface="Archivo Black"/>
                <a:sym typeface="Archivo Black"/>
              </a:rPr>
              <a:t>- Diagramas UML de clases </a:t>
            </a:r>
          </a:p>
          <a:p>
            <a:pPr algn="l">
              <a:lnSpc>
                <a:spcPts val="4414"/>
              </a:lnSpc>
            </a:pPr>
          </a:p>
          <a:p>
            <a:pPr algn="l">
              <a:lnSpc>
                <a:spcPts val="4414"/>
              </a:lnSpc>
            </a:pPr>
            <a:r>
              <a:rPr lang="en-US" sz="3153">
                <a:solidFill>
                  <a:srgbClr val="FFFFFF"/>
                </a:solidFill>
                <a:latin typeface="Archivo Black"/>
                <a:ea typeface="Archivo Black"/>
                <a:cs typeface="Archivo Black"/>
                <a:sym typeface="Archivo Black"/>
              </a:rPr>
              <a:t>- Explicaciones de por qué se eligió cada estructura o diseño</a:t>
            </a:r>
          </a:p>
          <a:p>
            <a:pPr algn="l">
              <a:lnSpc>
                <a:spcPts val="4414"/>
              </a:lnSpc>
            </a:pPr>
          </a:p>
          <a:p>
            <a:pPr algn="l">
              <a:lnSpc>
                <a:spcPts val="4414"/>
              </a:lnSpc>
            </a:pPr>
            <a:r>
              <a:rPr lang="en-US" sz="3153">
                <a:solidFill>
                  <a:srgbClr val="FFFFFF"/>
                </a:solidFill>
                <a:latin typeface="Archivo Black"/>
                <a:ea typeface="Archivo Black"/>
                <a:cs typeface="Archivo Black"/>
                <a:sym typeface="Archivo Black"/>
              </a:rPr>
              <a:t>- Análisis de eficiencia</a:t>
            </a:r>
          </a:p>
          <a:p>
            <a:pPr algn="l">
              <a:lnSpc>
                <a:spcPts val="4414"/>
              </a:lnSpc>
            </a:pPr>
          </a:p>
          <a:p>
            <a:pPr algn="l">
              <a:lnSpc>
                <a:spcPts val="4414"/>
              </a:lnSpc>
              <a:spcBef>
                <a:spcPct val="0"/>
              </a:spcBef>
            </a:pPr>
            <a:r>
              <a:rPr lang="en-US" sz="3153">
                <a:solidFill>
                  <a:srgbClr val="FFFFFF"/>
                </a:solidFill>
                <a:latin typeface="Archivo Black"/>
                <a:ea typeface="Archivo Black"/>
                <a:cs typeface="Archivo Black"/>
                <a:sym typeface="Archivo Black"/>
              </a:rPr>
              <a:t>- Conclusiones generales</a:t>
            </a:r>
          </a:p>
        </p:txBody>
      </p:sp>
      <p:sp>
        <p:nvSpPr>
          <p:cNvPr name="TextBox 9" id="9"/>
          <p:cNvSpPr txBox="true"/>
          <p:nvPr/>
        </p:nvSpPr>
        <p:spPr>
          <a:xfrm rot="0">
            <a:off x="205661" y="1137973"/>
            <a:ext cx="13022384" cy="1384301"/>
          </a:xfrm>
          <a:prstGeom prst="rect">
            <a:avLst/>
          </a:prstGeom>
        </p:spPr>
        <p:txBody>
          <a:bodyPr anchor="t" rtlCol="false" tIns="0" lIns="0" bIns="0" rIns="0">
            <a:spAutoFit/>
          </a:bodyPr>
          <a:lstStyle/>
          <a:p>
            <a:pPr algn="l">
              <a:lnSpc>
                <a:spcPts val="5599"/>
              </a:lnSpc>
              <a:spcBef>
                <a:spcPct val="0"/>
              </a:spcBef>
            </a:pPr>
            <a:r>
              <a:rPr lang="en-US" sz="3999">
                <a:solidFill>
                  <a:srgbClr val="FFFFFF"/>
                </a:solidFill>
                <a:latin typeface="Archivo Black"/>
                <a:ea typeface="Archivo Black"/>
                <a:cs typeface="Archivo Black"/>
                <a:sym typeface="Archivo Black"/>
              </a:rPr>
              <a:t>ADEMÁS DEL CÓDIGO, EL OBJETIVO INCLUYE:</a:t>
            </a:r>
          </a:p>
        </p:txBody>
      </p:sp>
      <p:sp>
        <p:nvSpPr>
          <p:cNvPr name="AutoShape 10" id="10"/>
          <p:cNvSpPr/>
          <p:nvPr/>
        </p:nvSpPr>
        <p:spPr>
          <a:xfrm flipV="true">
            <a:off x="-443336" y="605566"/>
            <a:ext cx="17726543" cy="0"/>
          </a:xfrm>
          <a:prstGeom prst="line">
            <a:avLst/>
          </a:prstGeom>
          <a:ln cap="flat" w="114300">
            <a:solidFill>
              <a:srgbClr val="F8DCBF"/>
            </a:solidFill>
            <a:prstDash val="sysDot"/>
            <a:headEnd type="none" len="sm" w="sm"/>
            <a:tailEnd type="none" len="sm" w="sm"/>
          </a:ln>
        </p:spPr>
      </p:sp>
      <p:sp>
        <p:nvSpPr>
          <p:cNvPr name="AutoShape 11" id="11"/>
          <p:cNvSpPr/>
          <p:nvPr/>
        </p:nvSpPr>
        <p:spPr>
          <a:xfrm flipV="true">
            <a:off x="-467243" y="3130881"/>
            <a:ext cx="17726543" cy="0"/>
          </a:xfrm>
          <a:prstGeom prst="line">
            <a:avLst/>
          </a:prstGeom>
          <a:ln cap="flat" w="114300">
            <a:solidFill>
              <a:srgbClr val="F8DCBF"/>
            </a:solidFill>
            <a:prstDash val="sysDot"/>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808546" y="0"/>
            <a:ext cx="9243406" cy="10287000"/>
            <a:chOff x="0" y="0"/>
            <a:chExt cx="2434477" cy="2709333"/>
          </a:xfrm>
        </p:grpSpPr>
        <p:sp>
          <p:nvSpPr>
            <p:cNvPr name="Freeform 3" id="3"/>
            <p:cNvSpPr/>
            <p:nvPr/>
          </p:nvSpPr>
          <p:spPr>
            <a:xfrm flipH="false" flipV="false" rot="0">
              <a:off x="0" y="0"/>
              <a:ext cx="2434477" cy="2709333"/>
            </a:xfrm>
            <a:custGeom>
              <a:avLst/>
              <a:gdLst/>
              <a:ahLst/>
              <a:cxnLst/>
              <a:rect r="r" b="b" t="t" l="l"/>
              <a:pathLst>
                <a:path h="2709333" w="2434477">
                  <a:moveTo>
                    <a:pt x="0" y="0"/>
                  </a:moveTo>
                  <a:lnTo>
                    <a:pt x="2434477" y="0"/>
                  </a:lnTo>
                  <a:lnTo>
                    <a:pt x="2434477" y="2709333"/>
                  </a:lnTo>
                  <a:lnTo>
                    <a:pt x="0" y="2709333"/>
                  </a:lnTo>
                  <a:close/>
                </a:path>
              </a:pathLst>
            </a:custGeom>
            <a:solidFill>
              <a:srgbClr val="5BB5DC"/>
            </a:solidFill>
          </p:spPr>
        </p:sp>
        <p:sp>
          <p:nvSpPr>
            <p:cNvPr name="TextBox 4" id="4"/>
            <p:cNvSpPr txBox="true"/>
            <p:nvPr/>
          </p:nvSpPr>
          <p:spPr>
            <a:xfrm>
              <a:off x="0" y="-38100"/>
              <a:ext cx="2434477"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50069" y="0"/>
            <a:ext cx="8369710" cy="10287000"/>
          </a:xfrm>
          <a:custGeom>
            <a:avLst/>
            <a:gdLst/>
            <a:ahLst/>
            <a:cxnLst/>
            <a:rect r="r" b="b" t="t" l="l"/>
            <a:pathLst>
              <a:path h="10287000" w="8369710">
                <a:moveTo>
                  <a:pt x="0" y="0"/>
                </a:moveTo>
                <a:lnTo>
                  <a:pt x="8369710" y="0"/>
                </a:lnTo>
                <a:lnTo>
                  <a:pt x="8369710" y="10287000"/>
                </a:lnTo>
                <a:lnTo>
                  <a:pt x="0" y="10287000"/>
                </a:lnTo>
                <a:lnTo>
                  <a:pt x="0" y="0"/>
                </a:lnTo>
                <a:close/>
              </a:path>
            </a:pathLst>
          </a:custGeom>
          <a:blipFill>
            <a:blip r:embed="rId2"/>
            <a:stretch>
              <a:fillRect l="-3603" t="-1230" r="-3324" b="-9950"/>
            </a:stretch>
          </a:blipFill>
        </p:spPr>
      </p:sp>
      <p:grpSp>
        <p:nvGrpSpPr>
          <p:cNvPr name="Group 6" id="6"/>
          <p:cNvGrpSpPr/>
          <p:nvPr/>
        </p:nvGrpSpPr>
        <p:grpSpPr>
          <a:xfrm rot="1163311">
            <a:off x="14311071" y="1947488"/>
            <a:ext cx="4932462" cy="10406209"/>
            <a:chOff x="0" y="0"/>
            <a:chExt cx="1299085" cy="2740730"/>
          </a:xfrm>
        </p:grpSpPr>
        <p:sp>
          <p:nvSpPr>
            <p:cNvPr name="Freeform 7" id="7"/>
            <p:cNvSpPr/>
            <p:nvPr/>
          </p:nvSpPr>
          <p:spPr>
            <a:xfrm flipH="false" flipV="false" rot="0">
              <a:off x="0" y="0"/>
              <a:ext cx="1299085" cy="2740730"/>
            </a:xfrm>
            <a:custGeom>
              <a:avLst/>
              <a:gdLst/>
              <a:ahLst/>
              <a:cxnLst/>
              <a:rect r="r" b="b" t="t" l="l"/>
              <a:pathLst>
                <a:path h="2740730" w="1299085">
                  <a:moveTo>
                    <a:pt x="0" y="0"/>
                  </a:moveTo>
                  <a:lnTo>
                    <a:pt x="1299085" y="0"/>
                  </a:lnTo>
                  <a:lnTo>
                    <a:pt x="1299085" y="2740730"/>
                  </a:lnTo>
                  <a:lnTo>
                    <a:pt x="0" y="2740730"/>
                  </a:lnTo>
                  <a:close/>
                </a:path>
              </a:pathLst>
            </a:custGeom>
            <a:solidFill>
              <a:srgbClr val="F8DCBF"/>
            </a:solidFill>
          </p:spPr>
        </p:sp>
        <p:sp>
          <p:nvSpPr>
            <p:cNvPr name="TextBox 8" id="8"/>
            <p:cNvSpPr txBox="true"/>
            <p:nvPr/>
          </p:nvSpPr>
          <p:spPr>
            <a:xfrm>
              <a:off x="0" y="-38100"/>
              <a:ext cx="1299085" cy="277883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898588" y="443905"/>
            <a:ext cx="5932368" cy="9817918"/>
            <a:chOff x="0" y="0"/>
            <a:chExt cx="1562434" cy="2585789"/>
          </a:xfrm>
        </p:grpSpPr>
        <p:sp>
          <p:nvSpPr>
            <p:cNvPr name="Freeform 10" id="10"/>
            <p:cNvSpPr/>
            <p:nvPr/>
          </p:nvSpPr>
          <p:spPr>
            <a:xfrm flipH="false" flipV="false" rot="0">
              <a:off x="0" y="0"/>
              <a:ext cx="1562434" cy="2585789"/>
            </a:xfrm>
            <a:custGeom>
              <a:avLst/>
              <a:gdLst/>
              <a:ahLst/>
              <a:cxnLst/>
              <a:rect r="r" b="b" t="t" l="l"/>
              <a:pathLst>
                <a:path h="2585789" w="1562434">
                  <a:moveTo>
                    <a:pt x="781217" y="0"/>
                  </a:moveTo>
                  <a:lnTo>
                    <a:pt x="1562434" y="2585789"/>
                  </a:lnTo>
                  <a:lnTo>
                    <a:pt x="0" y="2585789"/>
                  </a:lnTo>
                  <a:lnTo>
                    <a:pt x="781217" y="0"/>
                  </a:lnTo>
                  <a:close/>
                </a:path>
              </a:pathLst>
            </a:custGeom>
            <a:solidFill>
              <a:srgbClr val="F1A372"/>
            </a:solidFill>
          </p:spPr>
        </p:sp>
        <p:sp>
          <p:nvSpPr>
            <p:cNvPr name="TextBox 11" id="11"/>
            <p:cNvSpPr txBox="true"/>
            <p:nvPr/>
          </p:nvSpPr>
          <p:spPr>
            <a:xfrm>
              <a:off x="244130" y="1162445"/>
              <a:ext cx="1074174" cy="123864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11370695" y="-1098589"/>
            <a:ext cx="5818716" cy="8015894"/>
            <a:chOff x="0" y="0"/>
            <a:chExt cx="431607" cy="594584"/>
          </a:xfrm>
        </p:grpSpPr>
        <p:sp>
          <p:nvSpPr>
            <p:cNvPr name="Freeform 13" id="13"/>
            <p:cNvSpPr/>
            <p:nvPr/>
          </p:nvSpPr>
          <p:spPr>
            <a:xfrm flipH="false" flipV="false" rot="0">
              <a:off x="0" y="0"/>
              <a:ext cx="431607" cy="594584"/>
            </a:xfrm>
            <a:custGeom>
              <a:avLst/>
              <a:gdLst/>
              <a:ahLst/>
              <a:cxnLst/>
              <a:rect r="r" b="b" t="t" l="l"/>
              <a:pathLst>
                <a:path h="594584" w="431607">
                  <a:moveTo>
                    <a:pt x="0" y="594584"/>
                  </a:moveTo>
                  <a:cubicBezTo>
                    <a:pt x="0" y="437994"/>
                    <a:pt x="46039" y="284876"/>
                    <a:pt x="126415" y="174150"/>
                  </a:cubicBezTo>
                  <a:cubicBezTo>
                    <a:pt x="206791" y="63423"/>
                    <a:pt x="317939" y="0"/>
                    <a:pt x="431607" y="0"/>
                  </a:cubicBezTo>
                  <a:lnTo>
                    <a:pt x="431607" y="594584"/>
                  </a:lnTo>
                  <a:lnTo>
                    <a:pt x="0" y="594584"/>
                  </a:lnTo>
                  <a:close/>
                </a:path>
              </a:pathLst>
            </a:custGeom>
            <a:solidFill>
              <a:srgbClr val="5BB5DC"/>
            </a:solidFill>
          </p:spPr>
        </p:sp>
        <p:sp>
          <p:nvSpPr>
            <p:cNvPr name="TextBox 14" id="14"/>
            <p:cNvSpPr txBox="true"/>
            <p:nvPr/>
          </p:nvSpPr>
          <p:spPr>
            <a:xfrm>
              <a:off x="127520" y="137573"/>
              <a:ext cx="304087" cy="45701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11676240" y="-1102675"/>
            <a:ext cx="5509084" cy="7714435"/>
            <a:chOff x="0" y="0"/>
            <a:chExt cx="424609" cy="594584"/>
          </a:xfrm>
        </p:grpSpPr>
        <p:sp>
          <p:nvSpPr>
            <p:cNvPr name="Freeform 16" id="16"/>
            <p:cNvSpPr/>
            <p:nvPr/>
          </p:nvSpPr>
          <p:spPr>
            <a:xfrm flipH="false" flipV="false" rot="0">
              <a:off x="0" y="0"/>
              <a:ext cx="424609" cy="594584"/>
            </a:xfrm>
            <a:custGeom>
              <a:avLst/>
              <a:gdLst/>
              <a:ahLst/>
              <a:cxnLst/>
              <a:rect r="r" b="b" t="t" l="l"/>
              <a:pathLst>
                <a:path h="594584" w="424609">
                  <a:moveTo>
                    <a:pt x="0" y="594584"/>
                  </a:moveTo>
                  <a:cubicBezTo>
                    <a:pt x="0" y="437994"/>
                    <a:pt x="45292" y="284876"/>
                    <a:pt x="124365" y="174150"/>
                  </a:cubicBezTo>
                  <a:cubicBezTo>
                    <a:pt x="203438" y="63423"/>
                    <a:pt x="312783" y="0"/>
                    <a:pt x="424609" y="0"/>
                  </a:cubicBezTo>
                  <a:lnTo>
                    <a:pt x="424609" y="594584"/>
                  </a:lnTo>
                  <a:lnTo>
                    <a:pt x="0" y="594584"/>
                  </a:lnTo>
                  <a:close/>
                </a:path>
              </a:pathLst>
            </a:custGeom>
            <a:solidFill>
              <a:srgbClr val="DC8651"/>
            </a:solidFill>
          </p:spPr>
        </p:sp>
        <p:sp>
          <p:nvSpPr>
            <p:cNvPr name="TextBox 17" id="17"/>
            <p:cNvSpPr txBox="true"/>
            <p:nvPr/>
          </p:nvSpPr>
          <p:spPr>
            <a:xfrm>
              <a:off x="125453" y="137573"/>
              <a:ext cx="299156" cy="45701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7165" y="7200900"/>
            <a:ext cx="3003344" cy="3136826"/>
            <a:chOff x="0" y="0"/>
            <a:chExt cx="571500" cy="596900"/>
          </a:xfrm>
        </p:grpSpPr>
        <p:sp>
          <p:nvSpPr>
            <p:cNvPr name="Freeform 19" id="19"/>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1A372"/>
            </a:solidFill>
          </p:spPr>
        </p:sp>
        <p:sp>
          <p:nvSpPr>
            <p:cNvPr name="TextBox 20" id="20"/>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sp>
        <p:nvSpPr>
          <p:cNvPr name="AutoShape 21" id="21"/>
          <p:cNvSpPr/>
          <p:nvPr/>
        </p:nvSpPr>
        <p:spPr>
          <a:xfrm flipV="true">
            <a:off x="13700764" y="5631864"/>
            <a:ext cx="1624035" cy="4629959"/>
          </a:xfrm>
          <a:prstGeom prst="line">
            <a:avLst/>
          </a:prstGeom>
          <a:ln cap="flat" w="152400">
            <a:solidFill>
              <a:srgbClr val="001F3D"/>
            </a:solidFill>
            <a:prstDash val="sysDot"/>
            <a:headEnd type="none" len="sm" w="sm"/>
            <a:tailEnd type="none" len="sm" w="sm"/>
          </a:ln>
        </p:spPr>
      </p:sp>
      <p:sp>
        <p:nvSpPr>
          <p:cNvPr name="TextBox 22" id="22"/>
          <p:cNvSpPr txBox="true"/>
          <p:nvPr/>
        </p:nvSpPr>
        <p:spPr>
          <a:xfrm rot="0">
            <a:off x="12077700" y="1671284"/>
            <a:ext cx="5565577" cy="1005205"/>
          </a:xfrm>
          <a:prstGeom prst="rect">
            <a:avLst/>
          </a:prstGeom>
        </p:spPr>
        <p:txBody>
          <a:bodyPr anchor="t" rtlCol="false" tIns="0" lIns="0" bIns="0" rIns="0">
            <a:spAutoFit/>
          </a:bodyPr>
          <a:lstStyle/>
          <a:p>
            <a:pPr algn="ctr">
              <a:lnSpc>
                <a:spcPts val="8119"/>
              </a:lnSpc>
            </a:pPr>
            <a:r>
              <a:rPr lang="en-US" sz="5799">
                <a:solidFill>
                  <a:srgbClr val="FFFFFF"/>
                </a:solidFill>
                <a:latin typeface="Archivo Black"/>
                <a:ea typeface="Archivo Black"/>
                <a:cs typeface="Archivo Black"/>
                <a:sym typeface="Archivo Black"/>
              </a:rPr>
              <a:t>PLAN INICIAL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0" y="0"/>
            <a:ext cx="10051952" cy="10287000"/>
            <a:chOff x="0" y="0"/>
            <a:chExt cx="2647428" cy="2709333"/>
          </a:xfrm>
        </p:grpSpPr>
        <p:sp>
          <p:nvSpPr>
            <p:cNvPr name="Freeform 3" id="3"/>
            <p:cNvSpPr/>
            <p:nvPr/>
          </p:nvSpPr>
          <p:spPr>
            <a:xfrm flipH="false" flipV="false" rot="0">
              <a:off x="0" y="0"/>
              <a:ext cx="2647428" cy="2709333"/>
            </a:xfrm>
            <a:custGeom>
              <a:avLst/>
              <a:gdLst/>
              <a:ahLst/>
              <a:cxnLst/>
              <a:rect r="r" b="b" t="t" l="l"/>
              <a:pathLst>
                <a:path h="2709333" w="2647428">
                  <a:moveTo>
                    <a:pt x="0" y="0"/>
                  </a:moveTo>
                  <a:lnTo>
                    <a:pt x="2647428" y="0"/>
                  </a:lnTo>
                  <a:lnTo>
                    <a:pt x="2647428" y="2709333"/>
                  </a:lnTo>
                  <a:lnTo>
                    <a:pt x="0" y="2709333"/>
                  </a:lnTo>
                  <a:close/>
                </a:path>
              </a:pathLst>
            </a:custGeom>
            <a:solidFill>
              <a:srgbClr val="5BB5DC"/>
            </a:solidFill>
          </p:spPr>
        </p:sp>
        <p:sp>
          <p:nvSpPr>
            <p:cNvPr name="TextBox 4" id="4"/>
            <p:cNvSpPr txBox="true"/>
            <p:nvPr/>
          </p:nvSpPr>
          <p:spPr>
            <a:xfrm>
              <a:off x="0" y="-38100"/>
              <a:ext cx="264742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07655" y="-4352533"/>
            <a:ext cx="16280345" cy="15199151"/>
            <a:chOff x="0" y="0"/>
            <a:chExt cx="4287828" cy="4003069"/>
          </a:xfrm>
        </p:grpSpPr>
        <p:sp>
          <p:nvSpPr>
            <p:cNvPr name="Freeform 6" id="6"/>
            <p:cNvSpPr/>
            <p:nvPr/>
          </p:nvSpPr>
          <p:spPr>
            <a:xfrm flipH="false" flipV="false" rot="0">
              <a:off x="0" y="0"/>
              <a:ext cx="4287827" cy="4003068"/>
            </a:xfrm>
            <a:custGeom>
              <a:avLst/>
              <a:gdLst/>
              <a:ahLst/>
              <a:cxnLst/>
              <a:rect r="r" b="b" t="t" l="l"/>
              <a:pathLst>
                <a:path h="4003068" w="4287827">
                  <a:moveTo>
                    <a:pt x="2143914" y="0"/>
                  </a:moveTo>
                  <a:lnTo>
                    <a:pt x="4287827" y="4003068"/>
                  </a:lnTo>
                  <a:lnTo>
                    <a:pt x="0" y="4003068"/>
                  </a:lnTo>
                  <a:lnTo>
                    <a:pt x="2143914" y="0"/>
                  </a:lnTo>
                  <a:close/>
                </a:path>
              </a:pathLst>
            </a:custGeom>
            <a:solidFill>
              <a:srgbClr val="103E6A"/>
            </a:solidFill>
          </p:spPr>
        </p:sp>
        <p:sp>
          <p:nvSpPr>
            <p:cNvPr name="TextBox 7" id="7"/>
            <p:cNvSpPr txBox="true"/>
            <p:nvPr/>
          </p:nvSpPr>
          <p:spPr>
            <a:xfrm>
              <a:off x="669973" y="1820468"/>
              <a:ext cx="2947881" cy="189666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65" y="7631158"/>
            <a:ext cx="18295165" cy="2700338"/>
            <a:chOff x="0" y="0"/>
            <a:chExt cx="4818480" cy="711200"/>
          </a:xfrm>
        </p:grpSpPr>
        <p:sp>
          <p:nvSpPr>
            <p:cNvPr name="Freeform 9" id="9"/>
            <p:cNvSpPr/>
            <p:nvPr/>
          </p:nvSpPr>
          <p:spPr>
            <a:xfrm flipH="false" flipV="false" rot="0">
              <a:off x="0" y="0"/>
              <a:ext cx="4818480" cy="711200"/>
            </a:xfrm>
            <a:custGeom>
              <a:avLst/>
              <a:gdLst/>
              <a:ahLst/>
              <a:cxnLst/>
              <a:rect r="r" b="b" t="t" l="l"/>
              <a:pathLst>
                <a:path h="711200" w="4818480">
                  <a:moveTo>
                    <a:pt x="2409240" y="0"/>
                  </a:moveTo>
                  <a:lnTo>
                    <a:pt x="4818480" y="711200"/>
                  </a:lnTo>
                  <a:lnTo>
                    <a:pt x="0" y="711200"/>
                  </a:lnTo>
                  <a:lnTo>
                    <a:pt x="2409240" y="0"/>
                  </a:lnTo>
                  <a:close/>
                </a:path>
              </a:pathLst>
            </a:custGeom>
            <a:solidFill>
              <a:srgbClr val="DC8651"/>
            </a:solidFill>
          </p:spPr>
        </p:sp>
        <p:sp>
          <p:nvSpPr>
            <p:cNvPr name="TextBox 10" id="10"/>
            <p:cNvSpPr txBox="true"/>
            <p:nvPr/>
          </p:nvSpPr>
          <p:spPr>
            <a:xfrm>
              <a:off x="752887" y="292100"/>
              <a:ext cx="3312705" cy="3683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259300" y="0"/>
            <a:ext cx="1028700" cy="10287000"/>
            <a:chOff x="0" y="0"/>
            <a:chExt cx="270933" cy="2709333"/>
          </a:xfrm>
        </p:grpSpPr>
        <p:sp>
          <p:nvSpPr>
            <p:cNvPr name="Freeform 12" id="12"/>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F8DCBF"/>
            </a:solidFill>
          </p:spPr>
        </p:sp>
        <p:sp>
          <p:nvSpPr>
            <p:cNvPr name="TextBox 13" id="13"/>
            <p:cNvSpPr txBox="true"/>
            <p:nvPr/>
          </p:nvSpPr>
          <p:spPr>
            <a:xfrm>
              <a:off x="0" y="-38100"/>
              <a:ext cx="270933" cy="27474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144000" y="0"/>
            <a:ext cx="8426055" cy="10287000"/>
            <a:chOff x="0" y="0"/>
            <a:chExt cx="2219208" cy="2709333"/>
          </a:xfrm>
        </p:grpSpPr>
        <p:sp>
          <p:nvSpPr>
            <p:cNvPr name="Freeform 15" id="15"/>
            <p:cNvSpPr/>
            <p:nvPr/>
          </p:nvSpPr>
          <p:spPr>
            <a:xfrm flipH="false" flipV="false" rot="0">
              <a:off x="0" y="0"/>
              <a:ext cx="2219208" cy="2709333"/>
            </a:xfrm>
            <a:custGeom>
              <a:avLst/>
              <a:gdLst/>
              <a:ahLst/>
              <a:cxnLst/>
              <a:rect r="r" b="b" t="t" l="l"/>
              <a:pathLst>
                <a:path h="2709333" w="2219208">
                  <a:moveTo>
                    <a:pt x="0" y="0"/>
                  </a:moveTo>
                  <a:lnTo>
                    <a:pt x="2219208" y="0"/>
                  </a:lnTo>
                  <a:lnTo>
                    <a:pt x="2219208" y="2709333"/>
                  </a:lnTo>
                  <a:lnTo>
                    <a:pt x="0" y="2709333"/>
                  </a:lnTo>
                  <a:close/>
                </a:path>
              </a:pathLst>
            </a:custGeom>
            <a:solidFill>
              <a:srgbClr val="5BB5DC"/>
            </a:solidFill>
          </p:spPr>
        </p:sp>
        <p:sp>
          <p:nvSpPr>
            <p:cNvPr name="TextBox 16" id="16"/>
            <p:cNvSpPr txBox="true"/>
            <p:nvPr/>
          </p:nvSpPr>
          <p:spPr>
            <a:xfrm>
              <a:off x="0" y="-38100"/>
              <a:ext cx="2219208" cy="2747433"/>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flipV="true">
            <a:off x="3331371" y="-271460"/>
            <a:ext cx="4568425" cy="8646464"/>
          </a:xfrm>
          <a:prstGeom prst="line">
            <a:avLst/>
          </a:prstGeom>
          <a:ln cap="flat" w="142875">
            <a:solidFill>
              <a:srgbClr val="FFFFFF"/>
            </a:solidFill>
            <a:prstDash val="solid"/>
            <a:headEnd type="none" len="sm" w="sm"/>
            <a:tailEnd type="none" len="sm" w="sm"/>
          </a:ln>
        </p:spPr>
      </p:sp>
      <p:grpSp>
        <p:nvGrpSpPr>
          <p:cNvPr name="Group 18" id="18"/>
          <p:cNvGrpSpPr/>
          <p:nvPr/>
        </p:nvGrpSpPr>
        <p:grpSpPr>
          <a:xfrm rot="0">
            <a:off x="-7165" y="7200900"/>
            <a:ext cx="10272959" cy="3130595"/>
            <a:chOff x="0" y="0"/>
            <a:chExt cx="1958710" cy="596900"/>
          </a:xfrm>
        </p:grpSpPr>
        <p:sp>
          <p:nvSpPr>
            <p:cNvPr name="Freeform 19" id="19"/>
            <p:cNvSpPr/>
            <p:nvPr/>
          </p:nvSpPr>
          <p:spPr>
            <a:xfrm flipH="false" flipV="false" rot="0">
              <a:off x="0" y="0"/>
              <a:ext cx="1958710" cy="596900"/>
            </a:xfrm>
            <a:custGeom>
              <a:avLst/>
              <a:gdLst/>
              <a:ahLst/>
              <a:cxnLst/>
              <a:rect r="r" b="b" t="t" l="l"/>
              <a:pathLst>
                <a:path h="596900" w="1958710">
                  <a:moveTo>
                    <a:pt x="1958710" y="596900"/>
                  </a:moveTo>
                  <a:lnTo>
                    <a:pt x="0" y="596900"/>
                  </a:lnTo>
                  <a:lnTo>
                    <a:pt x="0" y="0"/>
                  </a:lnTo>
                  <a:lnTo>
                    <a:pt x="1958710" y="596900"/>
                  </a:lnTo>
                  <a:close/>
                </a:path>
              </a:pathLst>
            </a:custGeom>
            <a:solidFill>
              <a:srgbClr val="F1A372"/>
            </a:solidFill>
          </p:spPr>
        </p:sp>
        <p:sp>
          <p:nvSpPr>
            <p:cNvPr name="TextBox 20" id="20"/>
            <p:cNvSpPr txBox="true"/>
            <p:nvPr/>
          </p:nvSpPr>
          <p:spPr>
            <a:xfrm>
              <a:off x="0" y="260350"/>
              <a:ext cx="979355" cy="335280"/>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9415460" y="0"/>
            <a:ext cx="7843840" cy="10331495"/>
          </a:xfrm>
          <a:custGeom>
            <a:avLst/>
            <a:gdLst/>
            <a:ahLst/>
            <a:cxnLst/>
            <a:rect r="r" b="b" t="t" l="l"/>
            <a:pathLst>
              <a:path h="10331495" w="7843840">
                <a:moveTo>
                  <a:pt x="0" y="0"/>
                </a:moveTo>
                <a:lnTo>
                  <a:pt x="7843840" y="0"/>
                </a:lnTo>
                <a:lnTo>
                  <a:pt x="7843840" y="10331495"/>
                </a:lnTo>
                <a:lnTo>
                  <a:pt x="0" y="10331495"/>
                </a:lnTo>
                <a:lnTo>
                  <a:pt x="0" y="0"/>
                </a:lnTo>
                <a:close/>
              </a:path>
            </a:pathLst>
          </a:custGeom>
          <a:blipFill>
            <a:blip r:embed="rId2"/>
            <a:stretch>
              <a:fillRect l="-589" t="0" r="-589" b="0"/>
            </a:stretch>
          </a:blipFill>
        </p:spPr>
      </p:sp>
      <p:sp>
        <p:nvSpPr>
          <p:cNvPr name="TextBox 22" id="22"/>
          <p:cNvSpPr txBox="true"/>
          <p:nvPr/>
        </p:nvSpPr>
        <p:spPr>
          <a:xfrm rot="0">
            <a:off x="207701" y="1161067"/>
            <a:ext cx="6727817" cy="2085976"/>
          </a:xfrm>
          <a:prstGeom prst="rect">
            <a:avLst/>
          </a:prstGeom>
        </p:spPr>
        <p:txBody>
          <a:bodyPr anchor="t" rtlCol="false" tIns="0" lIns="0" bIns="0" rIns="0">
            <a:spAutoFit/>
          </a:bodyPr>
          <a:lstStyle/>
          <a:p>
            <a:pPr algn="l">
              <a:lnSpc>
                <a:spcPts val="8399"/>
              </a:lnSpc>
            </a:pPr>
            <a:r>
              <a:rPr lang="en-US" sz="5999">
                <a:solidFill>
                  <a:srgbClr val="FFFFFF"/>
                </a:solidFill>
                <a:latin typeface="Archivo Black"/>
                <a:ea typeface="Archivo Black"/>
                <a:cs typeface="Archivo Black"/>
                <a:sym typeface="Archivo Black"/>
              </a:rPr>
              <a:t>UML Primera Entrega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BB5DC"/>
        </a:solidFill>
      </p:bgPr>
    </p:bg>
    <p:spTree>
      <p:nvGrpSpPr>
        <p:cNvPr id="1" name=""/>
        <p:cNvGrpSpPr/>
        <p:nvPr/>
      </p:nvGrpSpPr>
      <p:grpSpPr>
        <a:xfrm>
          <a:off x="0" y="0"/>
          <a:ext cx="0" cy="0"/>
          <a:chOff x="0" y="0"/>
          <a:chExt cx="0" cy="0"/>
        </a:xfrm>
      </p:grpSpPr>
      <p:grpSp>
        <p:nvGrpSpPr>
          <p:cNvPr name="Group 2" id="2"/>
          <p:cNvGrpSpPr/>
          <p:nvPr/>
        </p:nvGrpSpPr>
        <p:grpSpPr>
          <a:xfrm rot="-5400000">
            <a:off x="12416310" y="4415310"/>
            <a:ext cx="10287000" cy="1456379"/>
            <a:chOff x="0" y="0"/>
            <a:chExt cx="2116667" cy="299667"/>
          </a:xfrm>
        </p:grpSpPr>
        <p:sp>
          <p:nvSpPr>
            <p:cNvPr name="Freeform 3" id="3"/>
            <p:cNvSpPr/>
            <p:nvPr/>
          </p:nvSpPr>
          <p:spPr>
            <a:xfrm flipH="false" flipV="false" rot="0">
              <a:off x="0" y="0"/>
              <a:ext cx="2116667" cy="299667"/>
            </a:xfrm>
            <a:custGeom>
              <a:avLst/>
              <a:gdLst/>
              <a:ahLst/>
              <a:cxnLst/>
              <a:rect r="r" b="b" t="t" l="l"/>
              <a:pathLst>
                <a:path h="299667" w="2116667">
                  <a:moveTo>
                    <a:pt x="0" y="0"/>
                  </a:moveTo>
                  <a:lnTo>
                    <a:pt x="2116667" y="0"/>
                  </a:lnTo>
                  <a:lnTo>
                    <a:pt x="2116667" y="299667"/>
                  </a:lnTo>
                  <a:lnTo>
                    <a:pt x="0" y="299667"/>
                  </a:lnTo>
                  <a:close/>
                </a:path>
              </a:pathLst>
            </a:custGeom>
            <a:solidFill>
              <a:srgbClr val="103E6A"/>
            </a:solidFill>
          </p:spPr>
        </p:sp>
        <p:sp>
          <p:nvSpPr>
            <p:cNvPr name="TextBox 4" id="4"/>
            <p:cNvSpPr txBox="true"/>
            <p:nvPr/>
          </p:nvSpPr>
          <p:spPr>
            <a:xfrm>
              <a:off x="0" y="-38100"/>
              <a:ext cx="2116667" cy="3377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4912157" y="-983311"/>
            <a:ext cx="8115117" cy="10081738"/>
            <a:chOff x="0" y="0"/>
            <a:chExt cx="1513777" cy="1880627"/>
          </a:xfrm>
        </p:grpSpPr>
        <p:sp>
          <p:nvSpPr>
            <p:cNvPr name="Freeform 6" id="6"/>
            <p:cNvSpPr/>
            <p:nvPr/>
          </p:nvSpPr>
          <p:spPr>
            <a:xfrm flipH="false" flipV="false" rot="0">
              <a:off x="0" y="0"/>
              <a:ext cx="1513777" cy="1880627"/>
            </a:xfrm>
            <a:custGeom>
              <a:avLst/>
              <a:gdLst/>
              <a:ahLst/>
              <a:cxnLst/>
              <a:rect r="r" b="b" t="t" l="l"/>
              <a:pathLst>
                <a:path h="1880627" w="1513777">
                  <a:moveTo>
                    <a:pt x="1513777" y="1880627"/>
                  </a:moveTo>
                  <a:lnTo>
                    <a:pt x="0" y="1880627"/>
                  </a:lnTo>
                  <a:lnTo>
                    <a:pt x="0" y="0"/>
                  </a:lnTo>
                  <a:lnTo>
                    <a:pt x="1513777" y="1880627"/>
                  </a:lnTo>
                  <a:close/>
                </a:path>
              </a:pathLst>
            </a:custGeom>
            <a:solidFill>
              <a:srgbClr val="103E6A"/>
            </a:solidFill>
          </p:spPr>
        </p:sp>
        <p:sp>
          <p:nvSpPr>
            <p:cNvPr name="TextBox 7" id="7"/>
            <p:cNvSpPr txBox="true"/>
            <p:nvPr/>
          </p:nvSpPr>
          <p:spPr>
            <a:xfrm>
              <a:off x="0" y="902213"/>
              <a:ext cx="756889" cy="9744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4029075" cy="10287000"/>
            <a:chOff x="0" y="0"/>
            <a:chExt cx="1061156" cy="2709333"/>
          </a:xfrm>
        </p:grpSpPr>
        <p:sp>
          <p:nvSpPr>
            <p:cNvPr name="Freeform 9" id="9"/>
            <p:cNvSpPr/>
            <p:nvPr/>
          </p:nvSpPr>
          <p:spPr>
            <a:xfrm flipH="false" flipV="false" rot="0">
              <a:off x="0" y="0"/>
              <a:ext cx="1061156" cy="2709333"/>
            </a:xfrm>
            <a:custGeom>
              <a:avLst/>
              <a:gdLst/>
              <a:ahLst/>
              <a:cxnLst/>
              <a:rect r="r" b="b" t="t" l="l"/>
              <a:pathLst>
                <a:path h="2709333" w="1061156">
                  <a:moveTo>
                    <a:pt x="0" y="0"/>
                  </a:moveTo>
                  <a:lnTo>
                    <a:pt x="1061156" y="0"/>
                  </a:lnTo>
                  <a:lnTo>
                    <a:pt x="1061156" y="2709333"/>
                  </a:lnTo>
                  <a:lnTo>
                    <a:pt x="0" y="2709333"/>
                  </a:lnTo>
                  <a:close/>
                </a:path>
              </a:pathLst>
            </a:custGeom>
            <a:solidFill>
              <a:srgbClr val="F1A372"/>
            </a:solidFill>
          </p:spPr>
        </p:sp>
        <p:sp>
          <p:nvSpPr>
            <p:cNvPr name="TextBox 10" id="10"/>
            <p:cNvSpPr txBox="true"/>
            <p:nvPr/>
          </p:nvSpPr>
          <p:spPr>
            <a:xfrm>
              <a:off x="0" y="-38100"/>
              <a:ext cx="1061156" cy="27474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0" y="0"/>
            <a:ext cx="3852466" cy="10287000"/>
          </a:xfrm>
          <a:custGeom>
            <a:avLst/>
            <a:gdLst/>
            <a:ahLst/>
            <a:cxnLst/>
            <a:rect r="r" b="b" t="t" l="l"/>
            <a:pathLst>
              <a:path h="10287000" w="3852466">
                <a:moveTo>
                  <a:pt x="0" y="0"/>
                </a:moveTo>
                <a:lnTo>
                  <a:pt x="3852466" y="0"/>
                </a:lnTo>
                <a:lnTo>
                  <a:pt x="3852466" y="10287000"/>
                </a:lnTo>
                <a:lnTo>
                  <a:pt x="0" y="10287000"/>
                </a:lnTo>
                <a:lnTo>
                  <a:pt x="0" y="0"/>
                </a:lnTo>
                <a:close/>
              </a:path>
            </a:pathLst>
          </a:custGeom>
          <a:blipFill>
            <a:blip r:embed="rId2"/>
            <a:stretch>
              <a:fillRect l="0" t="0" r="-2601" b="-113467"/>
            </a:stretch>
          </a:blipFill>
        </p:spPr>
      </p:sp>
      <p:grpSp>
        <p:nvGrpSpPr>
          <p:cNvPr name="Group 12" id="12"/>
          <p:cNvGrpSpPr/>
          <p:nvPr/>
        </p:nvGrpSpPr>
        <p:grpSpPr>
          <a:xfrm rot="0">
            <a:off x="4007520" y="7156405"/>
            <a:ext cx="10272959" cy="3130595"/>
            <a:chOff x="0" y="0"/>
            <a:chExt cx="1958710" cy="596900"/>
          </a:xfrm>
        </p:grpSpPr>
        <p:sp>
          <p:nvSpPr>
            <p:cNvPr name="Freeform 13" id="13"/>
            <p:cNvSpPr/>
            <p:nvPr/>
          </p:nvSpPr>
          <p:spPr>
            <a:xfrm flipH="false" flipV="false" rot="0">
              <a:off x="0" y="0"/>
              <a:ext cx="1958710" cy="596900"/>
            </a:xfrm>
            <a:custGeom>
              <a:avLst/>
              <a:gdLst/>
              <a:ahLst/>
              <a:cxnLst/>
              <a:rect r="r" b="b" t="t" l="l"/>
              <a:pathLst>
                <a:path h="596900" w="1958710">
                  <a:moveTo>
                    <a:pt x="1958710" y="596900"/>
                  </a:moveTo>
                  <a:lnTo>
                    <a:pt x="0" y="596900"/>
                  </a:lnTo>
                  <a:lnTo>
                    <a:pt x="0" y="0"/>
                  </a:lnTo>
                  <a:lnTo>
                    <a:pt x="1958710" y="596900"/>
                  </a:lnTo>
                  <a:close/>
                </a:path>
              </a:pathLst>
            </a:custGeom>
            <a:solidFill>
              <a:srgbClr val="FFFFFF"/>
            </a:solidFill>
          </p:spPr>
        </p:sp>
        <p:sp>
          <p:nvSpPr>
            <p:cNvPr name="TextBox 14" id="14"/>
            <p:cNvSpPr txBox="true"/>
            <p:nvPr/>
          </p:nvSpPr>
          <p:spPr>
            <a:xfrm>
              <a:off x="0" y="260350"/>
              <a:ext cx="979355" cy="3352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655650" y="0"/>
            <a:ext cx="3603650" cy="10287000"/>
            <a:chOff x="0" y="0"/>
            <a:chExt cx="949109" cy="2709333"/>
          </a:xfrm>
        </p:grpSpPr>
        <p:sp>
          <p:nvSpPr>
            <p:cNvPr name="Freeform 16" id="16"/>
            <p:cNvSpPr/>
            <p:nvPr/>
          </p:nvSpPr>
          <p:spPr>
            <a:xfrm flipH="false" flipV="false" rot="0">
              <a:off x="0" y="0"/>
              <a:ext cx="949110" cy="2709333"/>
            </a:xfrm>
            <a:custGeom>
              <a:avLst/>
              <a:gdLst/>
              <a:ahLst/>
              <a:cxnLst/>
              <a:rect r="r" b="b" t="t" l="l"/>
              <a:pathLst>
                <a:path h="2709333" w="949110">
                  <a:moveTo>
                    <a:pt x="0" y="0"/>
                  </a:moveTo>
                  <a:lnTo>
                    <a:pt x="949110" y="0"/>
                  </a:lnTo>
                  <a:lnTo>
                    <a:pt x="949110" y="2709333"/>
                  </a:lnTo>
                  <a:lnTo>
                    <a:pt x="0" y="2709333"/>
                  </a:lnTo>
                  <a:close/>
                </a:path>
              </a:pathLst>
            </a:custGeom>
            <a:solidFill>
              <a:srgbClr val="F1A372"/>
            </a:solidFill>
          </p:spPr>
        </p:sp>
        <p:sp>
          <p:nvSpPr>
            <p:cNvPr name="TextBox 17" id="17"/>
            <p:cNvSpPr txBox="true"/>
            <p:nvPr/>
          </p:nvSpPr>
          <p:spPr>
            <a:xfrm>
              <a:off x="0" y="-38100"/>
              <a:ext cx="949109" cy="2747433"/>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3623752" y="0"/>
            <a:ext cx="3667447" cy="10287000"/>
          </a:xfrm>
          <a:custGeom>
            <a:avLst/>
            <a:gdLst/>
            <a:ahLst/>
            <a:cxnLst/>
            <a:rect r="r" b="b" t="t" l="l"/>
            <a:pathLst>
              <a:path h="10287000" w="3667447">
                <a:moveTo>
                  <a:pt x="0" y="0"/>
                </a:moveTo>
                <a:lnTo>
                  <a:pt x="3667446" y="0"/>
                </a:lnTo>
                <a:lnTo>
                  <a:pt x="3667446" y="10287000"/>
                </a:lnTo>
                <a:lnTo>
                  <a:pt x="0" y="10287000"/>
                </a:lnTo>
                <a:lnTo>
                  <a:pt x="0" y="0"/>
                </a:lnTo>
                <a:close/>
              </a:path>
            </a:pathLst>
          </a:custGeom>
          <a:blipFill>
            <a:blip r:embed="rId2"/>
            <a:stretch>
              <a:fillRect l="0" t="-98062" r="0" b="0"/>
            </a:stretch>
          </a:blipFill>
        </p:spPr>
      </p:sp>
      <p:sp>
        <p:nvSpPr>
          <p:cNvPr name="AutoShape 19" id="19"/>
          <p:cNvSpPr/>
          <p:nvPr/>
        </p:nvSpPr>
        <p:spPr>
          <a:xfrm flipV="true">
            <a:off x="3852466" y="1643133"/>
            <a:ext cx="9803184" cy="7867328"/>
          </a:xfrm>
          <a:prstGeom prst="line">
            <a:avLst/>
          </a:prstGeom>
          <a:ln cap="flat" w="95250">
            <a:solidFill>
              <a:srgbClr val="103E6A"/>
            </a:solidFill>
            <a:prstDash val="lgDash"/>
            <a:headEnd type="none" len="sm" w="sm"/>
            <a:tailEnd type="arrow" len="sm" w="med"/>
          </a:ln>
        </p:spPr>
      </p:sp>
      <p:sp>
        <p:nvSpPr>
          <p:cNvPr name="TextBox 20" id="20"/>
          <p:cNvSpPr txBox="true"/>
          <p:nvPr/>
        </p:nvSpPr>
        <p:spPr>
          <a:xfrm rot="-2217273">
            <a:off x="8950581" y="5408356"/>
            <a:ext cx="590699"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ial"/>
                <a:ea typeface="Arial"/>
                <a:cs typeface="Arial"/>
                <a:sym typeface="Arial"/>
              </a:rPr>
              <a:t>crea</a:t>
            </a:r>
          </a:p>
        </p:txBody>
      </p:sp>
      <p:sp>
        <p:nvSpPr>
          <p:cNvPr name="TextBox 21" id="21"/>
          <p:cNvSpPr txBox="true"/>
          <p:nvPr/>
        </p:nvSpPr>
        <p:spPr>
          <a:xfrm rot="0">
            <a:off x="4693376" y="904875"/>
            <a:ext cx="5780536" cy="2033905"/>
          </a:xfrm>
          <a:prstGeom prst="rect">
            <a:avLst/>
          </a:prstGeom>
        </p:spPr>
        <p:txBody>
          <a:bodyPr anchor="t" rtlCol="false" tIns="0" lIns="0" bIns="0" rIns="0">
            <a:spAutoFit/>
          </a:bodyPr>
          <a:lstStyle/>
          <a:p>
            <a:pPr algn="l">
              <a:lnSpc>
                <a:spcPts val="8119"/>
              </a:lnSpc>
            </a:pPr>
            <a:r>
              <a:rPr lang="en-US" sz="5799">
                <a:solidFill>
                  <a:srgbClr val="FFFFFF"/>
                </a:solidFill>
                <a:latin typeface="Archivo Black"/>
                <a:ea typeface="Archivo Black"/>
                <a:cs typeface="Archivo Black"/>
                <a:sym typeface="Archivo Black"/>
              </a:rPr>
              <a:t>UML Segunda Entrega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9048553" y="1047553"/>
            <a:ext cx="10287000" cy="8191893"/>
            <a:chOff x="0" y="0"/>
            <a:chExt cx="707734" cy="563593"/>
          </a:xfrm>
        </p:grpSpPr>
        <p:sp>
          <p:nvSpPr>
            <p:cNvPr name="Freeform 3" id="3"/>
            <p:cNvSpPr/>
            <p:nvPr/>
          </p:nvSpPr>
          <p:spPr>
            <a:xfrm flipH="false" flipV="false" rot="0">
              <a:off x="0" y="0"/>
              <a:ext cx="707734" cy="563593"/>
            </a:xfrm>
            <a:custGeom>
              <a:avLst/>
              <a:gdLst/>
              <a:ahLst/>
              <a:cxnLst/>
              <a:rect r="r" b="b" t="t" l="l"/>
              <a:pathLst>
                <a:path h="563593" w="707734">
                  <a:moveTo>
                    <a:pt x="0" y="0"/>
                  </a:moveTo>
                  <a:lnTo>
                    <a:pt x="707734" y="0"/>
                  </a:lnTo>
                  <a:lnTo>
                    <a:pt x="707734" y="563593"/>
                  </a:lnTo>
                  <a:lnTo>
                    <a:pt x="0" y="563593"/>
                  </a:lnTo>
                  <a:close/>
                </a:path>
              </a:pathLst>
            </a:custGeom>
            <a:solidFill>
              <a:srgbClr val="F1A372"/>
            </a:solidFill>
          </p:spPr>
        </p:sp>
        <p:sp>
          <p:nvSpPr>
            <p:cNvPr name="TextBox 4" id="4"/>
            <p:cNvSpPr txBox="true"/>
            <p:nvPr/>
          </p:nvSpPr>
          <p:spPr>
            <a:xfrm>
              <a:off x="0" y="-38100"/>
              <a:ext cx="707734" cy="60169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0096107" cy="8654355"/>
            <a:chOff x="0" y="0"/>
            <a:chExt cx="2659057" cy="2279336"/>
          </a:xfrm>
        </p:grpSpPr>
        <p:sp>
          <p:nvSpPr>
            <p:cNvPr name="Freeform 6" id="6"/>
            <p:cNvSpPr/>
            <p:nvPr/>
          </p:nvSpPr>
          <p:spPr>
            <a:xfrm flipH="false" flipV="false" rot="0">
              <a:off x="0" y="0"/>
              <a:ext cx="2659057" cy="2279336"/>
            </a:xfrm>
            <a:custGeom>
              <a:avLst/>
              <a:gdLst/>
              <a:ahLst/>
              <a:cxnLst/>
              <a:rect r="r" b="b" t="t" l="l"/>
              <a:pathLst>
                <a:path h="2279336" w="2659057">
                  <a:moveTo>
                    <a:pt x="0" y="0"/>
                  </a:moveTo>
                  <a:lnTo>
                    <a:pt x="2659057" y="0"/>
                  </a:lnTo>
                  <a:lnTo>
                    <a:pt x="2659057" y="2279336"/>
                  </a:lnTo>
                  <a:lnTo>
                    <a:pt x="0" y="2279336"/>
                  </a:lnTo>
                  <a:close/>
                </a:path>
              </a:pathLst>
            </a:custGeom>
            <a:solidFill>
              <a:srgbClr val="5BB5DC"/>
            </a:solidFill>
          </p:spPr>
        </p:sp>
        <p:sp>
          <p:nvSpPr>
            <p:cNvPr name="TextBox 7" id="7"/>
            <p:cNvSpPr txBox="true"/>
            <p:nvPr/>
          </p:nvSpPr>
          <p:spPr>
            <a:xfrm>
              <a:off x="0" y="-38100"/>
              <a:ext cx="2659057" cy="231743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37009" y="365068"/>
            <a:ext cx="11522642" cy="9057900"/>
          </a:xfrm>
          <a:custGeom>
            <a:avLst/>
            <a:gdLst/>
            <a:ahLst/>
            <a:cxnLst/>
            <a:rect r="r" b="b" t="t" l="l"/>
            <a:pathLst>
              <a:path h="9057900" w="11522642">
                <a:moveTo>
                  <a:pt x="0" y="0"/>
                </a:moveTo>
                <a:lnTo>
                  <a:pt x="11522642" y="0"/>
                </a:lnTo>
                <a:lnTo>
                  <a:pt x="11522642" y="9057900"/>
                </a:lnTo>
                <a:lnTo>
                  <a:pt x="0" y="9057900"/>
                </a:lnTo>
                <a:lnTo>
                  <a:pt x="0" y="0"/>
                </a:lnTo>
                <a:close/>
              </a:path>
            </a:pathLst>
          </a:custGeom>
          <a:blipFill>
            <a:blip r:embed="rId2"/>
            <a:stretch>
              <a:fillRect l="-13106" t="0" r="-4881" b="0"/>
            </a:stretch>
          </a:blipFill>
        </p:spPr>
      </p:sp>
      <p:grpSp>
        <p:nvGrpSpPr>
          <p:cNvPr name="Group 9" id="9"/>
          <p:cNvGrpSpPr/>
          <p:nvPr/>
        </p:nvGrpSpPr>
        <p:grpSpPr>
          <a:xfrm rot="0">
            <a:off x="-7165" y="7200900"/>
            <a:ext cx="3003344" cy="3136826"/>
            <a:chOff x="0" y="0"/>
            <a:chExt cx="571500" cy="596900"/>
          </a:xfrm>
        </p:grpSpPr>
        <p:sp>
          <p:nvSpPr>
            <p:cNvPr name="Freeform 10" id="10"/>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1A372"/>
            </a:solidFill>
          </p:spPr>
        </p:sp>
        <p:sp>
          <p:nvSpPr>
            <p:cNvPr name="TextBox 11" id="11"/>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800000">
            <a:off x="12061681" y="0"/>
            <a:ext cx="6226319" cy="6503044"/>
            <a:chOff x="0" y="0"/>
            <a:chExt cx="571500" cy="596900"/>
          </a:xfrm>
        </p:grpSpPr>
        <p:sp>
          <p:nvSpPr>
            <p:cNvPr name="Freeform 13" id="13"/>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8DCBF"/>
            </a:solidFill>
          </p:spPr>
        </p:sp>
        <p:sp>
          <p:nvSpPr>
            <p:cNvPr name="TextBox 14" id="14"/>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8864784" y="7964876"/>
            <a:ext cx="9423216" cy="2372850"/>
          </a:xfrm>
          <a:custGeom>
            <a:avLst/>
            <a:gdLst/>
            <a:ahLst/>
            <a:cxnLst/>
            <a:rect r="r" b="b" t="t" l="l"/>
            <a:pathLst>
              <a:path h="2372850" w="9423216">
                <a:moveTo>
                  <a:pt x="0" y="0"/>
                </a:moveTo>
                <a:lnTo>
                  <a:pt x="9423216" y="0"/>
                </a:lnTo>
                <a:lnTo>
                  <a:pt x="9423216" y="2372850"/>
                </a:lnTo>
                <a:lnTo>
                  <a:pt x="0" y="2372850"/>
                </a:lnTo>
                <a:lnTo>
                  <a:pt x="0" y="0"/>
                </a:lnTo>
                <a:close/>
              </a:path>
            </a:pathLst>
          </a:custGeom>
          <a:blipFill>
            <a:blip r:embed="rId3"/>
            <a:stretch>
              <a:fillRect l="0" t="0" r="0" b="0"/>
            </a:stretch>
          </a:blipFill>
          <a:ln w="142875" cap="sq">
            <a:solidFill>
              <a:srgbClr val="5BB5DC"/>
            </a:solidFill>
            <a:prstDash val="solid"/>
            <a:miter/>
          </a:ln>
        </p:spPr>
      </p:sp>
      <p:grpSp>
        <p:nvGrpSpPr>
          <p:cNvPr name="Group 16" id="16"/>
          <p:cNvGrpSpPr/>
          <p:nvPr/>
        </p:nvGrpSpPr>
        <p:grpSpPr>
          <a:xfrm rot="0">
            <a:off x="12088741" y="1901353"/>
            <a:ext cx="5379757" cy="2700338"/>
            <a:chOff x="0" y="0"/>
            <a:chExt cx="1416891" cy="711200"/>
          </a:xfrm>
        </p:grpSpPr>
        <p:sp>
          <p:nvSpPr>
            <p:cNvPr name="Freeform 17" id="17"/>
            <p:cNvSpPr/>
            <p:nvPr/>
          </p:nvSpPr>
          <p:spPr>
            <a:xfrm flipH="false" flipV="false" rot="0">
              <a:off x="0" y="0"/>
              <a:ext cx="1416891" cy="711200"/>
            </a:xfrm>
            <a:custGeom>
              <a:avLst/>
              <a:gdLst/>
              <a:ahLst/>
              <a:cxnLst/>
              <a:rect r="r" b="b" t="t" l="l"/>
              <a:pathLst>
                <a:path h="711200" w="1416891">
                  <a:moveTo>
                    <a:pt x="0" y="50800"/>
                  </a:moveTo>
                  <a:lnTo>
                    <a:pt x="708445" y="0"/>
                  </a:lnTo>
                  <a:lnTo>
                    <a:pt x="1416891" y="50800"/>
                  </a:lnTo>
                  <a:lnTo>
                    <a:pt x="1416891" y="660400"/>
                  </a:lnTo>
                  <a:lnTo>
                    <a:pt x="708445" y="711200"/>
                  </a:lnTo>
                  <a:lnTo>
                    <a:pt x="0" y="660400"/>
                  </a:lnTo>
                  <a:lnTo>
                    <a:pt x="0" y="50800"/>
                  </a:lnTo>
                  <a:close/>
                </a:path>
              </a:pathLst>
            </a:custGeom>
            <a:solidFill>
              <a:srgbClr val="5BB5DC"/>
            </a:solidFill>
            <a:ln w="76200" cap="sq">
              <a:solidFill>
                <a:srgbClr val="103E6A"/>
              </a:solidFill>
              <a:prstDash val="solid"/>
              <a:miter/>
            </a:ln>
          </p:spPr>
        </p:sp>
        <p:sp>
          <p:nvSpPr>
            <p:cNvPr name="TextBox 18" id="18"/>
            <p:cNvSpPr txBox="true"/>
            <p:nvPr/>
          </p:nvSpPr>
          <p:spPr>
            <a:xfrm>
              <a:off x="0" y="-12700"/>
              <a:ext cx="1416891"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088741" y="2172657"/>
            <a:ext cx="5379757" cy="2033905"/>
          </a:xfrm>
          <a:prstGeom prst="rect">
            <a:avLst/>
          </a:prstGeom>
        </p:spPr>
        <p:txBody>
          <a:bodyPr anchor="t" rtlCol="false" tIns="0" lIns="0" bIns="0" rIns="0">
            <a:spAutoFit/>
          </a:bodyPr>
          <a:lstStyle/>
          <a:p>
            <a:pPr algn="ctr">
              <a:lnSpc>
                <a:spcPts val="8119"/>
              </a:lnSpc>
            </a:pPr>
            <a:r>
              <a:rPr lang="en-US" sz="5799">
                <a:solidFill>
                  <a:srgbClr val="103E6A"/>
                </a:solidFill>
                <a:latin typeface="Archivo Black"/>
                <a:ea typeface="Archivo Black"/>
                <a:cs typeface="Archivo Black"/>
                <a:sym typeface="Archivo Black"/>
              </a:rPr>
              <a:t>UML Entrega Final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7156405"/>
            <a:ext cx="10272959" cy="3130595"/>
            <a:chOff x="0" y="0"/>
            <a:chExt cx="1958710" cy="596900"/>
          </a:xfrm>
        </p:grpSpPr>
        <p:sp>
          <p:nvSpPr>
            <p:cNvPr name="Freeform 3" id="3"/>
            <p:cNvSpPr/>
            <p:nvPr/>
          </p:nvSpPr>
          <p:spPr>
            <a:xfrm flipH="false" flipV="false" rot="0">
              <a:off x="0" y="0"/>
              <a:ext cx="1958710" cy="596900"/>
            </a:xfrm>
            <a:custGeom>
              <a:avLst/>
              <a:gdLst/>
              <a:ahLst/>
              <a:cxnLst/>
              <a:rect r="r" b="b" t="t" l="l"/>
              <a:pathLst>
                <a:path h="596900" w="1958710">
                  <a:moveTo>
                    <a:pt x="1958710" y="596900"/>
                  </a:moveTo>
                  <a:lnTo>
                    <a:pt x="0" y="596900"/>
                  </a:lnTo>
                  <a:lnTo>
                    <a:pt x="0" y="0"/>
                  </a:lnTo>
                  <a:lnTo>
                    <a:pt x="1958710" y="596900"/>
                  </a:lnTo>
                  <a:close/>
                </a:path>
              </a:pathLst>
            </a:custGeom>
            <a:solidFill>
              <a:srgbClr val="DC8651"/>
            </a:solidFill>
          </p:spPr>
        </p:sp>
        <p:sp>
          <p:nvSpPr>
            <p:cNvPr name="TextBox 4" id="4"/>
            <p:cNvSpPr txBox="true"/>
            <p:nvPr/>
          </p:nvSpPr>
          <p:spPr>
            <a:xfrm>
              <a:off x="0" y="260350"/>
              <a:ext cx="979355" cy="335280"/>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0" y="7137355"/>
            <a:ext cx="9144000" cy="2829024"/>
          </a:xfrm>
          <a:prstGeom prst="line">
            <a:avLst/>
          </a:prstGeom>
          <a:ln cap="flat" w="114300">
            <a:solidFill>
              <a:srgbClr val="F8DCBF"/>
            </a:solidFill>
            <a:prstDash val="solid"/>
            <a:headEnd type="none" len="sm" w="sm"/>
            <a:tailEnd type="none" len="sm" w="sm"/>
          </a:ln>
        </p:spPr>
      </p:sp>
      <p:grpSp>
        <p:nvGrpSpPr>
          <p:cNvPr name="Group 6" id="6"/>
          <p:cNvGrpSpPr/>
          <p:nvPr/>
        </p:nvGrpSpPr>
        <p:grpSpPr>
          <a:xfrm rot="-5400000">
            <a:off x="10272771" y="2461346"/>
            <a:ext cx="5416169" cy="10780476"/>
            <a:chOff x="0" y="0"/>
            <a:chExt cx="1005981" cy="2002330"/>
          </a:xfrm>
        </p:grpSpPr>
        <p:sp>
          <p:nvSpPr>
            <p:cNvPr name="Freeform 7" id="7"/>
            <p:cNvSpPr/>
            <p:nvPr/>
          </p:nvSpPr>
          <p:spPr>
            <a:xfrm flipH="false" flipV="false" rot="0">
              <a:off x="0" y="0"/>
              <a:ext cx="1005981" cy="2002330"/>
            </a:xfrm>
            <a:custGeom>
              <a:avLst/>
              <a:gdLst/>
              <a:ahLst/>
              <a:cxnLst/>
              <a:rect r="r" b="b" t="t" l="l"/>
              <a:pathLst>
                <a:path h="2002330" w="1005981">
                  <a:moveTo>
                    <a:pt x="1005981" y="2002330"/>
                  </a:moveTo>
                  <a:lnTo>
                    <a:pt x="0" y="2002330"/>
                  </a:lnTo>
                  <a:lnTo>
                    <a:pt x="0" y="0"/>
                  </a:lnTo>
                  <a:lnTo>
                    <a:pt x="1005981" y="2002330"/>
                  </a:lnTo>
                  <a:close/>
                </a:path>
              </a:pathLst>
            </a:custGeom>
            <a:solidFill>
              <a:srgbClr val="5BB5DC"/>
            </a:solidFill>
          </p:spPr>
        </p:sp>
        <p:sp>
          <p:nvSpPr>
            <p:cNvPr name="TextBox 8" id="8"/>
            <p:cNvSpPr txBox="true"/>
            <p:nvPr/>
          </p:nvSpPr>
          <p:spPr>
            <a:xfrm>
              <a:off x="0" y="963065"/>
              <a:ext cx="502991" cy="1035005"/>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flipV="true">
            <a:off x="7805818" y="5143500"/>
            <a:ext cx="10482182" cy="5365400"/>
          </a:xfrm>
          <a:prstGeom prst="line">
            <a:avLst/>
          </a:prstGeom>
          <a:ln cap="flat" w="114300">
            <a:solidFill>
              <a:srgbClr val="F8DCBF"/>
            </a:solidFill>
            <a:prstDash val="solid"/>
            <a:headEnd type="none" len="sm" w="sm"/>
            <a:tailEnd type="none" len="sm" w="sm"/>
          </a:ln>
        </p:spPr>
      </p:sp>
      <p:sp>
        <p:nvSpPr>
          <p:cNvPr name="Freeform 10" id="10"/>
          <p:cNvSpPr/>
          <p:nvPr/>
        </p:nvSpPr>
        <p:spPr>
          <a:xfrm flipH="false" flipV="false" rot="0">
            <a:off x="7187875" y="6255208"/>
            <a:ext cx="10861532" cy="2943020"/>
          </a:xfrm>
          <a:custGeom>
            <a:avLst/>
            <a:gdLst/>
            <a:ahLst/>
            <a:cxnLst/>
            <a:rect r="r" b="b" t="t" l="l"/>
            <a:pathLst>
              <a:path h="2943020" w="10861532">
                <a:moveTo>
                  <a:pt x="0" y="0"/>
                </a:moveTo>
                <a:lnTo>
                  <a:pt x="10861533" y="0"/>
                </a:lnTo>
                <a:lnTo>
                  <a:pt x="10861533" y="2943020"/>
                </a:lnTo>
                <a:lnTo>
                  <a:pt x="0" y="2943020"/>
                </a:lnTo>
                <a:lnTo>
                  <a:pt x="0" y="0"/>
                </a:lnTo>
                <a:close/>
              </a:path>
            </a:pathLst>
          </a:custGeom>
          <a:blipFill>
            <a:blip r:embed="rId2"/>
            <a:stretch>
              <a:fillRect l="0" t="0" r="0" b="0"/>
            </a:stretch>
          </a:blipFill>
        </p:spPr>
      </p:sp>
      <p:grpSp>
        <p:nvGrpSpPr>
          <p:cNvPr name="Group 11" id="11"/>
          <p:cNvGrpSpPr/>
          <p:nvPr/>
        </p:nvGrpSpPr>
        <p:grpSpPr>
          <a:xfrm rot="-10800000">
            <a:off x="-675250" y="-132250"/>
            <a:ext cx="19638500" cy="2781255"/>
            <a:chOff x="0" y="0"/>
            <a:chExt cx="864156" cy="122384"/>
          </a:xfrm>
        </p:grpSpPr>
        <p:sp>
          <p:nvSpPr>
            <p:cNvPr name="Freeform 12" id="12"/>
            <p:cNvSpPr/>
            <p:nvPr/>
          </p:nvSpPr>
          <p:spPr>
            <a:xfrm flipH="false" flipV="false" rot="0">
              <a:off x="0" y="0"/>
              <a:ext cx="864156" cy="122384"/>
            </a:xfrm>
            <a:custGeom>
              <a:avLst/>
              <a:gdLst/>
              <a:ahLst/>
              <a:cxnLst/>
              <a:rect r="r" b="b" t="t" l="l"/>
              <a:pathLst>
                <a:path h="122384" w="864156">
                  <a:moveTo>
                    <a:pt x="864156" y="122384"/>
                  </a:moveTo>
                  <a:cubicBezTo>
                    <a:pt x="864156" y="55723"/>
                    <a:pt x="667425" y="0"/>
                    <a:pt x="432078" y="0"/>
                  </a:cubicBezTo>
                  <a:cubicBezTo>
                    <a:pt x="196731" y="0"/>
                    <a:pt x="0" y="55723"/>
                    <a:pt x="0" y="122384"/>
                  </a:cubicBezTo>
                  <a:lnTo>
                    <a:pt x="864156" y="122384"/>
                  </a:lnTo>
                  <a:close/>
                </a:path>
              </a:pathLst>
            </a:custGeom>
            <a:solidFill>
              <a:srgbClr val="F8DCBF"/>
            </a:solidFill>
          </p:spPr>
        </p:sp>
        <p:sp>
          <p:nvSpPr>
            <p:cNvPr name="TextBox 13" id="13"/>
            <p:cNvSpPr txBox="true"/>
            <p:nvPr/>
          </p:nvSpPr>
          <p:spPr>
            <a:xfrm>
              <a:off x="203331" y="-19272"/>
              <a:ext cx="457494" cy="141656"/>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0800000">
            <a:off x="-414606" y="-52666"/>
            <a:ext cx="19117211" cy="2655778"/>
            <a:chOff x="0" y="0"/>
            <a:chExt cx="841218" cy="116863"/>
          </a:xfrm>
        </p:grpSpPr>
        <p:sp>
          <p:nvSpPr>
            <p:cNvPr name="Freeform 15" id="15"/>
            <p:cNvSpPr/>
            <p:nvPr/>
          </p:nvSpPr>
          <p:spPr>
            <a:xfrm flipH="false" flipV="false" rot="0">
              <a:off x="0" y="0"/>
              <a:ext cx="841218" cy="116863"/>
            </a:xfrm>
            <a:custGeom>
              <a:avLst/>
              <a:gdLst/>
              <a:ahLst/>
              <a:cxnLst/>
              <a:rect r="r" b="b" t="t" l="l"/>
              <a:pathLst>
                <a:path h="116863" w="841218">
                  <a:moveTo>
                    <a:pt x="841218" y="116863"/>
                  </a:moveTo>
                  <a:cubicBezTo>
                    <a:pt x="841218" y="53209"/>
                    <a:pt x="649709" y="0"/>
                    <a:pt x="420609" y="0"/>
                  </a:cubicBezTo>
                  <a:cubicBezTo>
                    <a:pt x="191509" y="0"/>
                    <a:pt x="0" y="53209"/>
                    <a:pt x="0" y="116863"/>
                  </a:cubicBezTo>
                  <a:lnTo>
                    <a:pt x="841218" y="116863"/>
                  </a:lnTo>
                  <a:close/>
                </a:path>
              </a:pathLst>
            </a:custGeom>
            <a:solidFill>
              <a:srgbClr val="5BB5DC"/>
            </a:solidFill>
          </p:spPr>
        </p:sp>
        <p:sp>
          <p:nvSpPr>
            <p:cNvPr name="TextBox 16" id="16"/>
            <p:cNvSpPr txBox="true"/>
            <p:nvPr/>
          </p:nvSpPr>
          <p:spPr>
            <a:xfrm>
              <a:off x="197934" y="-20121"/>
              <a:ext cx="445351" cy="136984"/>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268756" y="3252115"/>
            <a:ext cx="6707069" cy="6006185"/>
          </a:xfrm>
          <a:custGeom>
            <a:avLst/>
            <a:gdLst/>
            <a:ahLst/>
            <a:cxnLst/>
            <a:rect r="r" b="b" t="t" l="l"/>
            <a:pathLst>
              <a:path h="6006185" w="6707069">
                <a:moveTo>
                  <a:pt x="0" y="0"/>
                </a:moveTo>
                <a:lnTo>
                  <a:pt x="6707069" y="0"/>
                </a:lnTo>
                <a:lnTo>
                  <a:pt x="6707069" y="6006185"/>
                </a:lnTo>
                <a:lnTo>
                  <a:pt x="0" y="6006185"/>
                </a:lnTo>
                <a:lnTo>
                  <a:pt x="0" y="0"/>
                </a:lnTo>
                <a:close/>
              </a:path>
            </a:pathLst>
          </a:custGeom>
          <a:blipFill>
            <a:blip r:embed="rId3"/>
            <a:stretch>
              <a:fillRect l="0" t="0" r="0" b="0"/>
            </a:stretch>
          </a:blipFill>
        </p:spPr>
      </p:sp>
      <p:grpSp>
        <p:nvGrpSpPr>
          <p:cNvPr name="Group 18" id="18"/>
          <p:cNvGrpSpPr/>
          <p:nvPr/>
        </p:nvGrpSpPr>
        <p:grpSpPr>
          <a:xfrm rot="0">
            <a:off x="890463" y="-21393"/>
            <a:ext cx="16507075" cy="1212215"/>
            <a:chOff x="0" y="0"/>
            <a:chExt cx="4347542" cy="319267"/>
          </a:xfrm>
        </p:grpSpPr>
        <p:sp>
          <p:nvSpPr>
            <p:cNvPr name="Freeform 19" id="19"/>
            <p:cNvSpPr/>
            <p:nvPr/>
          </p:nvSpPr>
          <p:spPr>
            <a:xfrm flipH="false" flipV="false" rot="0">
              <a:off x="0" y="0"/>
              <a:ext cx="4347542" cy="319267"/>
            </a:xfrm>
            <a:custGeom>
              <a:avLst/>
              <a:gdLst/>
              <a:ahLst/>
              <a:cxnLst/>
              <a:rect r="r" b="b" t="t" l="l"/>
              <a:pathLst>
                <a:path h="319267" w="4347542">
                  <a:moveTo>
                    <a:pt x="4347542" y="0"/>
                  </a:moveTo>
                  <a:lnTo>
                    <a:pt x="0" y="0"/>
                  </a:lnTo>
                  <a:lnTo>
                    <a:pt x="101600" y="159633"/>
                  </a:lnTo>
                  <a:lnTo>
                    <a:pt x="0" y="319267"/>
                  </a:lnTo>
                  <a:lnTo>
                    <a:pt x="4347542" y="319267"/>
                  </a:lnTo>
                  <a:lnTo>
                    <a:pt x="4245942" y="159633"/>
                  </a:lnTo>
                  <a:lnTo>
                    <a:pt x="4347542" y="0"/>
                  </a:lnTo>
                  <a:close/>
                </a:path>
              </a:pathLst>
            </a:custGeom>
            <a:solidFill>
              <a:srgbClr val="F8DCBF"/>
            </a:solidFill>
          </p:spPr>
        </p:sp>
        <p:sp>
          <p:nvSpPr>
            <p:cNvPr name="TextBox 20" id="20"/>
            <p:cNvSpPr txBox="true"/>
            <p:nvPr/>
          </p:nvSpPr>
          <p:spPr>
            <a:xfrm>
              <a:off x="88900" y="-38100"/>
              <a:ext cx="4169742" cy="35736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375507" y="-132250"/>
            <a:ext cx="9536986" cy="1764764"/>
            <a:chOff x="0" y="0"/>
            <a:chExt cx="2511799" cy="464794"/>
          </a:xfrm>
        </p:grpSpPr>
        <p:sp>
          <p:nvSpPr>
            <p:cNvPr name="Freeform 22" id="22"/>
            <p:cNvSpPr/>
            <p:nvPr/>
          </p:nvSpPr>
          <p:spPr>
            <a:xfrm flipH="false" flipV="false" rot="0">
              <a:off x="0" y="0"/>
              <a:ext cx="2511799" cy="464794"/>
            </a:xfrm>
            <a:custGeom>
              <a:avLst/>
              <a:gdLst/>
              <a:ahLst/>
              <a:cxnLst/>
              <a:rect r="r" b="b" t="t" l="l"/>
              <a:pathLst>
                <a:path h="464794" w="2511799">
                  <a:moveTo>
                    <a:pt x="2511799" y="0"/>
                  </a:moveTo>
                  <a:lnTo>
                    <a:pt x="2511799" y="350494"/>
                  </a:lnTo>
                  <a:lnTo>
                    <a:pt x="1255899" y="464794"/>
                  </a:lnTo>
                  <a:lnTo>
                    <a:pt x="0" y="350494"/>
                  </a:lnTo>
                  <a:lnTo>
                    <a:pt x="0" y="0"/>
                  </a:lnTo>
                  <a:lnTo>
                    <a:pt x="2511799" y="0"/>
                  </a:lnTo>
                  <a:close/>
                </a:path>
              </a:pathLst>
            </a:custGeom>
            <a:solidFill>
              <a:srgbClr val="F1A372"/>
            </a:solidFill>
          </p:spPr>
        </p:sp>
        <p:sp>
          <p:nvSpPr>
            <p:cNvPr name="TextBox 23" id="23"/>
            <p:cNvSpPr txBox="true"/>
            <p:nvPr/>
          </p:nvSpPr>
          <p:spPr>
            <a:xfrm>
              <a:off x="0" y="-38100"/>
              <a:ext cx="2511799" cy="388594"/>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4460171" y="20200"/>
            <a:ext cx="9367659" cy="1005205"/>
          </a:xfrm>
          <a:prstGeom prst="rect">
            <a:avLst/>
          </a:prstGeom>
        </p:spPr>
        <p:txBody>
          <a:bodyPr anchor="t" rtlCol="false" tIns="0" lIns="0" bIns="0" rIns="0">
            <a:spAutoFit/>
          </a:bodyPr>
          <a:lstStyle/>
          <a:p>
            <a:pPr algn="ctr">
              <a:lnSpc>
                <a:spcPts val="8119"/>
              </a:lnSpc>
            </a:pPr>
            <a:r>
              <a:rPr lang="en-US" sz="5799">
                <a:solidFill>
                  <a:srgbClr val="103E6A"/>
                </a:solidFill>
                <a:latin typeface="Archivo Black"/>
                <a:ea typeface="Archivo Black"/>
                <a:cs typeface="Archivo Black"/>
                <a:sym typeface="Archivo Black"/>
              </a:rPr>
              <a:t>Arquitectura de diseño</a:t>
            </a:r>
          </a:p>
        </p:txBody>
      </p:sp>
      <p:sp>
        <p:nvSpPr>
          <p:cNvPr name="TextBox 25" id="25"/>
          <p:cNvSpPr txBox="true"/>
          <p:nvPr/>
        </p:nvSpPr>
        <p:spPr>
          <a:xfrm rot="0">
            <a:off x="519561" y="2526912"/>
            <a:ext cx="6205459" cy="679451"/>
          </a:xfrm>
          <a:prstGeom prst="rect">
            <a:avLst/>
          </a:prstGeom>
        </p:spPr>
        <p:txBody>
          <a:bodyPr anchor="t" rtlCol="false" tIns="0" lIns="0" bIns="0" rIns="0">
            <a:spAutoFit/>
          </a:bodyPr>
          <a:lstStyle/>
          <a:p>
            <a:pPr algn="l">
              <a:lnSpc>
                <a:spcPts val="5599"/>
              </a:lnSpc>
              <a:spcBef>
                <a:spcPct val="0"/>
              </a:spcBef>
            </a:pPr>
            <a:r>
              <a:rPr lang="en-US" sz="3999">
                <a:solidFill>
                  <a:srgbClr val="DC8651"/>
                </a:solidFill>
                <a:latin typeface="Archivo Black"/>
                <a:ea typeface="Archivo Black"/>
                <a:cs typeface="Archivo Black"/>
                <a:sym typeface="Archivo Black"/>
              </a:rPr>
              <a:t>CLASES PRINCIPALES</a:t>
            </a:r>
          </a:p>
        </p:txBody>
      </p:sp>
      <p:sp>
        <p:nvSpPr>
          <p:cNvPr name="TextBox 26" id="26"/>
          <p:cNvSpPr txBox="true"/>
          <p:nvPr/>
        </p:nvSpPr>
        <p:spPr>
          <a:xfrm rot="0">
            <a:off x="8902389" y="5219700"/>
            <a:ext cx="7432505" cy="1035049"/>
          </a:xfrm>
          <a:prstGeom prst="rect">
            <a:avLst/>
          </a:prstGeom>
        </p:spPr>
        <p:txBody>
          <a:bodyPr anchor="t" rtlCol="false" tIns="0" lIns="0" bIns="0" rIns="0">
            <a:spAutoFit/>
          </a:bodyPr>
          <a:lstStyle/>
          <a:p>
            <a:pPr algn="ctr">
              <a:lnSpc>
                <a:spcPts val="3999"/>
              </a:lnSpc>
            </a:pPr>
            <a:r>
              <a:rPr lang="en-US" sz="3999">
                <a:solidFill>
                  <a:srgbClr val="F8DCBF"/>
                </a:solidFill>
                <a:latin typeface="Archivo Black"/>
                <a:ea typeface="Archivo Black"/>
                <a:cs typeface="Archivo Black"/>
                <a:sym typeface="Archivo Black"/>
              </a:rPr>
              <a:t>CLASES  AUXILIARES</a:t>
            </a:r>
          </a:p>
          <a:p>
            <a:pPr algn="ctr">
              <a:lnSpc>
                <a:spcPts val="3999"/>
              </a:lnSpc>
            </a:pPr>
            <a:r>
              <a:rPr lang="en-US" sz="3999">
                <a:solidFill>
                  <a:srgbClr val="F8DCBF"/>
                </a:solidFill>
                <a:latin typeface="Archivo Black"/>
                <a:ea typeface="Archivo Black"/>
                <a:cs typeface="Archivo Black"/>
                <a:sym typeface="Archivo Black"/>
              </a:rPr>
              <a:t>(ESTRUCTURA DE DATOS)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89624" y="7200900"/>
            <a:ext cx="2954777" cy="3086100"/>
            <a:chOff x="0" y="0"/>
            <a:chExt cx="571500" cy="596900"/>
          </a:xfrm>
        </p:grpSpPr>
        <p:sp>
          <p:nvSpPr>
            <p:cNvPr name="Freeform 3" id="3"/>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DC8651"/>
            </a:solidFill>
            <a:ln w="38100" cap="sq">
              <a:solidFill>
                <a:srgbClr val="FFFFFF"/>
              </a:solidFill>
              <a:prstDash val="solid"/>
              <a:miter/>
            </a:ln>
          </p:spPr>
        </p:sp>
        <p:sp>
          <p:nvSpPr>
            <p:cNvPr name="TextBox 4" id="4"/>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97115" y="1988514"/>
            <a:ext cx="3720408" cy="3696381"/>
            <a:chOff x="0" y="0"/>
            <a:chExt cx="352850" cy="350571"/>
          </a:xfrm>
        </p:grpSpPr>
        <p:sp>
          <p:nvSpPr>
            <p:cNvPr name="Freeform 6" id="6"/>
            <p:cNvSpPr/>
            <p:nvPr/>
          </p:nvSpPr>
          <p:spPr>
            <a:xfrm flipH="false" flipV="false" rot="0">
              <a:off x="0" y="0"/>
              <a:ext cx="352850" cy="350571"/>
            </a:xfrm>
            <a:custGeom>
              <a:avLst/>
              <a:gdLst/>
              <a:ahLst/>
              <a:cxnLst/>
              <a:rect r="r" b="b" t="t" l="l"/>
              <a:pathLst>
                <a:path h="350571" w="352850">
                  <a:moveTo>
                    <a:pt x="40643" y="0"/>
                  </a:moveTo>
                  <a:lnTo>
                    <a:pt x="312206" y="0"/>
                  </a:lnTo>
                  <a:cubicBezTo>
                    <a:pt x="334653" y="0"/>
                    <a:pt x="352850" y="18197"/>
                    <a:pt x="352850" y="40643"/>
                  </a:cubicBezTo>
                  <a:lnTo>
                    <a:pt x="352850" y="309928"/>
                  </a:lnTo>
                  <a:cubicBezTo>
                    <a:pt x="352850" y="320707"/>
                    <a:pt x="348568" y="331045"/>
                    <a:pt x="340945" y="338667"/>
                  </a:cubicBezTo>
                  <a:cubicBezTo>
                    <a:pt x="333323" y="346289"/>
                    <a:pt x="322986" y="350571"/>
                    <a:pt x="312206" y="350571"/>
                  </a:cubicBezTo>
                  <a:lnTo>
                    <a:pt x="40643" y="350571"/>
                  </a:lnTo>
                  <a:cubicBezTo>
                    <a:pt x="18197" y="350571"/>
                    <a:pt x="0" y="332374"/>
                    <a:pt x="0" y="309928"/>
                  </a:cubicBezTo>
                  <a:lnTo>
                    <a:pt x="0" y="40643"/>
                  </a:lnTo>
                  <a:cubicBezTo>
                    <a:pt x="0" y="18197"/>
                    <a:pt x="18197" y="0"/>
                    <a:pt x="40643" y="0"/>
                  </a:cubicBezTo>
                  <a:close/>
                </a:path>
              </a:pathLst>
            </a:custGeom>
            <a:solidFill>
              <a:srgbClr val="5BB5DC"/>
            </a:solidFill>
            <a:ln w="133350" cap="rnd">
              <a:solidFill>
                <a:srgbClr val="F8DCBF"/>
              </a:solidFill>
              <a:prstDash val="solid"/>
              <a:round/>
            </a:ln>
          </p:spPr>
        </p:sp>
        <p:sp>
          <p:nvSpPr>
            <p:cNvPr name="TextBox 7" id="7"/>
            <p:cNvSpPr txBox="true"/>
            <p:nvPr/>
          </p:nvSpPr>
          <p:spPr>
            <a:xfrm>
              <a:off x="0" y="-38100"/>
              <a:ext cx="352850" cy="388671"/>
            </a:xfrm>
            <a:prstGeom prst="rect">
              <a:avLst/>
            </a:prstGeom>
          </p:spPr>
          <p:txBody>
            <a:bodyPr anchor="ctr" rtlCol="false" tIns="41176" lIns="41176" bIns="41176" rIns="41176"/>
            <a:lstStyle/>
            <a:p>
              <a:pPr algn="ctr">
                <a:lnSpc>
                  <a:spcPts val="2659"/>
                </a:lnSpc>
              </a:pPr>
            </a:p>
          </p:txBody>
        </p:sp>
      </p:grpSp>
      <p:sp>
        <p:nvSpPr>
          <p:cNvPr name="TextBox 8" id="8"/>
          <p:cNvSpPr txBox="true"/>
          <p:nvPr/>
        </p:nvSpPr>
        <p:spPr>
          <a:xfrm rot="0">
            <a:off x="462258" y="2635874"/>
            <a:ext cx="3390122" cy="2291715"/>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Se usa en :</a:t>
            </a:r>
          </a:p>
          <a:p>
            <a:pPr algn="l">
              <a:lnSpc>
                <a:spcPts val="2310"/>
              </a:lnSpc>
            </a:pPr>
            <a:r>
              <a:rPr lang="en-US" sz="1650">
                <a:solidFill>
                  <a:srgbClr val="FFFFFF"/>
                </a:solidFill>
                <a:latin typeface="Archivo Black"/>
                <a:ea typeface="Archivo Black"/>
                <a:cs typeface="Archivo Black"/>
                <a:sym typeface="Archivo Black"/>
              </a:rPr>
              <a:t>Clase Carpeta (Carpeta.py)</a:t>
            </a:r>
          </a:p>
          <a:p>
            <a:pPr algn="l">
              <a:lnSpc>
                <a:spcPts val="2310"/>
              </a:lnSpc>
            </a:pPr>
            <a:r>
              <a:rPr lang="en-US" sz="1650">
                <a:solidFill>
                  <a:srgbClr val="FFFFFF"/>
                </a:solidFill>
                <a:latin typeface="Archivo Black"/>
                <a:ea typeface="Archivo Black"/>
                <a:cs typeface="Archivo Black"/>
                <a:sym typeface="Archivo Black"/>
              </a:rPr>
              <a:t>Cada carpeta tiene subcarpetas (recursividad)</a:t>
            </a:r>
          </a:p>
          <a:p>
            <a:pPr algn="l">
              <a:lnSpc>
                <a:spcPts val="2310"/>
              </a:lnSpc>
              <a:spcBef>
                <a:spcPct val="0"/>
              </a:spcBef>
            </a:pPr>
            <a:r>
              <a:rPr lang="en-US" sz="1650">
                <a:solidFill>
                  <a:srgbClr val="FFFFFF"/>
                </a:solidFill>
                <a:latin typeface="Archivo Black"/>
                <a:ea typeface="Archivo Black"/>
                <a:cs typeface="Archivo Black"/>
                <a:sym typeface="Archivo Black"/>
              </a:rPr>
              <a:t>Se usa en métodos como listar_contenido(), buscar_subcarpeta(), buscar_mensaje_por_asunto()</a:t>
            </a:r>
          </a:p>
        </p:txBody>
      </p:sp>
      <p:grpSp>
        <p:nvGrpSpPr>
          <p:cNvPr name="Group 9" id="9"/>
          <p:cNvGrpSpPr/>
          <p:nvPr/>
        </p:nvGrpSpPr>
        <p:grpSpPr>
          <a:xfrm rot="0">
            <a:off x="11035771" y="-129505"/>
            <a:ext cx="7333169" cy="10513633"/>
            <a:chOff x="0" y="0"/>
            <a:chExt cx="1931370" cy="2769023"/>
          </a:xfrm>
        </p:grpSpPr>
        <p:sp>
          <p:nvSpPr>
            <p:cNvPr name="Freeform 10" id="10"/>
            <p:cNvSpPr/>
            <p:nvPr/>
          </p:nvSpPr>
          <p:spPr>
            <a:xfrm flipH="false" flipV="false" rot="0">
              <a:off x="0" y="0"/>
              <a:ext cx="1931370" cy="2769023"/>
            </a:xfrm>
            <a:custGeom>
              <a:avLst/>
              <a:gdLst/>
              <a:ahLst/>
              <a:cxnLst/>
              <a:rect r="r" b="b" t="t" l="l"/>
              <a:pathLst>
                <a:path h="2769023" w="1931370">
                  <a:moveTo>
                    <a:pt x="0" y="0"/>
                  </a:moveTo>
                  <a:lnTo>
                    <a:pt x="1931370" y="0"/>
                  </a:lnTo>
                  <a:lnTo>
                    <a:pt x="1931370" y="2769023"/>
                  </a:lnTo>
                  <a:lnTo>
                    <a:pt x="0" y="2769023"/>
                  </a:lnTo>
                  <a:close/>
                </a:path>
              </a:pathLst>
            </a:custGeom>
            <a:solidFill>
              <a:srgbClr val="F1A372"/>
            </a:solidFill>
            <a:ln w="38100" cap="sq">
              <a:solidFill>
                <a:srgbClr val="FFFFFF"/>
              </a:solidFill>
              <a:prstDash val="solid"/>
              <a:miter/>
            </a:ln>
          </p:spPr>
        </p:sp>
        <p:sp>
          <p:nvSpPr>
            <p:cNvPr name="TextBox 11" id="11"/>
            <p:cNvSpPr txBox="true"/>
            <p:nvPr/>
          </p:nvSpPr>
          <p:spPr>
            <a:xfrm>
              <a:off x="0" y="-38100"/>
              <a:ext cx="1931370" cy="280712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564977"/>
            <a:ext cx="18288000" cy="959952"/>
            <a:chOff x="0" y="0"/>
            <a:chExt cx="7742310" cy="406400"/>
          </a:xfrm>
        </p:grpSpPr>
        <p:sp>
          <p:nvSpPr>
            <p:cNvPr name="Freeform 13" id="13"/>
            <p:cNvSpPr/>
            <p:nvPr/>
          </p:nvSpPr>
          <p:spPr>
            <a:xfrm flipH="false" flipV="false" rot="0">
              <a:off x="0" y="0"/>
              <a:ext cx="7742310" cy="406400"/>
            </a:xfrm>
            <a:custGeom>
              <a:avLst/>
              <a:gdLst/>
              <a:ahLst/>
              <a:cxnLst/>
              <a:rect r="r" b="b" t="t" l="l"/>
              <a:pathLst>
                <a:path h="406400" w="7742310">
                  <a:moveTo>
                    <a:pt x="0" y="0"/>
                  </a:moveTo>
                  <a:lnTo>
                    <a:pt x="7742310" y="0"/>
                  </a:lnTo>
                  <a:lnTo>
                    <a:pt x="7742310" y="406400"/>
                  </a:lnTo>
                  <a:lnTo>
                    <a:pt x="0" y="406400"/>
                  </a:lnTo>
                  <a:close/>
                </a:path>
              </a:pathLst>
            </a:custGeom>
            <a:solidFill>
              <a:srgbClr val="F8DCBF"/>
            </a:solidFill>
          </p:spPr>
        </p:sp>
        <p:sp>
          <p:nvSpPr>
            <p:cNvPr name="TextBox 14" id="14"/>
            <p:cNvSpPr txBox="true"/>
            <p:nvPr/>
          </p:nvSpPr>
          <p:spPr>
            <a:xfrm>
              <a:off x="0" y="-38100"/>
              <a:ext cx="7742310" cy="444500"/>
            </a:xfrm>
            <a:prstGeom prst="rect">
              <a:avLst/>
            </a:prstGeom>
          </p:spPr>
          <p:txBody>
            <a:bodyPr anchor="ctr" rtlCol="false" tIns="41176" lIns="41176" bIns="41176" rIns="41176"/>
            <a:lstStyle/>
            <a:p>
              <a:pPr algn="ctr">
                <a:lnSpc>
                  <a:spcPts val="2659"/>
                </a:lnSpc>
              </a:pPr>
            </a:p>
          </p:txBody>
        </p:sp>
      </p:grpSp>
      <p:sp>
        <p:nvSpPr>
          <p:cNvPr name="TextBox 15" id="15"/>
          <p:cNvSpPr txBox="true"/>
          <p:nvPr/>
        </p:nvSpPr>
        <p:spPr>
          <a:xfrm rot="0">
            <a:off x="8789243" y="596850"/>
            <a:ext cx="5562994" cy="870244"/>
          </a:xfrm>
          <a:prstGeom prst="rect">
            <a:avLst/>
          </a:prstGeom>
        </p:spPr>
        <p:txBody>
          <a:bodyPr anchor="t" rtlCol="false" tIns="0" lIns="0" bIns="0" rIns="0">
            <a:spAutoFit/>
          </a:bodyPr>
          <a:lstStyle/>
          <a:p>
            <a:pPr algn="ctr">
              <a:lnSpc>
                <a:spcPts val="3483"/>
              </a:lnSpc>
              <a:spcBef>
                <a:spcPct val="0"/>
              </a:spcBef>
            </a:pPr>
            <a:r>
              <a:rPr lang="en-US" sz="2488">
                <a:solidFill>
                  <a:srgbClr val="DC8651"/>
                </a:solidFill>
                <a:latin typeface="Archivo Black"/>
                <a:ea typeface="Archivo Black"/>
                <a:cs typeface="Archivo Black"/>
                <a:sym typeface="Archivo Black"/>
              </a:rPr>
              <a:t>SIRVE PARA  LA ORGANIZACIÓN DE CARPETAS</a:t>
            </a:r>
          </a:p>
        </p:txBody>
      </p:sp>
      <p:grpSp>
        <p:nvGrpSpPr>
          <p:cNvPr name="Group 16" id="16"/>
          <p:cNvGrpSpPr/>
          <p:nvPr/>
        </p:nvGrpSpPr>
        <p:grpSpPr>
          <a:xfrm rot="0">
            <a:off x="297115" y="353501"/>
            <a:ext cx="5136075" cy="1382905"/>
            <a:chOff x="0" y="0"/>
            <a:chExt cx="2500060" cy="673149"/>
          </a:xfrm>
        </p:grpSpPr>
        <p:sp>
          <p:nvSpPr>
            <p:cNvPr name="Freeform 17" id="17"/>
            <p:cNvSpPr/>
            <p:nvPr/>
          </p:nvSpPr>
          <p:spPr>
            <a:xfrm flipH="false" flipV="false" rot="0">
              <a:off x="0" y="0"/>
              <a:ext cx="2500060" cy="673149"/>
            </a:xfrm>
            <a:custGeom>
              <a:avLst/>
              <a:gdLst/>
              <a:ahLst/>
              <a:cxnLst/>
              <a:rect r="r" b="b" t="t" l="l"/>
              <a:pathLst>
                <a:path h="673149" w="2500060">
                  <a:moveTo>
                    <a:pt x="2420642" y="0"/>
                  </a:moveTo>
                  <a:lnTo>
                    <a:pt x="79418" y="0"/>
                  </a:lnTo>
                  <a:cubicBezTo>
                    <a:pt x="79418" y="43699"/>
                    <a:pt x="44079" y="79418"/>
                    <a:pt x="0" y="79418"/>
                  </a:cubicBezTo>
                  <a:lnTo>
                    <a:pt x="0" y="593731"/>
                  </a:lnTo>
                  <a:cubicBezTo>
                    <a:pt x="43699" y="593731"/>
                    <a:pt x="79418" y="629070"/>
                    <a:pt x="79418" y="673149"/>
                  </a:cubicBezTo>
                  <a:lnTo>
                    <a:pt x="2420642" y="673149"/>
                  </a:lnTo>
                  <a:cubicBezTo>
                    <a:pt x="2420642" y="629450"/>
                    <a:pt x="2455981" y="593731"/>
                    <a:pt x="2500060" y="593731"/>
                  </a:cubicBezTo>
                  <a:lnTo>
                    <a:pt x="2500060" y="79418"/>
                  </a:lnTo>
                  <a:cubicBezTo>
                    <a:pt x="2456361" y="79418"/>
                    <a:pt x="2420642" y="44079"/>
                    <a:pt x="2420642" y="0"/>
                  </a:cubicBezTo>
                  <a:close/>
                </a:path>
              </a:pathLst>
            </a:custGeom>
            <a:solidFill>
              <a:srgbClr val="DC8651"/>
            </a:solidFill>
            <a:ln w="323850" cap="sq">
              <a:solidFill>
                <a:srgbClr val="F1A372"/>
              </a:solidFill>
              <a:prstDash val="solid"/>
              <a:miter/>
            </a:ln>
          </p:spPr>
        </p:sp>
        <p:sp>
          <p:nvSpPr>
            <p:cNvPr name="TextBox 18" id="18"/>
            <p:cNvSpPr txBox="true"/>
            <p:nvPr/>
          </p:nvSpPr>
          <p:spPr>
            <a:xfrm>
              <a:off x="38100" y="0"/>
              <a:ext cx="2423860" cy="635049"/>
            </a:xfrm>
            <a:prstGeom prst="rect">
              <a:avLst/>
            </a:prstGeom>
          </p:spPr>
          <p:txBody>
            <a:bodyPr anchor="ctr" rtlCol="false" tIns="41176" lIns="41176" bIns="41176" rIns="41176"/>
            <a:lstStyle/>
            <a:p>
              <a:pPr algn="ctr">
                <a:lnSpc>
                  <a:spcPts val="2659"/>
                </a:lnSpc>
              </a:pPr>
            </a:p>
          </p:txBody>
        </p:sp>
      </p:grpSp>
      <p:sp>
        <p:nvSpPr>
          <p:cNvPr name="TextBox 19" id="19"/>
          <p:cNvSpPr txBox="true"/>
          <p:nvPr/>
        </p:nvSpPr>
        <p:spPr>
          <a:xfrm rot="0">
            <a:off x="686039" y="694594"/>
            <a:ext cx="4358228"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Árbol General </a:t>
            </a:r>
          </a:p>
        </p:txBody>
      </p:sp>
      <p:grpSp>
        <p:nvGrpSpPr>
          <p:cNvPr name="Group 20" id="20"/>
          <p:cNvGrpSpPr/>
          <p:nvPr/>
        </p:nvGrpSpPr>
        <p:grpSpPr>
          <a:xfrm rot="0">
            <a:off x="4255648" y="1988514"/>
            <a:ext cx="6637249" cy="2295109"/>
            <a:chOff x="0" y="0"/>
            <a:chExt cx="641280" cy="221750"/>
          </a:xfrm>
        </p:grpSpPr>
        <p:sp>
          <p:nvSpPr>
            <p:cNvPr name="Freeform 21" id="21"/>
            <p:cNvSpPr/>
            <p:nvPr/>
          </p:nvSpPr>
          <p:spPr>
            <a:xfrm flipH="false" flipV="false" rot="0">
              <a:off x="0" y="0"/>
              <a:ext cx="641280" cy="221750"/>
            </a:xfrm>
            <a:custGeom>
              <a:avLst/>
              <a:gdLst/>
              <a:ahLst/>
              <a:cxnLst/>
              <a:rect r="r" b="b" t="t" l="l"/>
              <a:pathLst>
                <a:path h="221750" w="641280">
                  <a:moveTo>
                    <a:pt x="22782" y="0"/>
                  </a:moveTo>
                  <a:lnTo>
                    <a:pt x="618498" y="0"/>
                  </a:lnTo>
                  <a:cubicBezTo>
                    <a:pt x="631080" y="0"/>
                    <a:pt x="641280" y="10200"/>
                    <a:pt x="641280" y="22782"/>
                  </a:cubicBezTo>
                  <a:lnTo>
                    <a:pt x="641280" y="198968"/>
                  </a:lnTo>
                  <a:cubicBezTo>
                    <a:pt x="641280" y="205010"/>
                    <a:pt x="638880" y="210804"/>
                    <a:pt x="634607" y="215077"/>
                  </a:cubicBezTo>
                  <a:cubicBezTo>
                    <a:pt x="630335" y="219349"/>
                    <a:pt x="624540" y="221750"/>
                    <a:pt x="618498" y="221750"/>
                  </a:cubicBezTo>
                  <a:lnTo>
                    <a:pt x="22782" y="221750"/>
                  </a:lnTo>
                  <a:cubicBezTo>
                    <a:pt x="16740" y="221750"/>
                    <a:pt x="10945" y="219349"/>
                    <a:pt x="6673" y="215077"/>
                  </a:cubicBezTo>
                  <a:cubicBezTo>
                    <a:pt x="2400" y="210804"/>
                    <a:pt x="0" y="205010"/>
                    <a:pt x="0" y="198968"/>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22" id="22"/>
            <p:cNvSpPr txBox="true"/>
            <p:nvPr/>
          </p:nvSpPr>
          <p:spPr>
            <a:xfrm>
              <a:off x="0" y="-38100"/>
              <a:ext cx="641280" cy="259850"/>
            </a:xfrm>
            <a:prstGeom prst="rect">
              <a:avLst/>
            </a:prstGeom>
          </p:spPr>
          <p:txBody>
            <a:bodyPr anchor="ctr" rtlCol="false" tIns="41176" lIns="41176" bIns="41176" rIns="41176"/>
            <a:lstStyle/>
            <a:p>
              <a:pPr algn="ctr">
                <a:lnSpc>
                  <a:spcPts val="2659"/>
                </a:lnSpc>
              </a:pPr>
            </a:p>
          </p:txBody>
        </p:sp>
      </p:grpSp>
      <p:sp>
        <p:nvSpPr>
          <p:cNvPr name="Freeform 23" id="23"/>
          <p:cNvSpPr/>
          <p:nvPr/>
        </p:nvSpPr>
        <p:spPr>
          <a:xfrm flipH="false" flipV="false" rot="0">
            <a:off x="10110564" y="6415605"/>
            <a:ext cx="7845335" cy="3645773"/>
          </a:xfrm>
          <a:custGeom>
            <a:avLst/>
            <a:gdLst/>
            <a:ahLst/>
            <a:cxnLst/>
            <a:rect r="r" b="b" t="t" l="l"/>
            <a:pathLst>
              <a:path h="3645773" w="7845335">
                <a:moveTo>
                  <a:pt x="0" y="0"/>
                </a:moveTo>
                <a:lnTo>
                  <a:pt x="7845335" y="0"/>
                </a:lnTo>
                <a:lnTo>
                  <a:pt x="7845335" y="3645773"/>
                </a:lnTo>
                <a:lnTo>
                  <a:pt x="0" y="3645773"/>
                </a:lnTo>
                <a:lnTo>
                  <a:pt x="0" y="0"/>
                </a:lnTo>
                <a:close/>
              </a:path>
            </a:pathLst>
          </a:custGeom>
          <a:blipFill>
            <a:blip r:embed="rId2"/>
            <a:stretch>
              <a:fillRect l="0" t="0" r="0" b="0"/>
            </a:stretch>
          </a:blipFill>
        </p:spPr>
      </p:sp>
      <p:sp>
        <p:nvSpPr>
          <p:cNvPr name="Freeform 24" id="24"/>
          <p:cNvSpPr/>
          <p:nvPr/>
        </p:nvSpPr>
        <p:spPr>
          <a:xfrm flipH="false" flipV="false" rot="0">
            <a:off x="11273896" y="1674752"/>
            <a:ext cx="6825066" cy="4261584"/>
          </a:xfrm>
          <a:custGeom>
            <a:avLst/>
            <a:gdLst/>
            <a:ahLst/>
            <a:cxnLst/>
            <a:rect r="r" b="b" t="t" l="l"/>
            <a:pathLst>
              <a:path h="4261584" w="6825066">
                <a:moveTo>
                  <a:pt x="0" y="0"/>
                </a:moveTo>
                <a:lnTo>
                  <a:pt x="6825067" y="0"/>
                </a:lnTo>
                <a:lnTo>
                  <a:pt x="6825067" y="4261585"/>
                </a:lnTo>
                <a:lnTo>
                  <a:pt x="0" y="4261585"/>
                </a:lnTo>
                <a:lnTo>
                  <a:pt x="0" y="0"/>
                </a:lnTo>
                <a:close/>
              </a:path>
            </a:pathLst>
          </a:custGeom>
          <a:blipFill>
            <a:blip r:embed="rId3"/>
            <a:stretch>
              <a:fillRect l="0" t="0" r="0" b="0"/>
            </a:stretch>
          </a:blipFill>
        </p:spPr>
      </p:sp>
      <p:sp>
        <p:nvSpPr>
          <p:cNvPr name="Freeform 25" id="25"/>
          <p:cNvSpPr/>
          <p:nvPr/>
        </p:nvSpPr>
        <p:spPr>
          <a:xfrm flipH="false" flipV="false" rot="0">
            <a:off x="297115" y="6291780"/>
            <a:ext cx="9113318" cy="3806625"/>
          </a:xfrm>
          <a:custGeom>
            <a:avLst/>
            <a:gdLst/>
            <a:ahLst/>
            <a:cxnLst/>
            <a:rect r="r" b="b" t="t" l="l"/>
            <a:pathLst>
              <a:path h="3806625" w="9113318">
                <a:moveTo>
                  <a:pt x="0" y="0"/>
                </a:moveTo>
                <a:lnTo>
                  <a:pt x="9113318" y="0"/>
                </a:lnTo>
                <a:lnTo>
                  <a:pt x="9113318" y="3806625"/>
                </a:lnTo>
                <a:lnTo>
                  <a:pt x="0" y="3806625"/>
                </a:lnTo>
                <a:lnTo>
                  <a:pt x="0" y="0"/>
                </a:lnTo>
                <a:close/>
              </a:path>
            </a:pathLst>
          </a:custGeom>
          <a:blipFill>
            <a:blip r:embed="rId4"/>
            <a:stretch>
              <a:fillRect l="0" t="0" r="0" b="0"/>
            </a:stretch>
          </a:blipFill>
        </p:spPr>
      </p:sp>
      <p:sp>
        <p:nvSpPr>
          <p:cNvPr name="TextBox 26" id="26"/>
          <p:cNvSpPr txBox="true"/>
          <p:nvPr/>
        </p:nvSpPr>
        <p:spPr>
          <a:xfrm rot="0">
            <a:off x="4431052" y="2064382"/>
            <a:ext cx="6461844" cy="2005951"/>
          </a:xfrm>
          <a:prstGeom prst="rect">
            <a:avLst/>
          </a:prstGeom>
        </p:spPr>
        <p:txBody>
          <a:bodyPr anchor="t" rtlCol="false" tIns="0" lIns="0" bIns="0" rIns="0">
            <a:spAutoFit/>
          </a:bodyPr>
          <a:lstStyle/>
          <a:p>
            <a:pPr algn="just">
              <a:lnSpc>
                <a:spcPts val="2310"/>
              </a:lnSpc>
            </a:pPr>
            <a:r>
              <a:rPr lang="en-US" sz="1650">
                <a:solidFill>
                  <a:srgbClr val="FFFFFF"/>
                </a:solidFill>
                <a:latin typeface="Archivo Black"/>
                <a:ea typeface="Archivo Black"/>
                <a:cs typeface="Archivo Black"/>
                <a:sym typeface="Archivo Black"/>
              </a:rPr>
              <a:t>Sirve para:</a:t>
            </a:r>
          </a:p>
          <a:p>
            <a:pPr algn="just">
              <a:lnSpc>
                <a:spcPts val="2310"/>
              </a:lnSpc>
            </a:pPr>
            <a:r>
              <a:rPr lang="en-US" sz="1650">
                <a:solidFill>
                  <a:srgbClr val="FFFFFF"/>
                </a:solidFill>
                <a:latin typeface="Archivo Black"/>
                <a:ea typeface="Archivo Black"/>
                <a:cs typeface="Archivo Black"/>
                <a:sym typeface="Archivo Black"/>
              </a:rPr>
              <a:t>Representar la estructura de carpetas del usuario:</a:t>
            </a:r>
          </a:p>
          <a:p>
            <a:pPr algn="just">
              <a:lnSpc>
                <a:spcPts val="2310"/>
              </a:lnSpc>
            </a:pPr>
            <a:r>
              <a:rPr lang="en-US" sz="1650">
                <a:solidFill>
                  <a:srgbClr val="FFFFFF"/>
                </a:solidFill>
                <a:latin typeface="Archivo Black"/>
                <a:ea typeface="Archivo Black"/>
                <a:cs typeface="Archivo Black"/>
                <a:sym typeface="Archivo Black"/>
              </a:rPr>
              <a:t>- “Root”</a:t>
            </a:r>
          </a:p>
          <a:p>
            <a:pPr algn="just">
              <a:lnSpc>
                <a:spcPts val="2310"/>
              </a:lnSpc>
            </a:pPr>
            <a:r>
              <a:rPr lang="en-US" sz="1650">
                <a:solidFill>
                  <a:srgbClr val="FFFFFF"/>
                </a:solidFill>
                <a:latin typeface="Archivo Black"/>
                <a:ea typeface="Archivo Black"/>
                <a:cs typeface="Archivo Black"/>
                <a:sym typeface="Archivo Black"/>
              </a:rPr>
              <a:t>- “Bandeja de Entrada”</a:t>
            </a:r>
          </a:p>
          <a:p>
            <a:pPr algn="just">
              <a:lnSpc>
                <a:spcPts val="2310"/>
              </a:lnSpc>
            </a:pPr>
            <a:r>
              <a:rPr lang="en-US" sz="1650">
                <a:solidFill>
                  <a:srgbClr val="FFFFFF"/>
                </a:solidFill>
                <a:latin typeface="Archivo Black"/>
                <a:ea typeface="Archivo Black"/>
                <a:cs typeface="Archivo Black"/>
                <a:sym typeface="Archivo Black"/>
              </a:rPr>
              <a:t>- “Enviados”</a:t>
            </a:r>
          </a:p>
          <a:p>
            <a:pPr algn="just">
              <a:lnSpc>
                <a:spcPts val="2310"/>
              </a:lnSpc>
            </a:pPr>
            <a:r>
              <a:rPr lang="en-US" sz="1650">
                <a:solidFill>
                  <a:srgbClr val="FFFFFF"/>
                </a:solidFill>
                <a:latin typeface="Archivo Black"/>
                <a:ea typeface="Archivo Black"/>
                <a:cs typeface="Archivo Black"/>
                <a:sym typeface="Archivo Black"/>
              </a:rPr>
              <a:t>- Cualquier carpeta que el usuario vaya creando</a:t>
            </a:r>
          </a:p>
          <a:p>
            <a:pPr algn="just">
              <a:lnSpc>
                <a:spcPts val="2310"/>
              </a:lnSpc>
              <a:spcBef>
                <a:spcPct val="0"/>
              </a:spcBef>
            </a:pPr>
            <a:r>
              <a:rPr lang="en-US" sz="1650">
                <a:solidFill>
                  <a:srgbClr val="FFFFFF"/>
                </a:solidFill>
                <a:latin typeface="Archivo Black"/>
                <a:ea typeface="Archivo Black"/>
                <a:cs typeface="Archivo Black"/>
                <a:sym typeface="Archivo Black"/>
              </a:rPr>
              <a:t>- Y dentro puede haber más subcarpetas</a:t>
            </a:r>
          </a:p>
        </p:txBody>
      </p:sp>
      <p:grpSp>
        <p:nvGrpSpPr>
          <p:cNvPr name="Group 27" id="27"/>
          <p:cNvGrpSpPr/>
          <p:nvPr/>
        </p:nvGrpSpPr>
        <p:grpSpPr>
          <a:xfrm rot="0">
            <a:off x="4255648" y="4369347"/>
            <a:ext cx="6637249" cy="1836707"/>
            <a:chOff x="0" y="0"/>
            <a:chExt cx="1183350" cy="327465"/>
          </a:xfrm>
        </p:grpSpPr>
        <p:sp>
          <p:nvSpPr>
            <p:cNvPr name="Freeform 28" id="28"/>
            <p:cNvSpPr/>
            <p:nvPr/>
          </p:nvSpPr>
          <p:spPr>
            <a:xfrm flipH="false" flipV="false" rot="0">
              <a:off x="0" y="0"/>
              <a:ext cx="1183350" cy="327465"/>
            </a:xfrm>
            <a:custGeom>
              <a:avLst/>
              <a:gdLst/>
              <a:ahLst/>
              <a:cxnLst/>
              <a:rect r="r" b="b" t="t" l="l"/>
              <a:pathLst>
                <a:path h="327465" w="1183350">
                  <a:moveTo>
                    <a:pt x="22782" y="0"/>
                  </a:moveTo>
                  <a:lnTo>
                    <a:pt x="1160568" y="0"/>
                  </a:lnTo>
                  <a:cubicBezTo>
                    <a:pt x="1166610" y="0"/>
                    <a:pt x="1172405" y="2400"/>
                    <a:pt x="1176677" y="6673"/>
                  </a:cubicBezTo>
                  <a:cubicBezTo>
                    <a:pt x="1180950" y="10945"/>
                    <a:pt x="1183350" y="16740"/>
                    <a:pt x="1183350" y="22782"/>
                  </a:cubicBezTo>
                  <a:lnTo>
                    <a:pt x="1183350" y="304683"/>
                  </a:lnTo>
                  <a:cubicBezTo>
                    <a:pt x="1183350" y="317265"/>
                    <a:pt x="1173150" y="327465"/>
                    <a:pt x="1160568" y="327465"/>
                  </a:cubicBezTo>
                  <a:lnTo>
                    <a:pt x="22782" y="327465"/>
                  </a:lnTo>
                  <a:cubicBezTo>
                    <a:pt x="16740" y="327465"/>
                    <a:pt x="10945" y="325065"/>
                    <a:pt x="6673" y="320792"/>
                  </a:cubicBezTo>
                  <a:cubicBezTo>
                    <a:pt x="2400" y="316520"/>
                    <a:pt x="0" y="310725"/>
                    <a:pt x="0" y="304683"/>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29" id="29"/>
            <p:cNvSpPr txBox="true"/>
            <p:nvPr/>
          </p:nvSpPr>
          <p:spPr>
            <a:xfrm>
              <a:off x="0" y="-38100"/>
              <a:ext cx="1183350" cy="365565"/>
            </a:xfrm>
            <a:prstGeom prst="rect">
              <a:avLst/>
            </a:prstGeom>
          </p:spPr>
          <p:txBody>
            <a:bodyPr anchor="ctr" rtlCol="false" tIns="41176" lIns="41176" bIns="41176" rIns="41176"/>
            <a:lstStyle/>
            <a:p>
              <a:pPr algn="ctr">
                <a:lnSpc>
                  <a:spcPts val="2659"/>
                </a:lnSpc>
              </a:pPr>
            </a:p>
          </p:txBody>
        </p:sp>
      </p:grpSp>
      <p:sp>
        <p:nvSpPr>
          <p:cNvPr name="TextBox 30" id="30"/>
          <p:cNvSpPr txBox="true"/>
          <p:nvPr/>
        </p:nvSpPr>
        <p:spPr>
          <a:xfrm rot="0">
            <a:off x="4414787" y="4607472"/>
            <a:ext cx="6461844" cy="1434451"/>
          </a:xfrm>
          <a:prstGeom prst="rect">
            <a:avLst/>
          </a:prstGeom>
        </p:spPr>
        <p:txBody>
          <a:bodyPr anchor="t" rtlCol="false" tIns="0" lIns="0" bIns="0" rIns="0">
            <a:spAutoFit/>
          </a:bodyPr>
          <a:lstStyle/>
          <a:p>
            <a:pPr algn="just">
              <a:lnSpc>
                <a:spcPts val="2310"/>
              </a:lnSpc>
            </a:pPr>
            <a:r>
              <a:rPr lang="en-US" sz="1650">
                <a:solidFill>
                  <a:srgbClr val="FFFFFF"/>
                </a:solidFill>
                <a:latin typeface="Archivo Black"/>
                <a:ea typeface="Archivo Black"/>
                <a:cs typeface="Archivo Black"/>
                <a:sym typeface="Archivo Black"/>
              </a:rPr>
              <a:t>Se eligió porque:</a:t>
            </a:r>
          </a:p>
          <a:p>
            <a:pPr algn="just">
              <a:lnSpc>
                <a:spcPts val="2310"/>
              </a:lnSpc>
            </a:pPr>
            <a:r>
              <a:rPr lang="en-US" sz="1650">
                <a:solidFill>
                  <a:srgbClr val="FFFFFF"/>
                </a:solidFill>
                <a:latin typeface="Archivo Black"/>
                <a:ea typeface="Archivo Black"/>
                <a:cs typeface="Archivo Black"/>
                <a:sym typeface="Archivo Black"/>
              </a:rPr>
              <a:t>- Permite recorrer todo de forma ordenada</a:t>
            </a:r>
          </a:p>
          <a:p>
            <a:pPr algn="just">
              <a:lnSpc>
                <a:spcPts val="2310"/>
              </a:lnSpc>
            </a:pPr>
            <a:r>
              <a:rPr lang="en-US" sz="1650">
                <a:solidFill>
                  <a:srgbClr val="FFFFFF"/>
                </a:solidFill>
                <a:latin typeface="Archivo Black"/>
                <a:ea typeface="Archivo Black"/>
                <a:cs typeface="Archivo Black"/>
                <a:sym typeface="Archivo Black"/>
              </a:rPr>
              <a:t>- Permite hacer búsquedas recursivas</a:t>
            </a:r>
          </a:p>
          <a:p>
            <a:pPr algn="just">
              <a:lnSpc>
                <a:spcPts val="2310"/>
              </a:lnSpc>
            </a:pPr>
            <a:r>
              <a:rPr lang="en-US" sz="1650">
                <a:solidFill>
                  <a:srgbClr val="FFFFFF"/>
                </a:solidFill>
                <a:latin typeface="Archivo Black"/>
                <a:ea typeface="Archivo Black"/>
                <a:cs typeface="Archivo Black"/>
                <a:sym typeface="Archivo Black"/>
              </a:rPr>
              <a:t>- No pierde formato si el ususario crea nuevas carpetas</a:t>
            </a:r>
          </a:p>
          <a:p>
            <a:pPr algn="just">
              <a:lnSpc>
                <a:spcPts val="2310"/>
              </a:lnSpc>
              <a:spcBef>
                <a:spcPct val="0"/>
              </a:spcBef>
            </a:pPr>
            <a:r>
              <a:rPr lang="en-US" sz="1650">
                <a:solidFill>
                  <a:srgbClr val="FFFFFF"/>
                </a:solidFill>
                <a:latin typeface="Archivo Black"/>
                <a:ea typeface="Archivo Black"/>
                <a:cs typeface="Archivo Black"/>
                <a:sym typeface="Archivo Black"/>
              </a:rPr>
              <a:t>- Formato similar al sistema de correo real</a:t>
            </a:r>
          </a:p>
        </p:txBody>
      </p:sp>
      <p:sp>
        <p:nvSpPr>
          <p:cNvPr name="TextBox 31" id="31"/>
          <p:cNvSpPr txBox="true"/>
          <p:nvPr/>
        </p:nvSpPr>
        <p:spPr>
          <a:xfrm rot="0">
            <a:off x="12081269" y="1021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5400000">
            <a:off x="4803352" y="571500"/>
            <a:ext cx="17825295" cy="9144000"/>
            <a:chOff x="0" y="0"/>
            <a:chExt cx="608671" cy="312235"/>
          </a:xfrm>
        </p:grpSpPr>
        <p:sp>
          <p:nvSpPr>
            <p:cNvPr name="Freeform 3" id="3"/>
            <p:cNvSpPr/>
            <p:nvPr/>
          </p:nvSpPr>
          <p:spPr>
            <a:xfrm flipH="false" flipV="false" rot="0">
              <a:off x="0" y="0"/>
              <a:ext cx="608671" cy="312235"/>
            </a:xfrm>
            <a:custGeom>
              <a:avLst/>
              <a:gdLst/>
              <a:ahLst/>
              <a:cxnLst/>
              <a:rect r="r" b="b" t="t" l="l"/>
              <a:pathLst>
                <a:path h="312235" w="608671">
                  <a:moveTo>
                    <a:pt x="608671" y="312235"/>
                  </a:moveTo>
                  <a:cubicBezTo>
                    <a:pt x="608671" y="142165"/>
                    <a:pt x="470103" y="0"/>
                    <a:pt x="304335" y="0"/>
                  </a:cubicBezTo>
                  <a:cubicBezTo>
                    <a:pt x="138568" y="0"/>
                    <a:pt x="0" y="142165"/>
                    <a:pt x="0" y="312235"/>
                  </a:cubicBezTo>
                  <a:lnTo>
                    <a:pt x="608671" y="312235"/>
                  </a:lnTo>
                  <a:close/>
                </a:path>
              </a:pathLst>
            </a:custGeom>
            <a:solidFill>
              <a:srgbClr val="F1A372"/>
            </a:solidFill>
            <a:ln w="38100" cap="sq">
              <a:solidFill>
                <a:srgbClr val="FFFFFF"/>
              </a:solidFill>
              <a:prstDash val="solid"/>
              <a:miter/>
            </a:ln>
          </p:spPr>
        </p:sp>
        <p:sp>
          <p:nvSpPr>
            <p:cNvPr name="TextBox 4" id="4"/>
            <p:cNvSpPr txBox="true"/>
            <p:nvPr/>
          </p:nvSpPr>
          <p:spPr>
            <a:xfrm>
              <a:off x="143217" y="9936"/>
              <a:ext cx="322237" cy="30229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564977"/>
            <a:ext cx="18288000" cy="959952"/>
            <a:chOff x="0" y="0"/>
            <a:chExt cx="7742310" cy="406400"/>
          </a:xfrm>
        </p:grpSpPr>
        <p:sp>
          <p:nvSpPr>
            <p:cNvPr name="Freeform 6" id="6"/>
            <p:cNvSpPr/>
            <p:nvPr/>
          </p:nvSpPr>
          <p:spPr>
            <a:xfrm flipH="false" flipV="false" rot="0">
              <a:off x="0" y="0"/>
              <a:ext cx="7742310" cy="406400"/>
            </a:xfrm>
            <a:custGeom>
              <a:avLst/>
              <a:gdLst/>
              <a:ahLst/>
              <a:cxnLst/>
              <a:rect r="r" b="b" t="t" l="l"/>
              <a:pathLst>
                <a:path h="406400" w="7742310">
                  <a:moveTo>
                    <a:pt x="0" y="0"/>
                  </a:moveTo>
                  <a:lnTo>
                    <a:pt x="7742310" y="0"/>
                  </a:lnTo>
                  <a:lnTo>
                    <a:pt x="7742310" y="406400"/>
                  </a:lnTo>
                  <a:lnTo>
                    <a:pt x="0" y="406400"/>
                  </a:lnTo>
                  <a:close/>
                </a:path>
              </a:pathLst>
            </a:custGeom>
            <a:solidFill>
              <a:srgbClr val="F8DCBF"/>
            </a:solidFill>
          </p:spPr>
        </p:sp>
        <p:sp>
          <p:nvSpPr>
            <p:cNvPr name="TextBox 7" id="7"/>
            <p:cNvSpPr txBox="true"/>
            <p:nvPr/>
          </p:nvSpPr>
          <p:spPr>
            <a:xfrm>
              <a:off x="0" y="-38100"/>
              <a:ext cx="7742310" cy="444500"/>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297115" y="353501"/>
            <a:ext cx="5136075" cy="1382905"/>
            <a:chOff x="0" y="0"/>
            <a:chExt cx="2500060" cy="673149"/>
          </a:xfrm>
        </p:grpSpPr>
        <p:sp>
          <p:nvSpPr>
            <p:cNvPr name="Freeform 9" id="9"/>
            <p:cNvSpPr/>
            <p:nvPr/>
          </p:nvSpPr>
          <p:spPr>
            <a:xfrm flipH="false" flipV="false" rot="0">
              <a:off x="0" y="0"/>
              <a:ext cx="2500060" cy="673149"/>
            </a:xfrm>
            <a:custGeom>
              <a:avLst/>
              <a:gdLst/>
              <a:ahLst/>
              <a:cxnLst/>
              <a:rect r="r" b="b" t="t" l="l"/>
              <a:pathLst>
                <a:path h="673149" w="2500060">
                  <a:moveTo>
                    <a:pt x="2420642" y="0"/>
                  </a:moveTo>
                  <a:lnTo>
                    <a:pt x="79418" y="0"/>
                  </a:lnTo>
                  <a:cubicBezTo>
                    <a:pt x="79418" y="43699"/>
                    <a:pt x="44079" y="79418"/>
                    <a:pt x="0" y="79418"/>
                  </a:cubicBezTo>
                  <a:lnTo>
                    <a:pt x="0" y="593731"/>
                  </a:lnTo>
                  <a:cubicBezTo>
                    <a:pt x="43699" y="593731"/>
                    <a:pt x="79418" y="629070"/>
                    <a:pt x="79418" y="673149"/>
                  </a:cubicBezTo>
                  <a:lnTo>
                    <a:pt x="2420642" y="673149"/>
                  </a:lnTo>
                  <a:cubicBezTo>
                    <a:pt x="2420642" y="629450"/>
                    <a:pt x="2455981" y="593731"/>
                    <a:pt x="2500060" y="593731"/>
                  </a:cubicBezTo>
                  <a:lnTo>
                    <a:pt x="2500060" y="79418"/>
                  </a:lnTo>
                  <a:cubicBezTo>
                    <a:pt x="2456361" y="79418"/>
                    <a:pt x="2420642" y="44079"/>
                    <a:pt x="2420642" y="0"/>
                  </a:cubicBezTo>
                  <a:close/>
                </a:path>
              </a:pathLst>
            </a:custGeom>
            <a:solidFill>
              <a:srgbClr val="DC8651"/>
            </a:solidFill>
            <a:ln w="323850" cap="sq">
              <a:solidFill>
                <a:srgbClr val="F1A372"/>
              </a:solidFill>
              <a:prstDash val="solid"/>
              <a:miter/>
            </a:ln>
          </p:spPr>
        </p:sp>
        <p:sp>
          <p:nvSpPr>
            <p:cNvPr name="TextBox 10" id="10"/>
            <p:cNvSpPr txBox="true"/>
            <p:nvPr/>
          </p:nvSpPr>
          <p:spPr>
            <a:xfrm>
              <a:off x="38100" y="0"/>
              <a:ext cx="2423860" cy="635049"/>
            </a:xfrm>
            <a:prstGeom prst="rect">
              <a:avLst/>
            </a:prstGeom>
          </p:spPr>
          <p:txBody>
            <a:bodyPr anchor="ctr" rtlCol="false" tIns="41176" lIns="41176" bIns="41176" rIns="41176"/>
            <a:lstStyle/>
            <a:p>
              <a:pPr algn="ctr">
                <a:lnSpc>
                  <a:spcPts val="2659"/>
                </a:lnSpc>
              </a:pPr>
            </a:p>
          </p:txBody>
        </p:sp>
      </p:grpSp>
      <p:grpSp>
        <p:nvGrpSpPr>
          <p:cNvPr name="Group 11" id="11"/>
          <p:cNvGrpSpPr/>
          <p:nvPr/>
        </p:nvGrpSpPr>
        <p:grpSpPr>
          <a:xfrm rot="0">
            <a:off x="-89624" y="5037462"/>
            <a:ext cx="5737695" cy="5249538"/>
            <a:chOff x="0" y="0"/>
            <a:chExt cx="1109760" cy="1015343"/>
          </a:xfrm>
        </p:grpSpPr>
        <p:sp>
          <p:nvSpPr>
            <p:cNvPr name="Freeform 12" id="12"/>
            <p:cNvSpPr/>
            <p:nvPr/>
          </p:nvSpPr>
          <p:spPr>
            <a:xfrm flipH="false" flipV="false" rot="0">
              <a:off x="0" y="0"/>
              <a:ext cx="1109760" cy="1015343"/>
            </a:xfrm>
            <a:custGeom>
              <a:avLst/>
              <a:gdLst/>
              <a:ahLst/>
              <a:cxnLst/>
              <a:rect r="r" b="b" t="t" l="l"/>
              <a:pathLst>
                <a:path h="1015343" w="1109760">
                  <a:moveTo>
                    <a:pt x="1109760" y="1015343"/>
                  </a:moveTo>
                  <a:lnTo>
                    <a:pt x="0" y="1015343"/>
                  </a:lnTo>
                  <a:lnTo>
                    <a:pt x="0" y="0"/>
                  </a:lnTo>
                  <a:lnTo>
                    <a:pt x="1109760" y="1015343"/>
                  </a:lnTo>
                  <a:close/>
                </a:path>
              </a:pathLst>
            </a:custGeom>
            <a:solidFill>
              <a:srgbClr val="DC8651"/>
            </a:solidFill>
            <a:ln w="38100" cap="sq">
              <a:solidFill>
                <a:srgbClr val="FFFFFF"/>
              </a:solidFill>
              <a:prstDash val="solid"/>
              <a:miter/>
            </a:ln>
          </p:spPr>
        </p:sp>
        <p:sp>
          <p:nvSpPr>
            <p:cNvPr name="TextBox 13" id="13"/>
            <p:cNvSpPr txBox="true"/>
            <p:nvPr/>
          </p:nvSpPr>
          <p:spPr>
            <a:xfrm>
              <a:off x="0" y="469571"/>
              <a:ext cx="554880" cy="54361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387764" y="5037462"/>
            <a:ext cx="6637249" cy="2295109"/>
            <a:chOff x="0" y="0"/>
            <a:chExt cx="641280" cy="221750"/>
          </a:xfrm>
        </p:grpSpPr>
        <p:sp>
          <p:nvSpPr>
            <p:cNvPr name="Freeform 15" id="15"/>
            <p:cNvSpPr/>
            <p:nvPr/>
          </p:nvSpPr>
          <p:spPr>
            <a:xfrm flipH="false" flipV="false" rot="0">
              <a:off x="0" y="0"/>
              <a:ext cx="641280" cy="221750"/>
            </a:xfrm>
            <a:custGeom>
              <a:avLst/>
              <a:gdLst/>
              <a:ahLst/>
              <a:cxnLst/>
              <a:rect r="r" b="b" t="t" l="l"/>
              <a:pathLst>
                <a:path h="221750" w="641280">
                  <a:moveTo>
                    <a:pt x="22782" y="0"/>
                  </a:moveTo>
                  <a:lnTo>
                    <a:pt x="618498" y="0"/>
                  </a:lnTo>
                  <a:cubicBezTo>
                    <a:pt x="631080" y="0"/>
                    <a:pt x="641280" y="10200"/>
                    <a:pt x="641280" y="22782"/>
                  </a:cubicBezTo>
                  <a:lnTo>
                    <a:pt x="641280" y="198968"/>
                  </a:lnTo>
                  <a:cubicBezTo>
                    <a:pt x="641280" y="205010"/>
                    <a:pt x="638880" y="210804"/>
                    <a:pt x="634607" y="215077"/>
                  </a:cubicBezTo>
                  <a:cubicBezTo>
                    <a:pt x="630335" y="219349"/>
                    <a:pt x="624540" y="221750"/>
                    <a:pt x="618498" y="221750"/>
                  </a:cubicBezTo>
                  <a:lnTo>
                    <a:pt x="22782" y="221750"/>
                  </a:lnTo>
                  <a:cubicBezTo>
                    <a:pt x="16740" y="221750"/>
                    <a:pt x="10945" y="219349"/>
                    <a:pt x="6673" y="215077"/>
                  </a:cubicBezTo>
                  <a:cubicBezTo>
                    <a:pt x="2400" y="210804"/>
                    <a:pt x="0" y="205010"/>
                    <a:pt x="0" y="198968"/>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16" id="16"/>
            <p:cNvSpPr txBox="true"/>
            <p:nvPr/>
          </p:nvSpPr>
          <p:spPr>
            <a:xfrm>
              <a:off x="0" y="-38100"/>
              <a:ext cx="641280" cy="259850"/>
            </a:xfrm>
            <a:prstGeom prst="rect">
              <a:avLst/>
            </a:prstGeom>
          </p:spPr>
          <p:txBody>
            <a:bodyPr anchor="ctr" rtlCol="false" tIns="41176" lIns="41176" bIns="41176" rIns="41176"/>
            <a:lstStyle/>
            <a:p>
              <a:pPr algn="ctr">
                <a:lnSpc>
                  <a:spcPts val="2659"/>
                </a:lnSpc>
              </a:pPr>
            </a:p>
          </p:txBody>
        </p:sp>
      </p:grpSp>
      <p:grpSp>
        <p:nvGrpSpPr>
          <p:cNvPr name="Group 17" id="17"/>
          <p:cNvGrpSpPr/>
          <p:nvPr/>
        </p:nvGrpSpPr>
        <p:grpSpPr>
          <a:xfrm rot="0">
            <a:off x="137975" y="1988514"/>
            <a:ext cx="4117673" cy="2896410"/>
            <a:chOff x="0" y="0"/>
            <a:chExt cx="390527" cy="274700"/>
          </a:xfrm>
        </p:grpSpPr>
        <p:sp>
          <p:nvSpPr>
            <p:cNvPr name="Freeform 18" id="18"/>
            <p:cNvSpPr/>
            <p:nvPr/>
          </p:nvSpPr>
          <p:spPr>
            <a:xfrm flipH="false" flipV="false" rot="0">
              <a:off x="0" y="0"/>
              <a:ext cx="390527" cy="274700"/>
            </a:xfrm>
            <a:custGeom>
              <a:avLst/>
              <a:gdLst/>
              <a:ahLst/>
              <a:cxnLst/>
              <a:rect r="r" b="b" t="t" l="l"/>
              <a:pathLst>
                <a:path h="274700" w="390527">
                  <a:moveTo>
                    <a:pt x="36722" y="0"/>
                  </a:moveTo>
                  <a:lnTo>
                    <a:pt x="353805" y="0"/>
                  </a:lnTo>
                  <a:cubicBezTo>
                    <a:pt x="363544" y="0"/>
                    <a:pt x="372885" y="3869"/>
                    <a:pt x="379771" y="10756"/>
                  </a:cubicBezTo>
                  <a:cubicBezTo>
                    <a:pt x="386658" y="17642"/>
                    <a:pt x="390527" y="26983"/>
                    <a:pt x="390527" y="36722"/>
                  </a:cubicBezTo>
                  <a:lnTo>
                    <a:pt x="390527" y="237978"/>
                  </a:lnTo>
                  <a:cubicBezTo>
                    <a:pt x="390527" y="258259"/>
                    <a:pt x="374086" y="274700"/>
                    <a:pt x="353805" y="274700"/>
                  </a:cubicBezTo>
                  <a:lnTo>
                    <a:pt x="36722" y="274700"/>
                  </a:lnTo>
                  <a:cubicBezTo>
                    <a:pt x="16441" y="274700"/>
                    <a:pt x="0" y="258259"/>
                    <a:pt x="0" y="237978"/>
                  </a:cubicBezTo>
                  <a:lnTo>
                    <a:pt x="0" y="36722"/>
                  </a:lnTo>
                  <a:cubicBezTo>
                    <a:pt x="0" y="16441"/>
                    <a:pt x="16441" y="0"/>
                    <a:pt x="36722" y="0"/>
                  </a:cubicBezTo>
                  <a:close/>
                </a:path>
              </a:pathLst>
            </a:custGeom>
            <a:solidFill>
              <a:srgbClr val="5BB5DC"/>
            </a:solidFill>
            <a:ln w="133350" cap="rnd">
              <a:solidFill>
                <a:srgbClr val="F8DCBF"/>
              </a:solidFill>
              <a:prstDash val="solid"/>
              <a:round/>
            </a:ln>
          </p:spPr>
        </p:sp>
        <p:sp>
          <p:nvSpPr>
            <p:cNvPr name="TextBox 19" id="19"/>
            <p:cNvSpPr txBox="true"/>
            <p:nvPr/>
          </p:nvSpPr>
          <p:spPr>
            <a:xfrm>
              <a:off x="0" y="-38100"/>
              <a:ext cx="390527" cy="312800"/>
            </a:xfrm>
            <a:prstGeom prst="rect">
              <a:avLst/>
            </a:prstGeom>
          </p:spPr>
          <p:txBody>
            <a:bodyPr anchor="ctr" rtlCol="false" tIns="41176" lIns="41176" bIns="41176" rIns="41176"/>
            <a:lstStyle/>
            <a:p>
              <a:pPr algn="ctr">
                <a:lnSpc>
                  <a:spcPts val="2659"/>
                </a:lnSpc>
              </a:pPr>
            </a:p>
          </p:txBody>
        </p:sp>
      </p:grpSp>
      <p:grpSp>
        <p:nvGrpSpPr>
          <p:cNvPr name="Group 20" id="20"/>
          <p:cNvGrpSpPr/>
          <p:nvPr/>
        </p:nvGrpSpPr>
        <p:grpSpPr>
          <a:xfrm rot="0">
            <a:off x="264235" y="7485109"/>
            <a:ext cx="6637249" cy="2517682"/>
            <a:chOff x="0" y="0"/>
            <a:chExt cx="1183350" cy="448875"/>
          </a:xfrm>
        </p:grpSpPr>
        <p:sp>
          <p:nvSpPr>
            <p:cNvPr name="Freeform 21" id="21"/>
            <p:cNvSpPr/>
            <p:nvPr/>
          </p:nvSpPr>
          <p:spPr>
            <a:xfrm flipH="false" flipV="false" rot="0">
              <a:off x="0" y="0"/>
              <a:ext cx="1183350" cy="448876"/>
            </a:xfrm>
            <a:custGeom>
              <a:avLst/>
              <a:gdLst/>
              <a:ahLst/>
              <a:cxnLst/>
              <a:rect r="r" b="b" t="t" l="l"/>
              <a:pathLst>
                <a:path h="448876" w="1183350">
                  <a:moveTo>
                    <a:pt x="22782" y="0"/>
                  </a:moveTo>
                  <a:lnTo>
                    <a:pt x="1160568" y="0"/>
                  </a:lnTo>
                  <a:cubicBezTo>
                    <a:pt x="1166610" y="0"/>
                    <a:pt x="1172405" y="2400"/>
                    <a:pt x="1176677" y="6673"/>
                  </a:cubicBezTo>
                  <a:cubicBezTo>
                    <a:pt x="1180950" y="10945"/>
                    <a:pt x="1183350" y="16740"/>
                    <a:pt x="1183350" y="22782"/>
                  </a:cubicBezTo>
                  <a:lnTo>
                    <a:pt x="1183350" y="426094"/>
                  </a:lnTo>
                  <a:cubicBezTo>
                    <a:pt x="1183350" y="432136"/>
                    <a:pt x="1180950" y="437930"/>
                    <a:pt x="1176677" y="442203"/>
                  </a:cubicBezTo>
                  <a:cubicBezTo>
                    <a:pt x="1172405" y="446475"/>
                    <a:pt x="1166610" y="448876"/>
                    <a:pt x="1160568" y="448876"/>
                  </a:cubicBezTo>
                  <a:lnTo>
                    <a:pt x="22782" y="448876"/>
                  </a:lnTo>
                  <a:cubicBezTo>
                    <a:pt x="16740" y="448876"/>
                    <a:pt x="10945" y="446475"/>
                    <a:pt x="6673" y="442203"/>
                  </a:cubicBezTo>
                  <a:cubicBezTo>
                    <a:pt x="2400" y="437930"/>
                    <a:pt x="0" y="432136"/>
                    <a:pt x="0" y="426094"/>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22" id="22"/>
            <p:cNvSpPr txBox="true"/>
            <p:nvPr/>
          </p:nvSpPr>
          <p:spPr>
            <a:xfrm>
              <a:off x="0" y="-38100"/>
              <a:ext cx="1183350" cy="486975"/>
            </a:xfrm>
            <a:prstGeom prst="rect">
              <a:avLst/>
            </a:prstGeom>
          </p:spPr>
          <p:txBody>
            <a:bodyPr anchor="ctr" rtlCol="false" tIns="41176" lIns="41176" bIns="41176" rIns="41176"/>
            <a:lstStyle/>
            <a:p>
              <a:pPr algn="ctr">
                <a:lnSpc>
                  <a:spcPts val="2659"/>
                </a:lnSpc>
              </a:pPr>
            </a:p>
          </p:txBody>
        </p:sp>
      </p:grpSp>
      <p:sp>
        <p:nvSpPr>
          <p:cNvPr name="Freeform 23" id="23"/>
          <p:cNvSpPr/>
          <p:nvPr/>
        </p:nvSpPr>
        <p:spPr>
          <a:xfrm flipH="false" flipV="false" rot="0">
            <a:off x="8735868" y="4457439"/>
            <a:ext cx="5950561" cy="3002247"/>
          </a:xfrm>
          <a:custGeom>
            <a:avLst/>
            <a:gdLst/>
            <a:ahLst/>
            <a:cxnLst/>
            <a:rect r="r" b="b" t="t" l="l"/>
            <a:pathLst>
              <a:path h="3002247" w="5950561">
                <a:moveTo>
                  <a:pt x="0" y="0"/>
                </a:moveTo>
                <a:lnTo>
                  <a:pt x="5950562" y="0"/>
                </a:lnTo>
                <a:lnTo>
                  <a:pt x="5950562" y="3002247"/>
                </a:lnTo>
                <a:lnTo>
                  <a:pt x="0" y="3002247"/>
                </a:lnTo>
                <a:lnTo>
                  <a:pt x="0" y="0"/>
                </a:lnTo>
                <a:close/>
              </a:path>
            </a:pathLst>
          </a:custGeom>
          <a:blipFill>
            <a:blip r:embed="rId2"/>
            <a:stretch>
              <a:fillRect l="0" t="0" r="0" b="0"/>
            </a:stretch>
          </a:blipFill>
        </p:spPr>
      </p:sp>
      <p:sp>
        <p:nvSpPr>
          <p:cNvPr name="Freeform 24" id="24"/>
          <p:cNvSpPr/>
          <p:nvPr/>
        </p:nvSpPr>
        <p:spPr>
          <a:xfrm flipH="false" flipV="false" rot="0">
            <a:off x="5648071" y="1776820"/>
            <a:ext cx="11140952" cy="2428728"/>
          </a:xfrm>
          <a:custGeom>
            <a:avLst/>
            <a:gdLst/>
            <a:ahLst/>
            <a:cxnLst/>
            <a:rect r="r" b="b" t="t" l="l"/>
            <a:pathLst>
              <a:path h="2428728" w="11140952">
                <a:moveTo>
                  <a:pt x="0" y="0"/>
                </a:moveTo>
                <a:lnTo>
                  <a:pt x="11140952" y="0"/>
                </a:lnTo>
                <a:lnTo>
                  <a:pt x="11140952" y="2428728"/>
                </a:lnTo>
                <a:lnTo>
                  <a:pt x="0" y="2428728"/>
                </a:lnTo>
                <a:lnTo>
                  <a:pt x="0" y="0"/>
                </a:lnTo>
                <a:close/>
              </a:path>
            </a:pathLst>
          </a:custGeom>
          <a:blipFill>
            <a:blip r:embed="rId3"/>
            <a:stretch>
              <a:fillRect l="0" t="0" r="0" b="0"/>
            </a:stretch>
          </a:blipFill>
        </p:spPr>
      </p:sp>
      <p:sp>
        <p:nvSpPr>
          <p:cNvPr name="Freeform 25" id="25"/>
          <p:cNvSpPr/>
          <p:nvPr/>
        </p:nvSpPr>
        <p:spPr>
          <a:xfrm flipH="false" flipV="false" rot="0">
            <a:off x="9996381" y="7707336"/>
            <a:ext cx="7262919" cy="2445489"/>
          </a:xfrm>
          <a:custGeom>
            <a:avLst/>
            <a:gdLst/>
            <a:ahLst/>
            <a:cxnLst/>
            <a:rect r="r" b="b" t="t" l="l"/>
            <a:pathLst>
              <a:path h="2445489" w="7262919">
                <a:moveTo>
                  <a:pt x="0" y="0"/>
                </a:moveTo>
                <a:lnTo>
                  <a:pt x="7262919" y="0"/>
                </a:lnTo>
                <a:lnTo>
                  <a:pt x="7262919" y="2445489"/>
                </a:lnTo>
                <a:lnTo>
                  <a:pt x="0" y="2445489"/>
                </a:lnTo>
                <a:lnTo>
                  <a:pt x="0" y="0"/>
                </a:lnTo>
                <a:close/>
              </a:path>
            </a:pathLst>
          </a:custGeom>
          <a:blipFill>
            <a:blip r:embed="rId4"/>
            <a:stretch>
              <a:fillRect l="0" t="0" r="0" b="0"/>
            </a:stretch>
          </a:blipFill>
        </p:spPr>
      </p:sp>
      <p:sp>
        <p:nvSpPr>
          <p:cNvPr name="TextBox 26" id="26"/>
          <p:cNvSpPr txBox="true"/>
          <p:nvPr/>
        </p:nvSpPr>
        <p:spPr>
          <a:xfrm rot="0">
            <a:off x="300116" y="2360139"/>
            <a:ext cx="3793390" cy="2005965"/>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Se usa en:</a:t>
            </a:r>
          </a:p>
          <a:p>
            <a:pPr algn="l">
              <a:lnSpc>
                <a:spcPts val="2310"/>
              </a:lnSpc>
            </a:pPr>
            <a:r>
              <a:rPr lang="en-US" sz="1650">
                <a:solidFill>
                  <a:srgbClr val="FFFFFF"/>
                </a:solidFill>
                <a:latin typeface="Archivo Black"/>
                <a:ea typeface="Archivo Black"/>
                <a:cs typeface="Archivo Black"/>
                <a:sym typeface="Archivo Black"/>
              </a:rPr>
              <a:t>En Estructura, clase ColaPrioridad </a:t>
            </a:r>
          </a:p>
          <a:p>
            <a:pPr algn="l">
              <a:lnSpc>
                <a:spcPts val="2310"/>
              </a:lnSpc>
            </a:pPr>
            <a:r>
              <a:rPr lang="en-US" sz="1650">
                <a:solidFill>
                  <a:srgbClr val="FFFFFF"/>
                </a:solidFill>
                <a:latin typeface="Archivo Black"/>
                <a:ea typeface="Archivo Black"/>
                <a:cs typeface="Archivo Black"/>
                <a:sym typeface="Archivo Black"/>
              </a:rPr>
              <a:t>En Usuario, atributo __cola_prioridad</a:t>
            </a:r>
          </a:p>
          <a:p>
            <a:pPr algn="l">
              <a:lnSpc>
                <a:spcPts val="2310"/>
              </a:lnSpc>
              <a:spcBef>
                <a:spcPct val="0"/>
              </a:spcBef>
            </a:pPr>
            <a:r>
              <a:rPr lang="en-US" sz="1650">
                <a:solidFill>
                  <a:srgbClr val="FFFFFF"/>
                </a:solidFill>
                <a:latin typeface="Archivo Black"/>
                <a:ea typeface="Archivo Black"/>
                <a:cs typeface="Archivo Black"/>
                <a:sym typeface="Archivo Black"/>
              </a:rPr>
              <a:t>Métodos recibir_mensaje() y procesar_mensajes_prioritarios()</a:t>
            </a:r>
          </a:p>
        </p:txBody>
      </p:sp>
      <p:sp>
        <p:nvSpPr>
          <p:cNvPr name="TextBox 27" id="27"/>
          <p:cNvSpPr txBox="true"/>
          <p:nvPr/>
        </p:nvSpPr>
        <p:spPr>
          <a:xfrm rot="0">
            <a:off x="686039" y="694594"/>
            <a:ext cx="4358228" cy="624518"/>
          </a:xfrm>
          <a:prstGeom prst="rect">
            <a:avLst/>
          </a:prstGeom>
        </p:spPr>
        <p:txBody>
          <a:bodyPr anchor="t" rtlCol="false" tIns="0" lIns="0" bIns="0" rIns="0">
            <a:spAutoFit/>
          </a:bodyPr>
          <a:lstStyle/>
          <a:p>
            <a:pPr algn="ctr">
              <a:lnSpc>
                <a:spcPts val="5051"/>
              </a:lnSpc>
            </a:pPr>
            <a:r>
              <a:rPr lang="en-US" sz="3608">
                <a:solidFill>
                  <a:srgbClr val="103E6A"/>
                </a:solidFill>
                <a:latin typeface="Archivo Black"/>
                <a:ea typeface="Archivo Black"/>
                <a:cs typeface="Archivo Black"/>
                <a:sym typeface="Archivo Black"/>
              </a:rPr>
              <a:t>Cola de Prioridad </a:t>
            </a:r>
          </a:p>
        </p:txBody>
      </p:sp>
      <p:sp>
        <p:nvSpPr>
          <p:cNvPr name="TextBox 28" id="28"/>
          <p:cNvSpPr txBox="true"/>
          <p:nvPr/>
        </p:nvSpPr>
        <p:spPr>
          <a:xfrm rot="0">
            <a:off x="7684407" y="594435"/>
            <a:ext cx="6702729" cy="870204"/>
          </a:xfrm>
          <a:prstGeom prst="rect">
            <a:avLst/>
          </a:prstGeom>
        </p:spPr>
        <p:txBody>
          <a:bodyPr anchor="t" rtlCol="false" tIns="0" lIns="0" bIns="0" rIns="0">
            <a:spAutoFit/>
          </a:bodyPr>
          <a:lstStyle/>
          <a:p>
            <a:pPr algn="ctr">
              <a:lnSpc>
                <a:spcPts val="3486"/>
              </a:lnSpc>
              <a:spcBef>
                <a:spcPct val="0"/>
              </a:spcBef>
            </a:pPr>
            <a:r>
              <a:rPr lang="en-US" sz="2490">
                <a:solidFill>
                  <a:srgbClr val="DC8651"/>
                </a:solidFill>
                <a:latin typeface="Archivo Black"/>
                <a:ea typeface="Archivo Black"/>
                <a:cs typeface="Archivo Black"/>
                <a:sym typeface="Archivo Black"/>
              </a:rPr>
              <a:t>SIRVE PARA ESTABLECER MENSAJES COMO URGENTES SI LO SON.</a:t>
            </a:r>
          </a:p>
        </p:txBody>
      </p:sp>
      <p:sp>
        <p:nvSpPr>
          <p:cNvPr name="TextBox 29" id="29"/>
          <p:cNvSpPr txBox="true"/>
          <p:nvPr/>
        </p:nvSpPr>
        <p:spPr>
          <a:xfrm rot="0">
            <a:off x="1642522" y="5443978"/>
            <a:ext cx="6127733" cy="1434451"/>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Sirve para:</a:t>
            </a:r>
          </a:p>
          <a:p>
            <a:pPr algn="l">
              <a:lnSpc>
                <a:spcPts val="2310"/>
              </a:lnSpc>
              <a:spcBef>
                <a:spcPct val="0"/>
              </a:spcBef>
            </a:pPr>
            <a:r>
              <a:rPr lang="en-US" sz="1650">
                <a:solidFill>
                  <a:srgbClr val="FFFFFF"/>
                </a:solidFill>
                <a:latin typeface="Archivo Black"/>
                <a:ea typeface="Archivo Black"/>
                <a:cs typeface="Archivo Black"/>
                <a:sym typeface="Archivo Black"/>
              </a:rPr>
              <a:t>-Cuando un mensaje llega marcado como urgente, no va directo a la bandeja, va primero a la cola de prioridad, esto permite que el usuario pueda abrir los mensajes urgentes antes que los normales.</a:t>
            </a:r>
          </a:p>
        </p:txBody>
      </p:sp>
      <p:sp>
        <p:nvSpPr>
          <p:cNvPr name="TextBox 30" id="30"/>
          <p:cNvSpPr txBox="true"/>
          <p:nvPr/>
        </p:nvSpPr>
        <p:spPr>
          <a:xfrm rot="0">
            <a:off x="479878" y="7574287"/>
            <a:ext cx="6205963" cy="2291701"/>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Se eligió porque:</a:t>
            </a:r>
          </a:p>
          <a:p>
            <a:pPr algn="l">
              <a:lnSpc>
                <a:spcPts val="2310"/>
              </a:lnSpc>
            </a:pPr>
            <a:r>
              <a:rPr lang="en-US" sz="1650">
                <a:solidFill>
                  <a:srgbClr val="FFFFFF"/>
                </a:solidFill>
                <a:latin typeface="Archivo Black"/>
                <a:ea typeface="Archivo Black"/>
                <a:cs typeface="Archivo Black"/>
                <a:sym typeface="Archivo Black"/>
              </a:rPr>
              <a:t>- Una cola respeta el orden en que llegaron los urgentes</a:t>
            </a:r>
          </a:p>
          <a:p>
            <a:pPr algn="l">
              <a:lnSpc>
                <a:spcPts val="2310"/>
              </a:lnSpc>
            </a:pPr>
            <a:r>
              <a:rPr lang="en-US" sz="1650">
                <a:solidFill>
                  <a:srgbClr val="FFFFFF"/>
                </a:solidFill>
                <a:latin typeface="Archivo Black"/>
                <a:ea typeface="Archivo Black"/>
                <a:cs typeface="Archivo Black"/>
                <a:sym typeface="Archivo Black"/>
              </a:rPr>
              <a:t>- Orden FIFO: primero entra, primero sale</a:t>
            </a:r>
          </a:p>
          <a:p>
            <a:pPr algn="l">
              <a:lnSpc>
                <a:spcPts val="2310"/>
              </a:lnSpc>
            </a:pPr>
            <a:r>
              <a:rPr lang="en-US" sz="1650">
                <a:solidFill>
                  <a:srgbClr val="FFFFFF"/>
                </a:solidFill>
                <a:latin typeface="Archivo Black"/>
                <a:ea typeface="Archivo Black"/>
                <a:cs typeface="Archivo Black"/>
                <a:sym typeface="Archivo Black"/>
              </a:rPr>
              <a:t>- Evita mezclar urgentes con los mensajes comunes</a:t>
            </a:r>
          </a:p>
          <a:p>
            <a:pPr algn="l">
              <a:lnSpc>
                <a:spcPts val="2310"/>
              </a:lnSpc>
              <a:spcBef>
                <a:spcPct val="0"/>
              </a:spcBef>
            </a:pPr>
            <a:r>
              <a:rPr lang="en-US" sz="1650">
                <a:solidFill>
                  <a:srgbClr val="FFFFFF"/>
                </a:solidFill>
                <a:latin typeface="Archivo Black"/>
                <a:ea typeface="Archivo Black"/>
                <a:cs typeface="Archivo Black"/>
                <a:sym typeface="Archivo Black"/>
              </a:rPr>
              <a:t>- Usar una pila no permitia orden FIFO, no era eficiente, al igual que árbol ya que hacia la tarea más complicada.</a:t>
            </a:r>
          </a:p>
        </p:txBody>
      </p:sp>
      <p:sp>
        <p:nvSpPr>
          <p:cNvPr name="TextBox 31" id="31"/>
          <p:cNvSpPr txBox="true"/>
          <p:nvPr/>
        </p:nvSpPr>
        <p:spPr>
          <a:xfrm rot="0">
            <a:off x="12081269" y="1021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6601812" y="-2263140"/>
            <a:ext cx="11767129" cy="12550140"/>
            <a:chOff x="0" y="0"/>
            <a:chExt cx="896675" cy="956342"/>
          </a:xfrm>
        </p:grpSpPr>
        <p:sp>
          <p:nvSpPr>
            <p:cNvPr name="Freeform 3" id="3"/>
            <p:cNvSpPr/>
            <p:nvPr/>
          </p:nvSpPr>
          <p:spPr>
            <a:xfrm flipH="false" flipV="false" rot="0">
              <a:off x="0" y="0"/>
              <a:ext cx="896675" cy="956342"/>
            </a:xfrm>
            <a:custGeom>
              <a:avLst/>
              <a:gdLst/>
              <a:ahLst/>
              <a:cxnLst/>
              <a:rect r="r" b="b" t="t" l="l"/>
              <a:pathLst>
                <a:path h="956342" w="896675">
                  <a:moveTo>
                    <a:pt x="0" y="956342"/>
                  </a:moveTo>
                  <a:cubicBezTo>
                    <a:pt x="0" y="704479"/>
                    <a:pt x="95647" y="458201"/>
                    <a:pt x="262630" y="280106"/>
                  </a:cubicBezTo>
                  <a:cubicBezTo>
                    <a:pt x="429613" y="102011"/>
                    <a:pt x="660526" y="0"/>
                    <a:pt x="896675" y="0"/>
                  </a:cubicBezTo>
                  <a:lnTo>
                    <a:pt x="896675" y="956342"/>
                  </a:lnTo>
                  <a:lnTo>
                    <a:pt x="0" y="956342"/>
                  </a:lnTo>
                  <a:close/>
                </a:path>
              </a:pathLst>
            </a:custGeom>
            <a:solidFill>
              <a:srgbClr val="F1A372"/>
            </a:solidFill>
            <a:ln w="38100" cap="sq">
              <a:solidFill>
                <a:srgbClr val="FFFFFF"/>
              </a:solidFill>
              <a:prstDash val="solid"/>
              <a:miter/>
            </a:ln>
          </p:spPr>
        </p:sp>
        <p:sp>
          <p:nvSpPr>
            <p:cNvPr name="TextBox 4" id="4"/>
            <p:cNvSpPr txBox="true"/>
            <p:nvPr/>
          </p:nvSpPr>
          <p:spPr>
            <a:xfrm>
              <a:off x="264927" y="244456"/>
              <a:ext cx="631749" cy="71188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564977"/>
            <a:ext cx="18288000" cy="959952"/>
            <a:chOff x="0" y="0"/>
            <a:chExt cx="7742310" cy="406400"/>
          </a:xfrm>
        </p:grpSpPr>
        <p:sp>
          <p:nvSpPr>
            <p:cNvPr name="Freeform 6" id="6"/>
            <p:cNvSpPr/>
            <p:nvPr/>
          </p:nvSpPr>
          <p:spPr>
            <a:xfrm flipH="false" flipV="false" rot="0">
              <a:off x="0" y="0"/>
              <a:ext cx="7742310" cy="406400"/>
            </a:xfrm>
            <a:custGeom>
              <a:avLst/>
              <a:gdLst/>
              <a:ahLst/>
              <a:cxnLst/>
              <a:rect r="r" b="b" t="t" l="l"/>
              <a:pathLst>
                <a:path h="406400" w="7742310">
                  <a:moveTo>
                    <a:pt x="0" y="0"/>
                  </a:moveTo>
                  <a:lnTo>
                    <a:pt x="7742310" y="0"/>
                  </a:lnTo>
                  <a:lnTo>
                    <a:pt x="7742310" y="406400"/>
                  </a:lnTo>
                  <a:lnTo>
                    <a:pt x="0" y="406400"/>
                  </a:lnTo>
                  <a:close/>
                </a:path>
              </a:pathLst>
            </a:custGeom>
            <a:solidFill>
              <a:srgbClr val="F8DCBF"/>
            </a:solidFill>
          </p:spPr>
        </p:sp>
        <p:sp>
          <p:nvSpPr>
            <p:cNvPr name="TextBox 7" id="7"/>
            <p:cNvSpPr txBox="true"/>
            <p:nvPr/>
          </p:nvSpPr>
          <p:spPr>
            <a:xfrm>
              <a:off x="0" y="-38100"/>
              <a:ext cx="7742310" cy="444500"/>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297115" y="353501"/>
            <a:ext cx="5136075" cy="1382905"/>
            <a:chOff x="0" y="0"/>
            <a:chExt cx="2500060" cy="673149"/>
          </a:xfrm>
        </p:grpSpPr>
        <p:sp>
          <p:nvSpPr>
            <p:cNvPr name="Freeform 9" id="9"/>
            <p:cNvSpPr/>
            <p:nvPr/>
          </p:nvSpPr>
          <p:spPr>
            <a:xfrm flipH="false" flipV="false" rot="0">
              <a:off x="0" y="0"/>
              <a:ext cx="2500060" cy="673149"/>
            </a:xfrm>
            <a:custGeom>
              <a:avLst/>
              <a:gdLst/>
              <a:ahLst/>
              <a:cxnLst/>
              <a:rect r="r" b="b" t="t" l="l"/>
              <a:pathLst>
                <a:path h="673149" w="2500060">
                  <a:moveTo>
                    <a:pt x="2420642" y="0"/>
                  </a:moveTo>
                  <a:lnTo>
                    <a:pt x="79418" y="0"/>
                  </a:lnTo>
                  <a:cubicBezTo>
                    <a:pt x="79418" y="43699"/>
                    <a:pt x="44079" y="79418"/>
                    <a:pt x="0" y="79418"/>
                  </a:cubicBezTo>
                  <a:lnTo>
                    <a:pt x="0" y="593731"/>
                  </a:lnTo>
                  <a:cubicBezTo>
                    <a:pt x="43699" y="593731"/>
                    <a:pt x="79418" y="629070"/>
                    <a:pt x="79418" y="673149"/>
                  </a:cubicBezTo>
                  <a:lnTo>
                    <a:pt x="2420642" y="673149"/>
                  </a:lnTo>
                  <a:cubicBezTo>
                    <a:pt x="2420642" y="629450"/>
                    <a:pt x="2455981" y="593731"/>
                    <a:pt x="2500060" y="593731"/>
                  </a:cubicBezTo>
                  <a:lnTo>
                    <a:pt x="2500060" y="79418"/>
                  </a:lnTo>
                  <a:cubicBezTo>
                    <a:pt x="2456361" y="79418"/>
                    <a:pt x="2420642" y="44079"/>
                    <a:pt x="2420642" y="0"/>
                  </a:cubicBezTo>
                  <a:close/>
                </a:path>
              </a:pathLst>
            </a:custGeom>
            <a:solidFill>
              <a:srgbClr val="DC8651"/>
            </a:solidFill>
            <a:ln w="323850" cap="sq">
              <a:solidFill>
                <a:srgbClr val="F1A372"/>
              </a:solidFill>
              <a:prstDash val="solid"/>
              <a:miter/>
            </a:ln>
          </p:spPr>
        </p:sp>
        <p:sp>
          <p:nvSpPr>
            <p:cNvPr name="TextBox 10" id="10"/>
            <p:cNvSpPr txBox="true"/>
            <p:nvPr/>
          </p:nvSpPr>
          <p:spPr>
            <a:xfrm>
              <a:off x="38100" y="0"/>
              <a:ext cx="2423860" cy="635049"/>
            </a:xfrm>
            <a:prstGeom prst="rect">
              <a:avLst/>
            </a:prstGeom>
          </p:spPr>
          <p:txBody>
            <a:bodyPr anchor="ctr" rtlCol="false" tIns="41176" lIns="41176" bIns="41176" rIns="41176"/>
            <a:lstStyle/>
            <a:p>
              <a:pPr algn="ctr">
                <a:lnSpc>
                  <a:spcPts val="2659"/>
                </a:lnSpc>
              </a:pPr>
            </a:p>
          </p:txBody>
        </p:sp>
      </p:grpSp>
      <p:grpSp>
        <p:nvGrpSpPr>
          <p:cNvPr name="Group 11" id="11"/>
          <p:cNvGrpSpPr/>
          <p:nvPr/>
        </p:nvGrpSpPr>
        <p:grpSpPr>
          <a:xfrm rot="0">
            <a:off x="-89624" y="2217654"/>
            <a:ext cx="11308171" cy="8069346"/>
            <a:chOff x="0" y="0"/>
            <a:chExt cx="2187177" cy="1560738"/>
          </a:xfrm>
        </p:grpSpPr>
        <p:sp>
          <p:nvSpPr>
            <p:cNvPr name="Freeform 12" id="12"/>
            <p:cNvSpPr/>
            <p:nvPr/>
          </p:nvSpPr>
          <p:spPr>
            <a:xfrm flipH="false" flipV="false" rot="0">
              <a:off x="0" y="0"/>
              <a:ext cx="2187177" cy="1560738"/>
            </a:xfrm>
            <a:custGeom>
              <a:avLst/>
              <a:gdLst/>
              <a:ahLst/>
              <a:cxnLst/>
              <a:rect r="r" b="b" t="t" l="l"/>
              <a:pathLst>
                <a:path h="1560738" w="2187177">
                  <a:moveTo>
                    <a:pt x="2187177" y="1560738"/>
                  </a:moveTo>
                  <a:lnTo>
                    <a:pt x="0" y="1560738"/>
                  </a:lnTo>
                  <a:lnTo>
                    <a:pt x="0" y="0"/>
                  </a:lnTo>
                  <a:lnTo>
                    <a:pt x="2187177" y="1560738"/>
                  </a:lnTo>
                  <a:close/>
                </a:path>
              </a:pathLst>
            </a:custGeom>
            <a:solidFill>
              <a:srgbClr val="DC8651"/>
            </a:solidFill>
            <a:ln w="38100" cap="sq">
              <a:solidFill>
                <a:srgbClr val="FFFFFF"/>
              </a:solidFill>
              <a:prstDash val="solid"/>
              <a:miter/>
            </a:ln>
          </p:spPr>
        </p:sp>
        <p:sp>
          <p:nvSpPr>
            <p:cNvPr name="TextBox 13" id="13"/>
            <p:cNvSpPr txBox="true"/>
            <p:nvPr/>
          </p:nvSpPr>
          <p:spPr>
            <a:xfrm>
              <a:off x="0" y="742269"/>
              <a:ext cx="1093589" cy="815148"/>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86039" y="7782411"/>
            <a:ext cx="6492704" cy="1527695"/>
          </a:xfrm>
          <a:custGeom>
            <a:avLst/>
            <a:gdLst/>
            <a:ahLst/>
            <a:cxnLst/>
            <a:rect r="r" b="b" t="t" l="l"/>
            <a:pathLst>
              <a:path h="1527695" w="6492704">
                <a:moveTo>
                  <a:pt x="0" y="0"/>
                </a:moveTo>
                <a:lnTo>
                  <a:pt x="6492703" y="0"/>
                </a:lnTo>
                <a:lnTo>
                  <a:pt x="6492703" y="1527695"/>
                </a:lnTo>
                <a:lnTo>
                  <a:pt x="0" y="1527695"/>
                </a:lnTo>
                <a:lnTo>
                  <a:pt x="0" y="0"/>
                </a:lnTo>
                <a:close/>
              </a:path>
            </a:pathLst>
          </a:custGeom>
          <a:blipFill>
            <a:blip r:embed="rId2"/>
            <a:stretch>
              <a:fillRect l="0" t="0" r="0" b="0"/>
            </a:stretch>
          </a:blipFill>
        </p:spPr>
      </p:sp>
      <p:sp>
        <p:nvSpPr>
          <p:cNvPr name="Freeform 15" id="15"/>
          <p:cNvSpPr/>
          <p:nvPr/>
        </p:nvSpPr>
        <p:spPr>
          <a:xfrm flipH="false" flipV="false" rot="0">
            <a:off x="11542397" y="1645459"/>
            <a:ext cx="6744723" cy="4260617"/>
          </a:xfrm>
          <a:custGeom>
            <a:avLst/>
            <a:gdLst/>
            <a:ahLst/>
            <a:cxnLst/>
            <a:rect r="r" b="b" t="t" l="l"/>
            <a:pathLst>
              <a:path h="4260617" w="6744723">
                <a:moveTo>
                  <a:pt x="0" y="0"/>
                </a:moveTo>
                <a:lnTo>
                  <a:pt x="6744723" y="0"/>
                </a:lnTo>
                <a:lnTo>
                  <a:pt x="6744723" y="4260617"/>
                </a:lnTo>
                <a:lnTo>
                  <a:pt x="0" y="4260617"/>
                </a:lnTo>
                <a:lnTo>
                  <a:pt x="0" y="0"/>
                </a:lnTo>
                <a:close/>
              </a:path>
            </a:pathLst>
          </a:custGeom>
          <a:blipFill>
            <a:blip r:embed="rId3"/>
            <a:stretch>
              <a:fillRect l="0" t="0" r="0" b="0"/>
            </a:stretch>
          </a:blipFill>
        </p:spPr>
      </p:sp>
      <p:sp>
        <p:nvSpPr>
          <p:cNvPr name="Freeform 16" id="16"/>
          <p:cNvSpPr/>
          <p:nvPr/>
        </p:nvSpPr>
        <p:spPr>
          <a:xfrm flipH="false" flipV="false" rot="0">
            <a:off x="7899022" y="6029901"/>
            <a:ext cx="6237601" cy="4193942"/>
          </a:xfrm>
          <a:custGeom>
            <a:avLst/>
            <a:gdLst/>
            <a:ahLst/>
            <a:cxnLst/>
            <a:rect r="r" b="b" t="t" l="l"/>
            <a:pathLst>
              <a:path h="4193942" w="6237601">
                <a:moveTo>
                  <a:pt x="0" y="0"/>
                </a:moveTo>
                <a:lnTo>
                  <a:pt x="6237601" y="0"/>
                </a:lnTo>
                <a:lnTo>
                  <a:pt x="6237601" y="4193943"/>
                </a:lnTo>
                <a:lnTo>
                  <a:pt x="0" y="4193943"/>
                </a:lnTo>
                <a:lnTo>
                  <a:pt x="0" y="0"/>
                </a:lnTo>
                <a:close/>
              </a:path>
            </a:pathLst>
          </a:custGeom>
          <a:blipFill>
            <a:blip r:embed="rId4"/>
            <a:stretch>
              <a:fillRect l="0" t="0" r="0" b="0"/>
            </a:stretch>
          </a:blipFill>
        </p:spPr>
      </p:sp>
      <p:grpSp>
        <p:nvGrpSpPr>
          <p:cNvPr name="Group 17" id="17"/>
          <p:cNvGrpSpPr/>
          <p:nvPr/>
        </p:nvGrpSpPr>
        <p:grpSpPr>
          <a:xfrm rot="0">
            <a:off x="137975" y="1988514"/>
            <a:ext cx="4117673" cy="2896410"/>
            <a:chOff x="0" y="0"/>
            <a:chExt cx="390527" cy="274700"/>
          </a:xfrm>
        </p:grpSpPr>
        <p:sp>
          <p:nvSpPr>
            <p:cNvPr name="Freeform 18" id="18"/>
            <p:cNvSpPr/>
            <p:nvPr/>
          </p:nvSpPr>
          <p:spPr>
            <a:xfrm flipH="false" flipV="false" rot="0">
              <a:off x="0" y="0"/>
              <a:ext cx="390527" cy="274700"/>
            </a:xfrm>
            <a:custGeom>
              <a:avLst/>
              <a:gdLst/>
              <a:ahLst/>
              <a:cxnLst/>
              <a:rect r="r" b="b" t="t" l="l"/>
              <a:pathLst>
                <a:path h="274700" w="390527">
                  <a:moveTo>
                    <a:pt x="36722" y="0"/>
                  </a:moveTo>
                  <a:lnTo>
                    <a:pt x="353805" y="0"/>
                  </a:lnTo>
                  <a:cubicBezTo>
                    <a:pt x="363544" y="0"/>
                    <a:pt x="372885" y="3869"/>
                    <a:pt x="379771" y="10756"/>
                  </a:cubicBezTo>
                  <a:cubicBezTo>
                    <a:pt x="386658" y="17642"/>
                    <a:pt x="390527" y="26983"/>
                    <a:pt x="390527" y="36722"/>
                  </a:cubicBezTo>
                  <a:lnTo>
                    <a:pt x="390527" y="237978"/>
                  </a:lnTo>
                  <a:cubicBezTo>
                    <a:pt x="390527" y="258259"/>
                    <a:pt x="374086" y="274700"/>
                    <a:pt x="353805" y="274700"/>
                  </a:cubicBezTo>
                  <a:lnTo>
                    <a:pt x="36722" y="274700"/>
                  </a:lnTo>
                  <a:cubicBezTo>
                    <a:pt x="16441" y="274700"/>
                    <a:pt x="0" y="258259"/>
                    <a:pt x="0" y="237978"/>
                  </a:cubicBezTo>
                  <a:lnTo>
                    <a:pt x="0" y="36722"/>
                  </a:lnTo>
                  <a:cubicBezTo>
                    <a:pt x="0" y="16441"/>
                    <a:pt x="16441" y="0"/>
                    <a:pt x="36722" y="0"/>
                  </a:cubicBezTo>
                  <a:close/>
                </a:path>
              </a:pathLst>
            </a:custGeom>
            <a:solidFill>
              <a:srgbClr val="5BB5DC"/>
            </a:solidFill>
            <a:ln w="133350" cap="rnd">
              <a:solidFill>
                <a:srgbClr val="F8DCBF"/>
              </a:solidFill>
              <a:prstDash val="solid"/>
              <a:round/>
            </a:ln>
          </p:spPr>
        </p:sp>
        <p:sp>
          <p:nvSpPr>
            <p:cNvPr name="TextBox 19" id="19"/>
            <p:cNvSpPr txBox="true"/>
            <p:nvPr/>
          </p:nvSpPr>
          <p:spPr>
            <a:xfrm>
              <a:off x="0" y="-38100"/>
              <a:ext cx="390527" cy="312800"/>
            </a:xfrm>
            <a:prstGeom prst="rect">
              <a:avLst/>
            </a:prstGeom>
          </p:spPr>
          <p:txBody>
            <a:bodyPr anchor="ctr" rtlCol="false" tIns="41176" lIns="41176" bIns="41176" rIns="41176"/>
            <a:lstStyle/>
            <a:p>
              <a:pPr algn="ctr">
                <a:lnSpc>
                  <a:spcPts val="2659"/>
                </a:lnSpc>
              </a:pPr>
            </a:p>
          </p:txBody>
        </p:sp>
      </p:grpSp>
      <p:sp>
        <p:nvSpPr>
          <p:cNvPr name="TextBox 20" id="20"/>
          <p:cNvSpPr txBox="true"/>
          <p:nvPr/>
        </p:nvSpPr>
        <p:spPr>
          <a:xfrm rot="0">
            <a:off x="300116" y="2124173"/>
            <a:ext cx="3793390" cy="2577465"/>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Se usa en:</a:t>
            </a:r>
          </a:p>
          <a:p>
            <a:pPr algn="l">
              <a:lnSpc>
                <a:spcPts val="2310"/>
              </a:lnSpc>
            </a:pPr>
            <a:r>
              <a:rPr lang="en-US" sz="1650">
                <a:solidFill>
                  <a:srgbClr val="FFFFFF"/>
                </a:solidFill>
                <a:latin typeface="Archivo Black"/>
                <a:ea typeface="Archivo Black"/>
                <a:cs typeface="Archivo Black"/>
                <a:sym typeface="Archivo Black"/>
              </a:rPr>
              <a:t>Clase ServidorCorreo</a:t>
            </a:r>
          </a:p>
          <a:p>
            <a:pPr algn="l">
              <a:lnSpc>
                <a:spcPts val="2310"/>
              </a:lnSpc>
            </a:pPr>
            <a:r>
              <a:rPr lang="en-US" sz="1650">
                <a:solidFill>
                  <a:srgbClr val="FFFFFF"/>
                </a:solidFill>
                <a:latin typeface="Archivo Black"/>
                <a:ea typeface="Archivo Black"/>
                <a:cs typeface="Archivo Black"/>
                <a:sym typeface="Archivo Black"/>
              </a:rPr>
              <a:t>Lista __vecinos (las conexiones entre servidores)</a:t>
            </a:r>
          </a:p>
          <a:p>
            <a:pPr algn="l">
              <a:lnSpc>
                <a:spcPts val="2310"/>
              </a:lnSpc>
            </a:pPr>
            <a:r>
              <a:rPr lang="en-US" sz="1650">
                <a:solidFill>
                  <a:srgbClr val="FFFFFF"/>
                </a:solidFill>
                <a:latin typeface="Archivo Black"/>
                <a:ea typeface="Archivo Black"/>
                <a:cs typeface="Archivo Black"/>
                <a:sym typeface="Archivo Black"/>
              </a:rPr>
              <a:t>Método bfs_ruta() para buscar camino entre servidores</a:t>
            </a:r>
          </a:p>
          <a:p>
            <a:pPr algn="l">
              <a:lnSpc>
                <a:spcPts val="2310"/>
              </a:lnSpc>
              <a:spcBef>
                <a:spcPct val="0"/>
              </a:spcBef>
            </a:pPr>
            <a:r>
              <a:rPr lang="en-US" sz="1650">
                <a:solidFill>
                  <a:srgbClr val="FFFFFF"/>
                </a:solidFill>
                <a:latin typeface="Archivo Black"/>
                <a:ea typeface="Archivo Black"/>
                <a:cs typeface="Archivo Black"/>
                <a:sym typeface="Archivo Black"/>
              </a:rPr>
              <a:t>Método enviar_mensaje_red() para enviar un mensaje entre varios servidores</a:t>
            </a:r>
          </a:p>
        </p:txBody>
      </p:sp>
      <p:sp>
        <p:nvSpPr>
          <p:cNvPr name="TextBox 21" id="21"/>
          <p:cNvSpPr txBox="true"/>
          <p:nvPr/>
        </p:nvSpPr>
        <p:spPr>
          <a:xfrm rot="0">
            <a:off x="686039" y="694594"/>
            <a:ext cx="4358228"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Grafo</a:t>
            </a:r>
          </a:p>
        </p:txBody>
      </p:sp>
      <p:sp>
        <p:nvSpPr>
          <p:cNvPr name="TextBox 22" id="22"/>
          <p:cNvSpPr txBox="true"/>
          <p:nvPr/>
        </p:nvSpPr>
        <p:spPr>
          <a:xfrm rot="0">
            <a:off x="7684407" y="594435"/>
            <a:ext cx="6702729" cy="870204"/>
          </a:xfrm>
          <a:prstGeom prst="rect">
            <a:avLst/>
          </a:prstGeom>
        </p:spPr>
        <p:txBody>
          <a:bodyPr anchor="t" rtlCol="false" tIns="0" lIns="0" bIns="0" rIns="0">
            <a:spAutoFit/>
          </a:bodyPr>
          <a:lstStyle/>
          <a:p>
            <a:pPr algn="ctr">
              <a:lnSpc>
                <a:spcPts val="3486"/>
              </a:lnSpc>
              <a:spcBef>
                <a:spcPct val="0"/>
              </a:spcBef>
            </a:pPr>
            <a:r>
              <a:rPr lang="en-US" sz="2490">
                <a:solidFill>
                  <a:srgbClr val="DC8651"/>
                </a:solidFill>
                <a:latin typeface="Archivo Black"/>
                <a:ea typeface="Archivo Black"/>
                <a:cs typeface="Archivo Black"/>
                <a:sym typeface="Archivo Black"/>
              </a:rPr>
              <a:t>SIRVE PARA COMUNICACIÓN ENTRE SERVIDORES</a:t>
            </a:r>
          </a:p>
        </p:txBody>
      </p:sp>
      <p:grpSp>
        <p:nvGrpSpPr>
          <p:cNvPr name="Group 23" id="23"/>
          <p:cNvGrpSpPr/>
          <p:nvPr/>
        </p:nvGrpSpPr>
        <p:grpSpPr>
          <a:xfrm rot="0">
            <a:off x="4933783" y="1988514"/>
            <a:ext cx="5930479" cy="2896410"/>
            <a:chOff x="0" y="0"/>
            <a:chExt cx="7907306" cy="3861880"/>
          </a:xfrm>
        </p:grpSpPr>
        <p:grpSp>
          <p:nvGrpSpPr>
            <p:cNvPr name="Group 24" id="24"/>
            <p:cNvGrpSpPr/>
            <p:nvPr/>
          </p:nvGrpSpPr>
          <p:grpSpPr>
            <a:xfrm rot="0">
              <a:off x="0" y="0"/>
              <a:ext cx="7907306" cy="3861880"/>
              <a:chOff x="0" y="0"/>
              <a:chExt cx="572993" cy="279846"/>
            </a:xfrm>
          </p:grpSpPr>
          <p:sp>
            <p:nvSpPr>
              <p:cNvPr name="Freeform 25" id="25"/>
              <p:cNvSpPr/>
              <p:nvPr/>
            </p:nvSpPr>
            <p:spPr>
              <a:xfrm flipH="false" flipV="false" rot="0">
                <a:off x="0" y="0"/>
                <a:ext cx="572993" cy="279846"/>
              </a:xfrm>
              <a:custGeom>
                <a:avLst/>
                <a:gdLst/>
                <a:ahLst/>
                <a:cxnLst/>
                <a:rect r="r" b="b" t="t" l="l"/>
                <a:pathLst>
                  <a:path h="279846" w="572993">
                    <a:moveTo>
                      <a:pt x="25497" y="0"/>
                    </a:moveTo>
                    <a:lnTo>
                      <a:pt x="547496" y="0"/>
                    </a:lnTo>
                    <a:cubicBezTo>
                      <a:pt x="554258" y="0"/>
                      <a:pt x="560744" y="2686"/>
                      <a:pt x="565525" y="7468"/>
                    </a:cubicBezTo>
                    <a:cubicBezTo>
                      <a:pt x="570307" y="12250"/>
                      <a:pt x="572993" y="18735"/>
                      <a:pt x="572993" y="25497"/>
                    </a:cubicBezTo>
                    <a:lnTo>
                      <a:pt x="572993" y="254349"/>
                    </a:lnTo>
                    <a:cubicBezTo>
                      <a:pt x="572993" y="268431"/>
                      <a:pt x="561578" y="279846"/>
                      <a:pt x="547496" y="279846"/>
                    </a:cubicBezTo>
                    <a:lnTo>
                      <a:pt x="25497" y="279846"/>
                    </a:lnTo>
                    <a:cubicBezTo>
                      <a:pt x="11415" y="279846"/>
                      <a:pt x="0" y="268431"/>
                      <a:pt x="0" y="254349"/>
                    </a:cubicBezTo>
                    <a:lnTo>
                      <a:pt x="0" y="25497"/>
                    </a:lnTo>
                    <a:cubicBezTo>
                      <a:pt x="0" y="11415"/>
                      <a:pt x="11415" y="0"/>
                      <a:pt x="25497" y="0"/>
                    </a:cubicBezTo>
                    <a:close/>
                  </a:path>
                </a:pathLst>
              </a:custGeom>
              <a:solidFill>
                <a:srgbClr val="5BB5DC"/>
              </a:solidFill>
              <a:ln w="133350" cap="rnd">
                <a:solidFill>
                  <a:srgbClr val="F8DCBF"/>
                </a:solidFill>
                <a:prstDash val="solid"/>
                <a:round/>
              </a:ln>
            </p:spPr>
          </p:sp>
          <p:sp>
            <p:nvSpPr>
              <p:cNvPr name="TextBox 26" id="26"/>
              <p:cNvSpPr txBox="true"/>
              <p:nvPr/>
            </p:nvSpPr>
            <p:spPr>
              <a:xfrm>
                <a:off x="0" y="-38100"/>
                <a:ext cx="572993" cy="317946"/>
              </a:xfrm>
              <a:prstGeom prst="rect">
                <a:avLst/>
              </a:prstGeom>
            </p:spPr>
            <p:txBody>
              <a:bodyPr anchor="ctr" rtlCol="false" tIns="41176" lIns="41176" bIns="41176" rIns="41176"/>
              <a:lstStyle/>
              <a:p>
                <a:pPr algn="ctr">
                  <a:lnSpc>
                    <a:spcPts val="2659"/>
                  </a:lnSpc>
                </a:pPr>
              </a:p>
            </p:txBody>
          </p:sp>
        </p:grpSp>
        <p:sp>
          <p:nvSpPr>
            <p:cNvPr name="TextBox 27" id="27"/>
            <p:cNvSpPr txBox="true"/>
            <p:nvPr/>
          </p:nvSpPr>
          <p:spPr>
            <a:xfrm rot="0">
              <a:off x="399821" y="352984"/>
              <a:ext cx="7107663" cy="3039745"/>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Sirve para:</a:t>
              </a:r>
            </a:p>
            <a:p>
              <a:pPr algn="l">
                <a:lnSpc>
                  <a:spcPts val="2310"/>
                </a:lnSpc>
              </a:pPr>
              <a:r>
                <a:rPr lang="en-US" sz="1650">
                  <a:solidFill>
                    <a:srgbClr val="FFFFFF"/>
                  </a:solidFill>
                  <a:latin typeface="Archivo Black"/>
                  <a:ea typeface="Archivo Black"/>
                  <a:cs typeface="Archivo Black"/>
                  <a:sym typeface="Archivo Black"/>
                </a:rPr>
                <a:t>Tener varios servidores conectados. Cada uno puede estar conectado con otros, y el mensaje tiene que viajar por esos enlaces hasta llegar al servidor donde está el destinatario.</a:t>
              </a:r>
            </a:p>
            <a:p>
              <a:pPr algn="l">
                <a:lnSpc>
                  <a:spcPts val="2310"/>
                </a:lnSpc>
                <a:spcBef>
                  <a:spcPct val="0"/>
                </a:spcBef>
              </a:pPr>
              <a:r>
                <a:rPr lang="en-US" sz="1650">
                  <a:solidFill>
                    <a:srgbClr val="FFFFFF"/>
                  </a:solidFill>
                  <a:latin typeface="Archivo Black"/>
                  <a:ea typeface="Archivo Black"/>
                  <a:cs typeface="Archivo Black"/>
                  <a:sym typeface="Archivo Black"/>
                </a:rPr>
                <a:t>En ese grafo los nodos son los servidores y las aristas las conexiones.</a:t>
              </a:r>
            </a:p>
          </p:txBody>
        </p:sp>
      </p:grpSp>
      <p:grpSp>
        <p:nvGrpSpPr>
          <p:cNvPr name="Group 28" id="28"/>
          <p:cNvGrpSpPr/>
          <p:nvPr/>
        </p:nvGrpSpPr>
        <p:grpSpPr>
          <a:xfrm rot="0">
            <a:off x="297115" y="5188968"/>
            <a:ext cx="6637249" cy="2126717"/>
            <a:chOff x="0" y="0"/>
            <a:chExt cx="1183350" cy="379171"/>
          </a:xfrm>
        </p:grpSpPr>
        <p:sp>
          <p:nvSpPr>
            <p:cNvPr name="Freeform 29" id="29"/>
            <p:cNvSpPr/>
            <p:nvPr/>
          </p:nvSpPr>
          <p:spPr>
            <a:xfrm flipH="false" flipV="false" rot="0">
              <a:off x="0" y="0"/>
              <a:ext cx="1183350" cy="379171"/>
            </a:xfrm>
            <a:custGeom>
              <a:avLst/>
              <a:gdLst/>
              <a:ahLst/>
              <a:cxnLst/>
              <a:rect r="r" b="b" t="t" l="l"/>
              <a:pathLst>
                <a:path h="379171" w="1183350">
                  <a:moveTo>
                    <a:pt x="22782" y="0"/>
                  </a:moveTo>
                  <a:lnTo>
                    <a:pt x="1160568" y="0"/>
                  </a:lnTo>
                  <a:cubicBezTo>
                    <a:pt x="1166610" y="0"/>
                    <a:pt x="1172405" y="2400"/>
                    <a:pt x="1176677" y="6673"/>
                  </a:cubicBezTo>
                  <a:cubicBezTo>
                    <a:pt x="1180950" y="10945"/>
                    <a:pt x="1183350" y="16740"/>
                    <a:pt x="1183350" y="22782"/>
                  </a:cubicBezTo>
                  <a:lnTo>
                    <a:pt x="1183350" y="356389"/>
                  </a:lnTo>
                  <a:cubicBezTo>
                    <a:pt x="1183350" y="368971"/>
                    <a:pt x="1173150" y="379171"/>
                    <a:pt x="1160568" y="379171"/>
                  </a:cubicBezTo>
                  <a:lnTo>
                    <a:pt x="22782" y="379171"/>
                  </a:lnTo>
                  <a:cubicBezTo>
                    <a:pt x="16740" y="379171"/>
                    <a:pt x="10945" y="376770"/>
                    <a:pt x="6673" y="372498"/>
                  </a:cubicBezTo>
                  <a:cubicBezTo>
                    <a:pt x="2400" y="368226"/>
                    <a:pt x="0" y="362431"/>
                    <a:pt x="0" y="356389"/>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30" id="30"/>
            <p:cNvSpPr txBox="true"/>
            <p:nvPr/>
          </p:nvSpPr>
          <p:spPr>
            <a:xfrm>
              <a:off x="0" y="-38100"/>
              <a:ext cx="1183350" cy="417271"/>
            </a:xfrm>
            <a:prstGeom prst="rect">
              <a:avLst/>
            </a:prstGeom>
          </p:spPr>
          <p:txBody>
            <a:bodyPr anchor="ctr" rtlCol="false" tIns="41176" lIns="41176" bIns="41176" rIns="41176"/>
            <a:lstStyle/>
            <a:p>
              <a:pPr algn="ctr">
                <a:lnSpc>
                  <a:spcPts val="2659"/>
                </a:lnSpc>
              </a:pPr>
            </a:p>
          </p:txBody>
        </p:sp>
      </p:grpSp>
      <p:sp>
        <p:nvSpPr>
          <p:cNvPr name="TextBox 31" id="31"/>
          <p:cNvSpPr txBox="true"/>
          <p:nvPr/>
        </p:nvSpPr>
        <p:spPr>
          <a:xfrm rot="0">
            <a:off x="489227" y="5380612"/>
            <a:ext cx="6253025" cy="1720201"/>
          </a:xfrm>
          <a:prstGeom prst="rect">
            <a:avLst/>
          </a:prstGeom>
        </p:spPr>
        <p:txBody>
          <a:bodyPr anchor="t" rtlCol="false" tIns="0" lIns="0" bIns="0" rIns="0">
            <a:spAutoFit/>
          </a:bodyPr>
          <a:lstStyle/>
          <a:p>
            <a:pPr algn="l">
              <a:lnSpc>
                <a:spcPts val="2310"/>
              </a:lnSpc>
            </a:pPr>
            <a:r>
              <a:rPr lang="en-US" sz="1650">
                <a:solidFill>
                  <a:srgbClr val="FFFFFF"/>
                </a:solidFill>
                <a:latin typeface="Archivo Black"/>
                <a:ea typeface="Archivo Black"/>
                <a:cs typeface="Archivo Black"/>
                <a:sym typeface="Archivo Black"/>
              </a:rPr>
              <a:t>Se eligió porque:</a:t>
            </a:r>
          </a:p>
          <a:p>
            <a:pPr algn="l">
              <a:lnSpc>
                <a:spcPts val="2310"/>
              </a:lnSpc>
            </a:pPr>
            <a:r>
              <a:rPr lang="en-US" sz="1650">
                <a:solidFill>
                  <a:srgbClr val="FFFFFF"/>
                </a:solidFill>
                <a:latin typeface="Archivo Black"/>
                <a:ea typeface="Archivo Black"/>
                <a:cs typeface="Archivo Black"/>
                <a:sym typeface="Archivo Black"/>
              </a:rPr>
              <a:t>- Permite ubicar servidores.</a:t>
            </a:r>
          </a:p>
          <a:p>
            <a:pPr algn="l">
              <a:lnSpc>
                <a:spcPts val="2310"/>
              </a:lnSpc>
            </a:pPr>
            <a:r>
              <a:rPr lang="en-US" sz="1650">
                <a:solidFill>
                  <a:srgbClr val="FFFFFF"/>
                </a:solidFill>
                <a:latin typeface="Archivo Black"/>
                <a:ea typeface="Archivo Black"/>
                <a:cs typeface="Archivo Black"/>
                <a:sym typeface="Archivo Black"/>
              </a:rPr>
              <a:t>- Con BFS encontrás rutas de forma más eficiente.</a:t>
            </a:r>
          </a:p>
          <a:p>
            <a:pPr algn="l">
              <a:lnSpc>
                <a:spcPts val="2310"/>
              </a:lnSpc>
            </a:pPr>
            <a:r>
              <a:rPr lang="en-US" sz="1650">
                <a:solidFill>
                  <a:srgbClr val="FFFFFF"/>
                </a:solidFill>
                <a:latin typeface="Archivo Black"/>
                <a:ea typeface="Archivo Black"/>
                <a:cs typeface="Archivo Black"/>
                <a:sym typeface="Archivo Black"/>
              </a:rPr>
              <a:t>- Es similar a una red real.</a:t>
            </a:r>
          </a:p>
          <a:p>
            <a:pPr algn="l">
              <a:lnSpc>
                <a:spcPts val="2310"/>
              </a:lnSpc>
              <a:spcBef>
                <a:spcPct val="0"/>
              </a:spcBef>
            </a:pPr>
            <a:r>
              <a:rPr lang="en-US" sz="1650">
                <a:solidFill>
                  <a:srgbClr val="FFFFFF"/>
                </a:solidFill>
                <a:latin typeface="Archivo Black"/>
                <a:ea typeface="Archivo Black"/>
                <a:cs typeface="Archivo Black"/>
                <a:sym typeface="Archivo Black"/>
              </a:rPr>
              <a:t>- Se puede agregar más servidores y la estructura sigue funcionando.</a:t>
            </a:r>
          </a:p>
        </p:txBody>
      </p:sp>
      <p:sp>
        <p:nvSpPr>
          <p:cNvPr name="TextBox 32" id="32"/>
          <p:cNvSpPr txBox="true"/>
          <p:nvPr/>
        </p:nvSpPr>
        <p:spPr>
          <a:xfrm rot="0">
            <a:off x="12081269" y="1021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1028700" y="-2263140"/>
            <a:ext cx="17340240" cy="12550140"/>
            <a:chOff x="0" y="0"/>
            <a:chExt cx="1321356" cy="956342"/>
          </a:xfrm>
        </p:grpSpPr>
        <p:sp>
          <p:nvSpPr>
            <p:cNvPr name="Freeform 3" id="3"/>
            <p:cNvSpPr/>
            <p:nvPr/>
          </p:nvSpPr>
          <p:spPr>
            <a:xfrm flipH="false" flipV="false" rot="0">
              <a:off x="0" y="0"/>
              <a:ext cx="1321356" cy="956342"/>
            </a:xfrm>
            <a:custGeom>
              <a:avLst/>
              <a:gdLst/>
              <a:ahLst/>
              <a:cxnLst/>
              <a:rect r="r" b="b" t="t" l="l"/>
              <a:pathLst>
                <a:path h="956342" w="1321356">
                  <a:moveTo>
                    <a:pt x="0" y="956342"/>
                  </a:moveTo>
                  <a:cubicBezTo>
                    <a:pt x="0" y="704479"/>
                    <a:pt x="140947" y="458201"/>
                    <a:pt x="387016" y="280106"/>
                  </a:cubicBezTo>
                  <a:cubicBezTo>
                    <a:pt x="633086" y="102011"/>
                    <a:pt x="973362" y="0"/>
                    <a:pt x="1321356" y="0"/>
                  </a:cubicBezTo>
                  <a:lnTo>
                    <a:pt x="1321356" y="956342"/>
                  </a:lnTo>
                  <a:lnTo>
                    <a:pt x="0" y="956342"/>
                  </a:lnTo>
                  <a:close/>
                </a:path>
              </a:pathLst>
            </a:custGeom>
            <a:solidFill>
              <a:srgbClr val="F1A372"/>
            </a:solidFill>
            <a:ln w="38100" cap="sq">
              <a:solidFill>
                <a:srgbClr val="FFFFFF"/>
              </a:solidFill>
              <a:prstDash val="solid"/>
              <a:miter/>
            </a:ln>
          </p:spPr>
        </p:sp>
        <p:sp>
          <p:nvSpPr>
            <p:cNvPr name="TextBox 4" id="4"/>
            <p:cNvSpPr txBox="true"/>
            <p:nvPr/>
          </p:nvSpPr>
          <p:spPr>
            <a:xfrm>
              <a:off x="390401" y="244456"/>
              <a:ext cx="930955" cy="71188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184090"/>
            <a:ext cx="18288000" cy="1736131"/>
            <a:chOff x="0" y="0"/>
            <a:chExt cx="7742310" cy="734999"/>
          </a:xfrm>
        </p:grpSpPr>
        <p:sp>
          <p:nvSpPr>
            <p:cNvPr name="Freeform 6" id="6"/>
            <p:cNvSpPr/>
            <p:nvPr/>
          </p:nvSpPr>
          <p:spPr>
            <a:xfrm flipH="false" flipV="false" rot="0">
              <a:off x="0" y="0"/>
              <a:ext cx="7742310" cy="734999"/>
            </a:xfrm>
            <a:custGeom>
              <a:avLst/>
              <a:gdLst/>
              <a:ahLst/>
              <a:cxnLst/>
              <a:rect r="r" b="b" t="t" l="l"/>
              <a:pathLst>
                <a:path h="734999" w="7742310">
                  <a:moveTo>
                    <a:pt x="0" y="0"/>
                  </a:moveTo>
                  <a:lnTo>
                    <a:pt x="7742310" y="0"/>
                  </a:lnTo>
                  <a:lnTo>
                    <a:pt x="7742310" y="734999"/>
                  </a:lnTo>
                  <a:lnTo>
                    <a:pt x="0" y="734999"/>
                  </a:lnTo>
                  <a:close/>
                </a:path>
              </a:pathLst>
            </a:custGeom>
            <a:solidFill>
              <a:srgbClr val="F8DCBF"/>
            </a:solidFill>
          </p:spPr>
        </p:sp>
        <p:sp>
          <p:nvSpPr>
            <p:cNvPr name="TextBox 7" id="7"/>
            <p:cNvSpPr txBox="true"/>
            <p:nvPr/>
          </p:nvSpPr>
          <p:spPr>
            <a:xfrm>
              <a:off x="0" y="-38100"/>
              <a:ext cx="7742310" cy="773099"/>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297115" y="353501"/>
            <a:ext cx="11551682" cy="1382905"/>
            <a:chOff x="0" y="0"/>
            <a:chExt cx="5622951" cy="673149"/>
          </a:xfrm>
        </p:grpSpPr>
        <p:sp>
          <p:nvSpPr>
            <p:cNvPr name="Freeform 9" id="9"/>
            <p:cNvSpPr/>
            <p:nvPr/>
          </p:nvSpPr>
          <p:spPr>
            <a:xfrm flipH="false" flipV="false" rot="0">
              <a:off x="0" y="0"/>
              <a:ext cx="5622951" cy="673149"/>
            </a:xfrm>
            <a:custGeom>
              <a:avLst/>
              <a:gdLst/>
              <a:ahLst/>
              <a:cxnLst/>
              <a:rect r="r" b="b" t="t" l="l"/>
              <a:pathLst>
                <a:path h="673149" w="5622951">
                  <a:moveTo>
                    <a:pt x="5543533" y="0"/>
                  </a:moveTo>
                  <a:lnTo>
                    <a:pt x="79418" y="0"/>
                  </a:lnTo>
                  <a:cubicBezTo>
                    <a:pt x="79418" y="43699"/>
                    <a:pt x="44079" y="79418"/>
                    <a:pt x="0" y="79418"/>
                  </a:cubicBezTo>
                  <a:lnTo>
                    <a:pt x="0" y="593731"/>
                  </a:lnTo>
                  <a:cubicBezTo>
                    <a:pt x="43699" y="593731"/>
                    <a:pt x="79418" y="629070"/>
                    <a:pt x="79418" y="673149"/>
                  </a:cubicBezTo>
                  <a:lnTo>
                    <a:pt x="5543533" y="673149"/>
                  </a:lnTo>
                  <a:cubicBezTo>
                    <a:pt x="5543533" y="629450"/>
                    <a:pt x="5578872" y="593731"/>
                    <a:pt x="5622951" y="593731"/>
                  </a:cubicBezTo>
                  <a:lnTo>
                    <a:pt x="5622951" y="79418"/>
                  </a:lnTo>
                  <a:cubicBezTo>
                    <a:pt x="5579252" y="79418"/>
                    <a:pt x="5543533" y="44079"/>
                    <a:pt x="5543533" y="0"/>
                  </a:cubicBezTo>
                  <a:close/>
                </a:path>
              </a:pathLst>
            </a:custGeom>
            <a:solidFill>
              <a:srgbClr val="DC8651"/>
            </a:solidFill>
            <a:ln w="323850" cap="sq">
              <a:solidFill>
                <a:srgbClr val="F1A372"/>
              </a:solidFill>
              <a:prstDash val="solid"/>
              <a:miter/>
            </a:ln>
          </p:spPr>
        </p:sp>
        <p:sp>
          <p:nvSpPr>
            <p:cNvPr name="TextBox 10" id="10"/>
            <p:cNvSpPr txBox="true"/>
            <p:nvPr/>
          </p:nvSpPr>
          <p:spPr>
            <a:xfrm>
              <a:off x="38100" y="0"/>
              <a:ext cx="5546751" cy="635049"/>
            </a:xfrm>
            <a:prstGeom prst="rect">
              <a:avLst/>
            </a:prstGeom>
          </p:spPr>
          <p:txBody>
            <a:bodyPr anchor="ctr" rtlCol="false" tIns="41176" lIns="41176" bIns="41176" rIns="41176"/>
            <a:lstStyle/>
            <a:p>
              <a:pPr algn="ctr">
                <a:lnSpc>
                  <a:spcPts val="2659"/>
                </a:lnSpc>
              </a:pPr>
            </a:p>
          </p:txBody>
        </p:sp>
      </p:grpSp>
      <p:grpSp>
        <p:nvGrpSpPr>
          <p:cNvPr name="Group 11" id="11"/>
          <p:cNvGrpSpPr/>
          <p:nvPr/>
        </p:nvGrpSpPr>
        <p:grpSpPr>
          <a:xfrm rot="0">
            <a:off x="-89624" y="2217654"/>
            <a:ext cx="11308171" cy="8069346"/>
            <a:chOff x="0" y="0"/>
            <a:chExt cx="2187177" cy="1560738"/>
          </a:xfrm>
        </p:grpSpPr>
        <p:sp>
          <p:nvSpPr>
            <p:cNvPr name="Freeform 12" id="12"/>
            <p:cNvSpPr/>
            <p:nvPr/>
          </p:nvSpPr>
          <p:spPr>
            <a:xfrm flipH="false" flipV="false" rot="0">
              <a:off x="0" y="0"/>
              <a:ext cx="2187177" cy="1560738"/>
            </a:xfrm>
            <a:custGeom>
              <a:avLst/>
              <a:gdLst/>
              <a:ahLst/>
              <a:cxnLst/>
              <a:rect r="r" b="b" t="t" l="l"/>
              <a:pathLst>
                <a:path h="1560738" w="2187177">
                  <a:moveTo>
                    <a:pt x="2187177" y="1560738"/>
                  </a:moveTo>
                  <a:lnTo>
                    <a:pt x="0" y="1560738"/>
                  </a:lnTo>
                  <a:lnTo>
                    <a:pt x="0" y="0"/>
                  </a:lnTo>
                  <a:lnTo>
                    <a:pt x="2187177" y="1560738"/>
                  </a:lnTo>
                  <a:close/>
                </a:path>
              </a:pathLst>
            </a:custGeom>
            <a:solidFill>
              <a:srgbClr val="DC8651"/>
            </a:solidFill>
            <a:ln w="38100" cap="sq">
              <a:solidFill>
                <a:srgbClr val="FFFFFF"/>
              </a:solidFill>
              <a:prstDash val="solid"/>
              <a:miter/>
            </a:ln>
          </p:spPr>
        </p:sp>
        <p:sp>
          <p:nvSpPr>
            <p:cNvPr name="TextBox 13" id="13"/>
            <p:cNvSpPr txBox="true"/>
            <p:nvPr/>
          </p:nvSpPr>
          <p:spPr>
            <a:xfrm>
              <a:off x="0" y="742269"/>
              <a:ext cx="1093589" cy="81514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208441" y="2217654"/>
            <a:ext cx="13871119" cy="2588665"/>
            <a:chOff x="0" y="0"/>
            <a:chExt cx="18494825" cy="3451553"/>
          </a:xfrm>
        </p:grpSpPr>
        <p:grpSp>
          <p:nvGrpSpPr>
            <p:cNvPr name="Group 15" id="15"/>
            <p:cNvGrpSpPr/>
            <p:nvPr/>
          </p:nvGrpSpPr>
          <p:grpSpPr>
            <a:xfrm rot="0">
              <a:off x="0" y="0"/>
              <a:ext cx="18494825" cy="3451553"/>
              <a:chOff x="0" y="0"/>
              <a:chExt cx="1315560" cy="245513"/>
            </a:xfrm>
          </p:grpSpPr>
          <p:sp>
            <p:nvSpPr>
              <p:cNvPr name="Freeform 16" id="16"/>
              <p:cNvSpPr/>
              <p:nvPr/>
            </p:nvSpPr>
            <p:spPr>
              <a:xfrm flipH="false" flipV="false" rot="0">
                <a:off x="0" y="0"/>
                <a:ext cx="1315560" cy="245513"/>
              </a:xfrm>
              <a:custGeom>
                <a:avLst/>
                <a:gdLst/>
                <a:ahLst/>
                <a:cxnLst/>
                <a:rect r="r" b="b" t="t" l="l"/>
                <a:pathLst>
                  <a:path h="245513" w="1315560">
                    <a:moveTo>
                      <a:pt x="10901" y="0"/>
                    </a:moveTo>
                    <a:lnTo>
                      <a:pt x="1304659" y="0"/>
                    </a:lnTo>
                    <a:cubicBezTo>
                      <a:pt x="1310679" y="0"/>
                      <a:pt x="1315560" y="4881"/>
                      <a:pt x="1315560" y="10901"/>
                    </a:cubicBezTo>
                    <a:lnTo>
                      <a:pt x="1315560" y="234612"/>
                    </a:lnTo>
                    <a:cubicBezTo>
                      <a:pt x="1315560" y="237503"/>
                      <a:pt x="1314411" y="240276"/>
                      <a:pt x="1312367" y="242320"/>
                    </a:cubicBezTo>
                    <a:cubicBezTo>
                      <a:pt x="1310323" y="244365"/>
                      <a:pt x="1307550" y="245513"/>
                      <a:pt x="1304659" y="245513"/>
                    </a:cubicBezTo>
                    <a:lnTo>
                      <a:pt x="10901" y="245513"/>
                    </a:lnTo>
                    <a:cubicBezTo>
                      <a:pt x="8010" y="245513"/>
                      <a:pt x="5237" y="244365"/>
                      <a:pt x="3193" y="242320"/>
                    </a:cubicBezTo>
                    <a:cubicBezTo>
                      <a:pt x="1148" y="240276"/>
                      <a:pt x="0" y="237503"/>
                      <a:pt x="0" y="234612"/>
                    </a:cubicBezTo>
                    <a:lnTo>
                      <a:pt x="0" y="10901"/>
                    </a:lnTo>
                    <a:cubicBezTo>
                      <a:pt x="0" y="8010"/>
                      <a:pt x="1148" y="5237"/>
                      <a:pt x="3193" y="3193"/>
                    </a:cubicBezTo>
                    <a:cubicBezTo>
                      <a:pt x="5237" y="1148"/>
                      <a:pt x="8010" y="0"/>
                      <a:pt x="10901" y="0"/>
                    </a:cubicBezTo>
                    <a:close/>
                  </a:path>
                </a:pathLst>
              </a:custGeom>
              <a:solidFill>
                <a:srgbClr val="5BB5DC"/>
              </a:solidFill>
              <a:ln w="133350" cap="rnd">
                <a:solidFill>
                  <a:srgbClr val="F8DCBF"/>
                </a:solidFill>
                <a:prstDash val="solid"/>
                <a:round/>
              </a:ln>
            </p:spPr>
          </p:sp>
          <p:sp>
            <p:nvSpPr>
              <p:cNvPr name="TextBox 17" id="17"/>
              <p:cNvSpPr txBox="true"/>
              <p:nvPr/>
            </p:nvSpPr>
            <p:spPr>
              <a:xfrm>
                <a:off x="0" y="-66675"/>
                <a:ext cx="1315560" cy="312188"/>
              </a:xfrm>
              <a:prstGeom prst="rect">
                <a:avLst/>
              </a:prstGeom>
            </p:spPr>
            <p:txBody>
              <a:bodyPr anchor="ctr" rtlCol="false" tIns="41176" lIns="41176" bIns="41176" rIns="41176"/>
              <a:lstStyle/>
              <a:p>
                <a:pPr algn="ctr">
                  <a:lnSpc>
                    <a:spcPts val="3919"/>
                  </a:lnSpc>
                </a:pPr>
              </a:p>
            </p:txBody>
          </p:sp>
        </p:grpSp>
        <p:sp>
          <p:nvSpPr>
            <p:cNvPr name="TextBox 18" id="18"/>
            <p:cNvSpPr txBox="true"/>
            <p:nvPr/>
          </p:nvSpPr>
          <p:spPr>
            <a:xfrm rot="0">
              <a:off x="254794" y="177705"/>
              <a:ext cx="17971963" cy="3273848"/>
            </a:xfrm>
            <a:prstGeom prst="rect">
              <a:avLst/>
            </a:prstGeom>
          </p:spPr>
          <p:txBody>
            <a:bodyPr anchor="t" rtlCol="false" tIns="0" lIns="0" bIns="0" rIns="0">
              <a:spAutoFit/>
            </a:bodyPr>
            <a:lstStyle/>
            <a:p>
              <a:pPr algn="l">
                <a:lnSpc>
                  <a:spcPts val="3919"/>
                </a:lnSpc>
              </a:pPr>
              <a:r>
                <a:rPr lang="en-US" sz="2799">
                  <a:solidFill>
                    <a:srgbClr val="FFFFFF"/>
                  </a:solidFill>
                  <a:latin typeface="Archivo Black"/>
                  <a:ea typeface="Archivo Black"/>
                  <a:cs typeface="Archivo Black"/>
                  <a:sym typeface="Archivo Black"/>
                </a:rPr>
                <a:t>La recursividad aparece principalmente en la gestión de carpetas y subcarpetas, usando el árbol general de la clase nodoArbol, donde una carpeta puede contener otras carpetas, y esas carpetas pueden contener más carpetas, y así hasta donde el usuario quiera.</a:t>
              </a:r>
            </a:p>
            <a:p>
              <a:pPr algn="l">
                <a:lnSpc>
                  <a:spcPts val="3919"/>
                </a:lnSpc>
                <a:spcBef>
                  <a:spcPct val="0"/>
                </a:spcBef>
              </a:pPr>
            </a:p>
          </p:txBody>
        </p:sp>
      </p:grpSp>
      <p:sp>
        <p:nvSpPr>
          <p:cNvPr name="TextBox 19" id="19"/>
          <p:cNvSpPr txBox="true"/>
          <p:nvPr/>
        </p:nvSpPr>
        <p:spPr>
          <a:xfrm rot="0">
            <a:off x="686039" y="694594"/>
            <a:ext cx="10842835"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Recursividad en la estructura de carpetas</a:t>
            </a:r>
          </a:p>
        </p:txBody>
      </p:sp>
      <p:grpSp>
        <p:nvGrpSpPr>
          <p:cNvPr name="Group 20" id="20"/>
          <p:cNvGrpSpPr/>
          <p:nvPr/>
        </p:nvGrpSpPr>
        <p:grpSpPr>
          <a:xfrm rot="0">
            <a:off x="7152685" y="4993169"/>
            <a:ext cx="10648125" cy="5183045"/>
            <a:chOff x="0" y="0"/>
            <a:chExt cx="14197499" cy="6910726"/>
          </a:xfrm>
        </p:grpSpPr>
        <p:grpSp>
          <p:nvGrpSpPr>
            <p:cNvPr name="Group 21" id="21"/>
            <p:cNvGrpSpPr/>
            <p:nvPr/>
          </p:nvGrpSpPr>
          <p:grpSpPr>
            <a:xfrm rot="0">
              <a:off x="0" y="0"/>
              <a:ext cx="14197499" cy="6910726"/>
              <a:chOff x="0" y="0"/>
              <a:chExt cx="1028804" cy="500777"/>
            </a:xfrm>
          </p:grpSpPr>
          <p:sp>
            <p:nvSpPr>
              <p:cNvPr name="Freeform 22" id="22"/>
              <p:cNvSpPr/>
              <p:nvPr/>
            </p:nvSpPr>
            <p:spPr>
              <a:xfrm flipH="false" flipV="false" rot="0">
                <a:off x="0" y="0"/>
                <a:ext cx="1028804" cy="500777"/>
              </a:xfrm>
              <a:custGeom>
                <a:avLst/>
                <a:gdLst/>
                <a:ahLst/>
                <a:cxnLst/>
                <a:rect r="r" b="b" t="t" l="l"/>
                <a:pathLst>
                  <a:path h="500777" w="1028804">
                    <a:moveTo>
                      <a:pt x="14201" y="0"/>
                    </a:moveTo>
                    <a:lnTo>
                      <a:pt x="1014604" y="0"/>
                    </a:lnTo>
                    <a:cubicBezTo>
                      <a:pt x="1022446" y="0"/>
                      <a:pt x="1028804" y="6358"/>
                      <a:pt x="1028804" y="14201"/>
                    </a:cubicBezTo>
                    <a:lnTo>
                      <a:pt x="1028804" y="486577"/>
                    </a:lnTo>
                    <a:cubicBezTo>
                      <a:pt x="1028804" y="494419"/>
                      <a:pt x="1022446" y="500777"/>
                      <a:pt x="1014604" y="500777"/>
                    </a:cubicBezTo>
                    <a:lnTo>
                      <a:pt x="14201" y="500777"/>
                    </a:lnTo>
                    <a:cubicBezTo>
                      <a:pt x="6358" y="500777"/>
                      <a:pt x="0" y="494419"/>
                      <a:pt x="0" y="486577"/>
                    </a:cubicBezTo>
                    <a:lnTo>
                      <a:pt x="0" y="14201"/>
                    </a:lnTo>
                    <a:cubicBezTo>
                      <a:pt x="0" y="6358"/>
                      <a:pt x="6358" y="0"/>
                      <a:pt x="14201" y="0"/>
                    </a:cubicBezTo>
                    <a:close/>
                  </a:path>
                </a:pathLst>
              </a:custGeom>
              <a:solidFill>
                <a:srgbClr val="5BB5DC"/>
              </a:solidFill>
              <a:ln w="133350" cap="rnd">
                <a:solidFill>
                  <a:srgbClr val="F8DCBF"/>
                </a:solidFill>
                <a:prstDash val="solid"/>
                <a:round/>
              </a:ln>
            </p:spPr>
          </p:sp>
          <p:sp>
            <p:nvSpPr>
              <p:cNvPr name="TextBox 23" id="23"/>
              <p:cNvSpPr txBox="true"/>
              <p:nvPr/>
            </p:nvSpPr>
            <p:spPr>
              <a:xfrm>
                <a:off x="0" y="-47625"/>
                <a:ext cx="1028804" cy="548402"/>
              </a:xfrm>
              <a:prstGeom prst="rect">
                <a:avLst/>
              </a:prstGeom>
            </p:spPr>
            <p:txBody>
              <a:bodyPr anchor="ctr" rtlCol="false" tIns="41176" lIns="41176" bIns="41176" rIns="41176"/>
              <a:lstStyle/>
              <a:p>
                <a:pPr algn="ctr">
                  <a:lnSpc>
                    <a:spcPts val="2800"/>
                  </a:lnSpc>
                </a:pPr>
              </a:p>
            </p:txBody>
          </p:sp>
        </p:grpSp>
        <p:sp>
          <p:nvSpPr>
            <p:cNvPr name="TextBox 24" id="24"/>
            <p:cNvSpPr txBox="true"/>
            <p:nvPr/>
          </p:nvSpPr>
          <p:spPr>
            <a:xfrm rot="0">
              <a:off x="717876" y="352984"/>
              <a:ext cx="12761747" cy="60885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Eso genera una estructura natural de tipo árbol, donde cada nodo puede tener muchos hijos.</a:t>
              </a:r>
            </a:p>
            <a:p>
              <a:pPr algn="l">
                <a:lnSpc>
                  <a:spcPts val="2800"/>
                </a:lnSpc>
              </a:pPr>
              <a:r>
                <a:rPr lang="en-US" sz="2000">
                  <a:solidFill>
                    <a:srgbClr val="FFFFFF"/>
                  </a:solidFill>
                  <a:latin typeface="Archivo Black"/>
                  <a:ea typeface="Archivo Black"/>
                  <a:cs typeface="Archivo Black"/>
                  <a:sym typeface="Archivo Black"/>
                </a:rPr>
                <a:t>Para trabajar sobre esa estructura, las funciones más importantes son recursivas:</a:t>
              </a:r>
            </a:p>
            <a:p>
              <a:pPr algn="l">
                <a:lnSpc>
                  <a:spcPts val="2800"/>
                </a:lnSpc>
              </a:pPr>
              <a:r>
                <a:rPr lang="en-US" sz="2000">
                  <a:solidFill>
                    <a:srgbClr val="FFFFFF"/>
                  </a:solidFill>
                  <a:latin typeface="Archivo Black"/>
                  <a:ea typeface="Archivo Black"/>
                  <a:cs typeface="Archivo Black"/>
                  <a:sym typeface="Archivo Black"/>
                </a:rPr>
                <a:t>- buscar_subcarpeta(nombre)</a:t>
              </a:r>
            </a:p>
            <a:p>
              <a:pPr algn="l">
                <a:lnSpc>
                  <a:spcPts val="2800"/>
                </a:lnSpc>
              </a:pPr>
              <a:r>
                <a:rPr lang="en-US" sz="2000">
                  <a:solidFill>
                    <a:srgbClr val="FFFFFF"/>
                  </a:solidFill>
                  <a:latin typeface="Archivo Black"/>
                  <a:ea typeface="Archivo Black"/>
                  <a:cs typeface="Archivo Black"/>
                  <a:sym typeface="Archivo Black"/>
                </a:rPr>
                <a:t>           - Si el nombre coincide con la carpeta actual, la carpeta buscada es encontrada.</a:t>
              </a:r>
            </a:p>
            <a:p>
              <a:pPr algn="l">
                <a:lnSpc>
                  <a:spcPts val="2800"/>
                </a:lnSpc>
              </a:pPr>
              <a:r>
                <a:rPr lang="en-US" sz="2000">
                  <a:solidFill>
                    <a:srgbClr val="FFFFFF"/>
                  </a:solidFill>
                  <a:latin typeface="Archivo Black"/>
                  <a:ea typeface="Archivo Black"/>
                  <a:cs typeface="Archivo Black"/>
                  <a:sym typeface="Archivo Black"/>
                </a:rPr>
                <a:t>           - De lo contrario, se llama a sí misma dentro de cada subcarpeta.</a:t>
              </a:r>
            </a:p>
            <a:p>
              <a:pPr algn="l">
                <a:lnSpc>
                  <a:spcPts val="2800"/>
                </a:lnSpc>
              </a:pPr>
              <a:r>
                <a:rPr lang="en-US" sz="2000">
                  <a:solidFill>
                    <a:srgbClr val="FFFFFF"/>
                  </a:solidFill>
                  <a:latin typeface="Archivo Black"/>
                  <a:ea typeface="Archivo Black"/>
                  <a:cs typeface="Archivo Black"/>
                  <a:sym typeface="Archivo Black"/>
                </a:rPr>
                <a:t>- listar_contenido()</a:t>
              </a:r>
            </a:p>
            <a:p>
              <a:pPr algn="l">
                <a:lnSpc>
                  <a:spcPts val="2800"/>
                </a:lnSpc>
              </a:pPr>
              <a:r>
                <a:rPr lang="en-US" sz="2000">
                  <a:solidFill>
                    <a:srgbClr val="FFFFFF"/>
                  </a:solidFill>
                  <a:latin typeface="Archivo Black"/>
                  <a:ea typeface="Archivo Black"/>
                  <a:cs typeface="Archivo Black"/>
                  <a:sym typeface="Archivo Black"/>
                </a:rPr>
                <a:t>           - Muestra la carpeta actual.</a:t>
              </a:r>
            </a:p>
            <a:p>
              <a:pPr algn="l">
                <a:lnSpc>
                  <a:spcPts val="2800"/>
                </a:lnSpc>
              </a:pPr>
              <a:r>
                <a:rPr lang="en-US" sz="2000">
                  <a:solidFill>
                    <a:srgbClr val="FFFFFF"/>
                  </a:solidFill>
                  <a:latin typeface="Archivo Black"/>
                  <a:ea typeface="Archivo Black"/>
                  <a:cs typeface="Archivo Black"/>
                  <a:sym typeface="Archivo Black"/>
                </a:rPr>
                <a:t>           - Después vuelve a llamarse para cada subcarpeta.</a:t>
              </a:r>
            </a:p>
            <a:p>
              <a:pPr algn="l">
                <a:lnSpc>
                  <a:spcPts val="2800"/>
                </a:lnSpc>
                <a:spcBef>
                  <a:spcPct val="0"/>
                </a:spcBef>
              </a:pPr>
              <a:r>
                <a:rPr lang="en-US" sz="2000">
                  <a:solidFill>
                    <a:srgbClr val="FFFFFF"/>
                  </a:solidFill>
                  <a:latin typeface="Archivo Black"/>
                  <a:ea typeface="Archivo Black"/>
                  <a:cs typeface="Archivo Black"/>
                  <a:sym typeface="Archivo Black"/>
                </a:rPr>
                <a:t>           - Así se va recorriendo todo el árbol “hacia abajo”.</a:t>
              </a:r>
            </a:p>
          </p:txBody>
        </p:sp>
      </p:grpSp>
      <p:grpSp>
        <p:nvGrpSpPr>
          <p:cNvPr name="Group 25" id="25"/>
          <p:cNvGrpSpPr/>
          <p:nvPr/>
        </p:nvGrpSpPr>
        <p:grpSpPr>
          <a:xfrm rot="0">
            <a:off x="297115" y="4993169"/>
            <a:ext cx="6637249" cy="4820594"/>
            <a:chOff x="0" y="0"/>
            <a:chExt cx="1183350" cy="859460"/>
          </a:xfrm>
        </p:grpSpPr>
        <p:sp>
          <p:nvSpPr>
            <p:cNvPr name="Freeform 26" id="26"/>
            <p:cNvSpPr/>
            <p:nvPr/>
          </p:nvSpPr>
          <p:spPr>
            <a:xfrm flipH="false" flipV="false" rot="0">
              <a:off x="0" y="0"/>
              <a:ext cx="1183350" cy="859460"/>
            </a:xfrm>
            <a:custGeom>
              <a:avLst/>
              <a:gdLst/>
              <a:ahLst/>
              <a:cxnLst/>
              <a:rect r="r" b="b" t="t" l="l"/>
              <a:pathLst>
                <a:path h="859460" w="1183350">
                  <a:moveTo>
                    <a:pt x="22782" y="0"/>
                  </a:moveTo>
                  <a:lnTo>
                    <a:pt x="1160568" y="0"/>
                  </a:lnTo>
                  <a:cubicBezTo>
                    <a:pt x="1166610" y="0"/>
                    <a:pt x="1172405" y="2400"/>
                    <a:pt x="1176677" y="6673"/>
                  </a:cubicBezTo>
                  <a:cubicBezTo>
                    <a:pt x="1180950" y="10945"/>
                    <a:pt x="1183350" y="16740"/>
                    <a:pt x="1183350" y="22782"/>
                  </a:cubicBezTo>
                  <a:lnTo>
                    <a:pt x="1183350" y="836678"/>
                  </a:lnTo>
                  <a:cubicBezTo>
                    <a:pt x="1183350" y="842720"/>
                    <a:pt x="1180950" y="848515"/>
                    <a:pt x="1176677" y="852787"/>
                  </a:cubicBezTo>
                  <a:cubicBezTo>
                    <a:pt x="1172405" y="857060"/>
                    <a:pt x="1166610" y="859460"/>
                    <a:pt x="1160568" y="859460"/>
                  </a:cubicBezTo>
                  <a:lnTo>
                    <a:pt x="22782" y="859460"/>
                  </a:lnTo>
                  <a:cubicBezTo>
                    <a:pt x="16740" y="859460"/>
                    <a:pt x="10945" y="857060"/>
                    <a:pt x="6673" y="852787"/>
                  </a:cubicBezTo>
                  <a:cubicBezTo>
                    <a:pt x="2400" y="848515"/>
                    <a:pt x="0" y="842720"/>
                    <a:pt x="0" y="836678"/>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27" id="27"/>
            <p:cNvSpPr txBox="true"/>
            <p:nvPr/>
          </p:nvSpPr>
          <p:spPr>
            <a:xfrm>
              <a:off x="0" y="-38100"/>
              <a:ext cx="1183350" cy="897560"/>
            </a:xfrm>
            <a:prstGeom prst="rect">
              <a:avLst/>
            </a:prstGeom>
          </p:spPr>
          <p:txBody>
            <a:bodyPr anchor="ctr" rtlCol="false" tIns="41176" lIns="41176" bIns="41176" rIns="41176"/>
            <a:lstStyle/>
            <a:p>
              <a:pPr algn="ctr">
                <a:lnSpc>
                  <a:spcPts val="2659"/>
                </a:lnSpc>
              </a:pPr>
            </a:p>
          </p:txBody>
        </p:sp>
      </p:grpSp>
      <p:sp>
        <p:nvSpPr>
          <p:cNvPr name="TextBox 28" id="28"/>
          <p:cNvSpPr txBox="true"/>
          <p:nvPr/>
        </p:nvSpPr>
        <p:spPr>
          <a:xfrm rot="0">
            <a:off x="489227" y="5165762"/>
            <a:ext cx="6253025" cy="4453255"/>
          </a:xfrm>
          <a:prstGeom prst="rect">
            <a:avLst/>
          </a:prstGeom>
        </p:spPr>
        <p:txBody>
          <a:bodyPr anchor="t" rtlCol="false" tIns="0" lIns="0" bIns="0" rIns="0">
            <a:spAutoFit/>
          </a:bodyPr>
          <a:lstStyle/>
          <a:p>
            <a:pPr algn="l">
              <a:lnSpc>
                <a:spcPts val="3919"/>
              </a:lnSpc>
            </a:pPr>
            <a:r>
              <a:rPr lang="en-US" sz="2799">
                <a:solidFill>
                  <a:srgbClr val="FFFFFF"/>
                </a:solidFill>
                <a:latin typeface="Archivo Black"/>
                <a:ea typeface="Archivo Black"/>
                <a:cs typeface="Archivo Black"/>
                <a:sym typeface="Archivo Black"/>
              </a:rPr>
              <a:t>Se eligió porque:</a:t>
            </a:r>
          </a:p>
          <a:p>
            <a:pPr algn="l">
              <a:lnSpc>
                <a:spcPts val="3919"/>
              </a:lnSpc>
              <a:spcBef>
                <a:spcPct val="0"/>
              </a:spcBef>
            </a:pPr>
            <a:r>
              <a:rPr lang="en-US" sz="2799">
                <a:solidFill>
                  <a:srgbClr val="FFFFFF"/>
                </a:solidFill>
                <a:latin typeface="Archivo Black"/>
                <a:ea typeface="Archivo Black"/>
                <a:cs typeface="Archivo Black"/>
                <a:sym typeface="Archivo Black"/>
              </a:rPr>
              <a:t>Al no saber cuántos niveles de carpetas va a crear el usuario, usamos la recursión para que realice esa tarea  automáticamente: se mete tan profundo como el árbol lo permita, sin que tengamos que escribir  bucles anidados.</a:t>
            </a:r>
          </a:p>
        </p:txBody>
      </p:sp>
      <p:sp>
        <p:nvSpPr>
          <p:cNvPr name="TextBox 29" id="29"/>
          <p:cNvSpPr txBox="true"/>
          <p:nvPr/>
        </p:nvSpPr>
        <p:spPr>
          <a:xfrm rot="0">
            <a:off x="12048978" y="738187"/>
            <a:ext cx="5210322" cy="490855"/>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Archivo Black"/>
                <a:ea typeface="Archivo Black"/>
                <a:cs typeface="Archivo Black"/>
                <a:sym typeface="Archivo Black"/>
              </a:rPr>
              <a:t>ESTRUCTURA DE DATOS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184090"/>
            <a:ext cx="18288000" cy="1736131"/>
            <a:chOff x="0" y="0"/>
            <a:chExt cx="7742310" cy="734999"/>
          </a:xfrm>
        </p:grpSpPr>
        <p:sp>
          <p:nvSpPr>
            <p:cNvPr name="Freeform 3" id="3"/>
            <p:cNvSpPr/>
            <p:nvPr/>
          </p:nvSpPr>
          <p:spPr>
            <a:xfrm flipH="false" flipV="false" rot="0">
              <a:off x="0" y="0"/>
              <a:ext cx="7742310" cy="734999"/>
            </a:xfrm>
            <a:custGeom>
              <a:avLst/>
              <a:gdLst/>
              <a:ahLst/>
              <a:cxnLst/>
              <a:rect r="r" b="b" t="t" l="l"/>
              <a:pathLst>
                <a:path h="734999" w="7742310">
                  <a:moveTo>
                    <a:pt x="0" y="0"/>
                  </a:moveTo>
                  <a:lnTo>
                    <a:pt x="7742310" y="0"/>
                  </a:lnTo>
                  <a:lnTo>
                    <a:pt x="7742310" y="734999"/>
                  </a:lnTo>
                  <a:lnTo>
                    <a:pt x="0" y="734999"/>
                  </a:lnTo>
                  <a:close/>
                </a:path>
              </a:pathLst>
            </a:custGeom>
            <a:solidFill>
              <a:srgbClr val="F8DCBF"/>
            </a:solidFill>
          </p:spPr>
        </p:sp>
        <p:sp>
          <p:nvSpPr>
            <p:cNvPr name="TextBox 4" id="4"/>
            <p:cNvSpPr txBox="true"/>
            <p:nvPr/>
          </p:nvSpPr>
          <p:spPr>
            <a:xfrm>
              <a:off x="0" y="-38100"/>
              <a:ext cx="7742310" cy="773099"/>
            </a:xfrm>
            <a:prstGeom prst="rect">
              <a:avLst/>
            </a:prstGeom>
          </p:spPr>
          <p:txBody>
            <a:bodyPr anchor="ctr" rtlCol="false" tIns="41176" lIns="41176" bIns="41176" rIns="41176"/>
            <a:lstStyle/>
            <a:p>
              <a:pPr algn="ctr">
                <a:lnSpc>
                  <a:spcPts val="2659"/>
                </a:lnSpc>
              </a:pPr>
            </a:p>
          </p:txBody>
        </p:sp>
      </p:grpSp>
      <p:grpSp>
        <p:nvGrpSpPr>
          <p:cNvPr name="Group 5" id="5"/>
          <p:cNvGrpSpPr/>
          <p:nvPr/>
        </p:nvGrpSpPr>
        <p:grpSpPr>
          <a:xfrm rot="0">
            <a:off x="297115" y="353501"/>
            <a:ext cx="11551682" cy="1382905"/>
            <a:chOff x="0" y="0"/>
            <a:chExt cx="5622951" cy="673149"/>
          </a:xfrm>
        </p:grpSpPr>
        <p:sp>
          <p:nvSpPr>
            <p:cNvPr name="Freeform 6" id="6"/>
            <p:cNvSpPr/>
            <p:nvPr/>
          </p:nvSpPr>
          <p:spPr>
            <a:xfrm flipH="false" flipV="false" rot="0">
              <a:off x="0" y="0"/>
              <a:ext cx="5622951" cy="673149"/>
            </a:xfrm>
            <a:custGeom>
              <a:avLst/>
              <a:gdLst/>
              <a:ahLst/>
              <a:cxnLst/>
              <a:rect r="r" b="b" t="t" l="l"/>
              <a:pathLst>
                <a:path h="673149" w="5622951">
                  <a:moveTo>
                    <a:pt x="5543533" y="0"/>
                  </a:moveTo>
                  <a:lnTo>
                    <a:pt x="79418" y="0"/>
                  </a:lnTo>
                  <a:cubicBezTo>
                    <a:pt x="79418" y="43699"/>
                    <a:pt x="44079" y="79418"/>
                    <a:pt x="0" y="79418"/>
                  </a:cubicBezTo>
                  <a:lnTo>
                    <a:pt x="0" y="593731"/>
                  </a:lnTo>
                  <a:cubicBezTo>
                    <a:pt x="43699" y="593731"/>
                    <a:pt x="79418" y="629070"/>
                    <a:pt x="79418" y="673149"/>
                  </a:cubicBezTo>
                  <a:lnTo>
                    <a:pt x="5543533" y="673149"/>
                  </a:lnTo>
                  <a:cubicBezTo>
                    <a:pt x="5543533" y="629450"/>
                    <a:pt x="5578872" y="593731"/>
                    <a:pt x="5622951" y="593731"/>
                  </a:cubicBezTo>
                  <a:lnTo>
                    <a:pt x="5622951" y="79418"/>
                  </a:lnTo>
                  <a:cubicBezTo>
                    <a:pt x="5579252" y="79418"/>
                    <a:pt x="5543533" y="44079"/>
                    <a:pt x="5543533" y="0"/>
                  </a:cubicBezTo>
                  <a:close/>
                </a:path>
              </a:pathLst>
            </a:custGeom>
            <a:solidFill>
              <a:srgbClr val="DC8651"/>
            </a:solidFill>
            <a:ln w="323850" cap="sq">
              <a:solidFill>
                <a:srgbClr val="F1A372"/>
              </a:solidFill>
              <a:prstDash val="solid"/>
              <a:miter/>
            </a:ln>
          </p:spPr>
        </p:sp>
        <p:sp>
          <p:nvSpPr>
            <p:cNvPr name="TextBox 7" id="7"/>
            <p:cNvSpPr txBox="true"/>
            <p:nvPr/>
          </p:nvSpPr>
          <p:spPr>
            <a:xfrm>
              <a:off x="38100" y="0"/>
              <a:ext cx="5546751" cy="635049"/>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297115" y="3039013"/>
            <a:ext cx="10705701" cy="2247035"/>
            <a:chOff x="0" y="0"/>
            <a:chExt cx="14274269" cy="2996046"/>
          </a:xfrm>
        </p:grpSpPr>
        <p:grpSp>
          <p:nvGrpSpPr>
            <p:cNvPr name="Group 9" id="9"/>
            <p:cNvGrpSpPr/>
            <p:nvPr/>
          </p:nvGrpSpPr>
          <p:grpSpPr>
            <a:xfrm rot="0">
              <a:off x="0" y="0"/>
              <a:ext cx="14274269" cy="2996046"/>
              <a:chOff x="0" y="0"/>
              <a:chExt cx="1015346" cy="213112"/>
            </a:xfrm>
          </p:grpSpPr>
          <p:sp>
            <p:nvSpPr>
              <p:cNvPr name="Freeform 10" id="10"/>
              <p:cNvSpPr/>
              <p:nvPr/>
            </p:nvSpPr>
            <p:spPr>
              <a:xfrm flipH="false" flipV="false" rot="0">
                <a:off x="0" y="0"/>
                <a:ext cx="1015346" cy="213113"/>
              </a:xfrm>
              <a:custGeom>
                <a:avLst/>
                <a:gdLst/>
                <a:ahLst/>
                <a:cxnLst/>
                <a:rect r="r" b="b" t="t" l="l"/>
                <a:pathLst>
                  <a:path h="213113" w="1015346">
                    <a:moveTo>
                      <a:pt x="14124" y="0"/>
                    </a:moveTo>
                    <a:lnTo>
                      <a:pt x="1001222" y="0"/>
                    </a:lnTo>
                    <a:cubicBezTo>
                      <a:pt x="1009023" y="0"/>
                      <a:pt x="1015346" y="6324"/>
                      <a:pt x="1015346" y="14124"/>
                    </a:cubicBezTo>
                    <a:lnTo>
                      <a:pt x="1015346" y="198988"/>
                    </a:lnTo>
                    <a:cubicBezTo>
                      <a:pt x="1015346" y="202734"/>
                      <a:pt x="1013858" y="206327"/>
                      <a:pt x="1011210" y="208976"/>
                    </a:cubicBezTo>
                    <a:cubicBezTo>
                      <a:pt x="1008561" y="211624"/>
                      <a:pt x="1004968" y="213113"/>
                      <a:pt x="1001222" y="213113"/>
                    </a:cubicBezTo>
                    <a:lnTo>
                      <a:pt x="14124" y="213113"/>
                    </a:lnTo>
                    <a:cubicBezTo>
                      <a:pt x="10378" y="213113"/>
                      <a:pt x="6786" y="211624"/>
                      <a:pt x="4137" y="208976"/>
                    </a:cubicBezTo>
                    <a:cubicBezTo>
                      <a:pt x="1488" y="206327"/>
                      <a:pt x="0" y="202734"/>
                      <a:pt x="0" y="198988"/>
                    </a:cubicBezTo>
                    <a:lnTo>
                      <a:pt x="0" y="14124"/>
                    </a:lnTo>
                    <a:cubicBezTo>
                      <a:pt x="0" y="10378"/>
                      <a:pt x="1488" y="6786"/>
                      <a:pt x="4137" y="4137"/>
                    </a:cubicBezTo>
                    <a:cubicBezTo>
                      <a:pt x="6786" y="1488"/>
                      <a:pt x="10378" y="0"/>
                      <a:pt x="14124" y="0"/>
                    </a:cubicBezTo>
                    <a:close/>
                  </a:path>
                </a:pathLst>
              </a:custGeom>
              <a:solidFill>
                <a:srgbClr val="5BB5DC"/>
              </a:solidFill>
              <a:ln w="133350" cap="rnd">
                <a:solidFill>
                  <a:srgbClr val="F8DCBF"/>
                </a:solidFill>
                <a:prstDash val="solid"/>
                <a:round/>
              </a:ln>
            </p:spPr>
          </p:sp>
          <p:sp>
            <p:nvSpPr>
              <p:cNvPr name="TextBox 11" id="11"/>
              <p:cNvSpPr txBox="true"/>
              <p:nvPr/>
            </p:nvSpPr>
            <p:spPr>
              <a:xfrm>
                <a:off x="0" y="-66675"/>
                <a:ext cx="1015346" cy="279787"/>
              </a:xfrm>
              <a:prstGeom prst="rect">
                <a:avLst/>
              </a:prstGeom>
            </p:spPr>
            <p:txBody>
              <a:bodyPr anchor="ctr" rtlCol="false" tIns="41176" lIns="41176" bIns="41176" rIns="41176"/>
              <a:lstStyle/>
              <a:p>
                <a:pPr algn="ctr">
                  <a:lnSpc>
                    <a:spcPts val="3919"/>
                  </a:lnSpc>
                </a:pPr>
              </a:p>
            </p:txBody>
          </p:sp>
        </p:grpSp>
        <p:sp>
          <p:nvSpPr>
            <p:cNvPr name="TextBox 12" id="12"/>
            <p:cNvSpPr txBox="true"/>
            <p:nvPr/>
          </p:nvSpPr>
          <p:spPr>
            <a:xfrm rot="0">
              <a:off x="196650" y="196755"/>
              <a:ext cx="13870725" cy="27992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En la entrega 3 necesitabas modelar la red de servidores como un grafo, y permitir que un mensaje viaje de un servidor a otro.</a:t>
              </a:r>
            </a:p>
            <a:p>
              <a:pPr algn="l">
                <a:lnSpc>
                  <a:spcPts val="2800"/>
                </a:lnSpc>
              </a:pPr>
              <a:r>
                <a:rPr lang="en-US" sz="2000">
                  <a:solidFill>
                    <a:srgbClr val="FFFFFF"/>
                  </a:solidFill>
                  <a:latin typeface="Archivo Black"/>
                  <a:ea typeface="Archivo Black"/>
                  <a:cs typeface="Archivo Black"/>
                  <a:sym typeface="Archivo Black"/>
                </a:rPr>
                <a:t>El método usado es: bfs_ruta()</a:t>
              </a:r>
            </a:p>
            <a:p>
              <a:pPr algn="l">
                <a:lnSpc>
                  <a:spcPts val="2800"/>
                </a:lnSpc>
              </a:pPr>
              <a:r>
                <a:rPr lang="en-US" sz="2000">
                  <a:solidFill>
                    <a:srgbClr val="FFFFFF"/>
                  </a:solidFill>
                  <a:latin typeface="Archivo Black"/>
                  <a:ea typeface="Archivo Black"/>
                  <a:cs typeface="Archivo Black"/>
                  <a:sym typeface="Archivo Black"/>
                </a:rPr>
                <a:t>Esto implementa BFS (Breadth-First Search), o sea: búsqueda en anchura.</a:t>
              </a:r>
            </a:p>
            <a:p>
              <a:pPr algn="l">
                <a:lnSpc>
                  <a:spcPts val="2800"/>
                </a:lnSpc>
              </a:pPr>
              <a:r>
                <a:rPr lang="en-US" sz="2000">
                  <a:solidFill>
                    <a:srgbClr val="FFFFFF"/>
                  </a:solidFill>
                  <a:latin typeface="Archivo Black"/>
                  <a:ea typeface="Archivo Black"/>
                  <a:cs typeface="Archivo Black"/>
                  <a:sym typeface="Archivo Black"/>
                </a:rPr>
                <a:t>Porque este modelo  garantiza la ruta más corta entre dos servidores.</a:t>
              </a:r>
            </a:p>
            <a:p>
              <a:pPr algn="l">
                <a:lnSpc>
                  <a:spcPts val="2800"/>
                </a:lnSpc>
                <a:spcBef>
                  <a:spcPct val="0"/>
                </a:spcBef>
              </a:pPr>
            </a:p>
          </p:txBody>
        </p:sp>
      </p:grpSp>
      <p:grpSp>
        <p:nvGrpSpPr>
          <p:cNvPr name="Group 13" id="13"/>
          <p:cNvGrpSpPr/>
          <p:nvPr/>
        </p:nvGrpSpPr>
        <p:grpSpPr>
          <a:xfrm rot="0">
            <a:off x="686039" y="5798310"/>
            <a:ext cx="6351925" cy="2716070"/>
            <a:chOff x="0" y="0"/>
            <a:chExt cx="8469233" cy="3621426"/>
          </a:xfrm>
        </p:grpSpPr>
        <p:grpSp>
          <p:nvGrpSpPr>
            <p:cNvPr name="Group 14" id="14"/>
            <p:cNvGrpSpPr/>
            <p:nvPr/>
          </p:nvGrpSpPr>
          <p:grpSpPr>
            <a:xfrm rot="0">
              <a:off x="0" y="0"/>
              <a:ext cx="8469233" cy="3621426"/>
              <a:chOff x="0" y="0"/>
              <a:chExt cx="613712" cy="262422"/>
            </a:xfrm>
          </p:grpSpPr>
          <p:sp>
            <p:nvSpPr>
              <p:cNvPr name="Freeform 15" id="15"/>
              <p:cNvSpPr/>
              <p:nvPr/>
            </p:nvSpPr>
            <p:spPr>
              <a:xfrm flipH="false" flipV="false" rot="0">
                <a:off x="0" y="0"/>
                <a:ext cx="613712" cy="262422"/>
              </a:xfrm>
              <a:custGeom>
                <a:avLst/>
                <a:gdLst/>
                <a:ahLst/>
                <a:cxnLst/>
                <a:rect r="r" b="b" t="t" l="l"/>
                <a:pathLst>
                  <a:path h="262422" w="613712">
                    <a:moveTo>
                      <a:pt x="23805" y="0"/>
                    </a:moveTo>
                    <a:lnTo>
                      <a:pt x="589907" y="0"/>
                    </a:lnTo>
                    <a:cubicBezTo>
                      <a:pt x="596221" y="0"/>
                      <a:pt x="602276" y="2508"/>
                      <a:pt x="606740" y="6972"/>
                    </a:cubicBezTo>
                    <a:cubicBezTo>
                      <a:pt x="611204" y="11437"/>
                      <a:pt x="613712" y="17492"/>
                      <a:pt x="613712" y="23805"/>
                    </a:cubicBezTo>
                    <a:lnTo>
                      <a:pt x="613712" y="238617"/>
                    </a:lnTo>
                    <a:cubicBezTo>
                      <a:pt x="613712" y="251764"/>
                      <a:pt x="603055" y="262422"/>
                      <a:pt x="589907" y="262422"/>
                    </a:cubicBezTo>
                    <a:lnTo>
                      <a:pt x="23805" y="262422"/>
                    </a:lnTo>
                    <a:cubicBezTo>
                      <a:pt x="10658" y="262422"/>
                      <a:pt x="0" y="251764"/>
                      <a:pt x="0" y="238617"/>
                    </a:cubicBezTo>
                    <a:lnTo>
                      <a:pt x="0" y="23805"/>
                    </a:lnTo>
                    <a:cubicBezTo>
                      <a:pt x="0" y="10658"/>
                      <a:pt x="10658" y="0"/>
                      <a:pt x="23805" y="0"/>
                    </a:cubicBezTo>
                    <a:close/>
                  </a:path>
                </a:pathLst>
              </a:custGeom>
              <a:solidFill>
                <a:srgbClr val="5BB5DC"/>
              </a:solidFill>
              <a:ln w="133350" cap="rnd">
                <a:solidFill>
                  <a:srgbClr val="F8DCBF"/>
                </a:solidFill>
                <a:prstDash val="solid"/>
                <a:round/>
              </a:ln>
            </p:spPr>
          </p:sp>
          <p:sp>
            <p:nvSpPr>
              <p:cNvPr name="TextBox 16" id="16"/>
              <p:cNvSpPr txBox="true"/>
              <p:nvPr/>
            </p:nvSpPr>
            <p:spPr>
              <a:xfrm>
                <a:off x="0" y="-38100"/>
                <a:ext cx="613712" cy="300522"/>
              </a:xfrm>
              <a:prstGeom prst="rect">
                <a:avLst/>
              </a:prstGeom>
            </p:spPr>
            <p:txBody>
              <a:bodyPr anchor="ctr" rtlCol="false" tIns="41176" lIns="41176" bIns="41176" rIns="41176"/>
              <a:lstStyle/>
              <a:p>
                <a:pPr algn="ctr">
                  <a:lnSpc>
                    <a:spcPts val="2659"/>
                  </a:lnSpc>
                </a:pPr>
              </a:p>
            </p:txBody>
          </p:sp>
        </p:grpSp>
        <p:sp>
          <p:nvSpPr>
            <p:cNvPr name="TextBox 17" id="17"/>
            <p:cNvSpPr txBox="true"/>
            <p:nvPr/>
          </p:nvSpPr>
          <p:spPr>
            <a:xfrm rot="0">
              <a:off x="428235" y="352984"/>
              <a:ext cx="7612764" cy="27992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DFS en cambio:</a:t>
              </a:r>
            </a:p>
            <a:p>
              <a:pPr algn="l">
                <a:lnSpc>
                  <a:spcPts val="2800"/>
                </a:lnSpc>
              </a:pPr>
              <a:r>
                <a:rPr lang="en-US" sz="2000">
                  <a:solidFill>
                    <a:srgbClr val="FFFFFF"/>
                  </a:solidFill>
                  <a:latin typeface="Archivo Black"/>
                  <a:ea typeface="Archivo Black"/>
                  <a:cs typeface="Archivo Black"/>
                  <a:sym typeface="Archivo Black"/>
                </a:rPr>
                <a:t>Se mete por un camino profundo sin importar si es el más largo.</a:t>
              </a:r>
            </a:p>
            <a:p>
              <a:pPr algn="l">
                <a:lnSpc>
                  <a:spcPts val="2800"/>
                </a:lnSpc>
              </a:pPr>
              <a:r>
                <a:rPr lang="en-US" sz="2000">
                  <a:solidFill>
                    <a:srgbClr val="FFFFFF"/>
                  </a:solidFill>
                  <a:latin typeface="Archivo Black"/>
                  <a:ea typeface="Archivo Black"/>
                  <a:cs typeface="Archivo Black"/>
                  <a:sym typeface="Archivo Black"/>
                </a:rPr>
                <a:t>Podría recorrer media red antes de probar otro camino.</a:t>
              </a:r>
            </a:p>
            <a:p>
              <a:pPr algn="l">
                <a:lnSpc>
                  <a:spcPts val="2800"/>
                </a:lnSpc>
                <a:spcBef>
                  <a:spcPct val="0"/>
                </a:spcBef>
              </a:pPr>
              <a:r>
                <a:rPr lang="en-US" sz="2000">
                  <a:solidFill>
                    <a:srgbClr val="FFFFFF"/>
                  </a:solidFill>
                  <a:latin typeface="Archivo Black"/>
                  <a:ea typeface="Archivo Black"/>
                  <a:cs typeface="Archivo Black"/>
                  <a:sym typeface="Archivo Black"/>
                </a:rPr>
                <a:t>No garantiza la ruta más eficiente.</a:t>
              </a:r>
            </a:p>
          </p:txBody>
        </p:sp>
      </p:grpSp>
      <p:grpSp>
        <p:nvGrpSpPr>
          <p:cNvPr name="Group 18" id="18"/>
          <p:cNvGrpSpPr/>
          <p:nvPr/>
        </p:nvGrpSpPr>
        <p:grpSpPr>
          <a:xfrm rot="0">
            <a:off x="11335515" y="2436850"/>
            <a:ext cx="6637249" cy="3633998"/>
            <a:chOff x="0" y="0"/>
            <a:chExt cx="8849665" cy="4845331"/>
          </a:xfrm>
        </p:grpSpPr>
        <p:grpSp>
          <p:nvGrpSpPr>
            <p:cNvPr name="Group 19" id="19"/>
            <p:cNvGrpSpPr/>
            <p:nvPr/>
          </p:nvGrpSpPr>
          <p:grpSpPr>
            <a:xfrm rot="0">
              <a:off x="0" y="0"/>
              <a:ext cx="8849665" cy="4845331"/>
              <a:chOff x="0" y="0"/>
              <a:chExt cx="1183350" cy="647903"/>
            </a:xfrm>
          </p:grpSpPr>
          <p:sp>
            <p:nvSpPr>
              <p:cNvPr name="Freeform 20" id="20"/>
              <p:cNvSpPr/>
              <p:nvPr/>
            </p:nvSpPr>
            <p:spPr>
              <a:xfrm flipH="false" flipV="false" rot="0">
                <a:off x="0" y="0"/>
                <a:ext cx="1183350" cy="647903"/>
              </a:xfrm>
              <a:custGeom>
                <a:avLst/>
                <a:gdLst/>
                <a:ahLst/>
                <a:cxnLst/>
                <a:rect r="r" b="b" t="t" l="l"/>
                <a:pathLst>
                  <a:path h="647903" w="1183350">
                    <a:moveTo>
                      <a:pt x="22782" y="0"/>
                    </a:moveTo>
                    <a:lnTo>
                      <a:pt x="1160568" y="0"/>
                    </a:lnTo>
                    <a:cubicBezTo>
                      <a:pt x="1166610" y="0"/>
                      <a:pt x="1172405" y="2400"/>
                      <a:pt x="1176677" y="6673"/>
                    </a:cubicBezTo>
                    <a:cubicBezTo>
                      <a:pt x="1180950" y="10945"/>
                      <a:pt x="1183350" y="16740"/>
                      <a:pt x="1183350" y="22782"/>
                    </a:cubicBezTo>
                    <a:lnTo>
                      <a:pt x="1183350" y="625121"/>
                    </a:lnTo>
                    <a:cubicBezTo>
                      <a:pt x="1183350" y="631163"/>
                      <a:pt x="1180950" y="636958"/>
                      <a:pt x="1176677" y="641230"/>
                    </a:cubicBezTo>
                    <a:cubicBezTo>
                      <a:pt x="1172405" y="645503"/>
                      <a:pt x="1166610" y="647903"/>
                      <a:pt x="1160568" y="647903"/>
                    </a:cubicBezTo>
                    <a:lnTo>
                      <a:pt x="22782" y="647903"/>
                    </a:lnTo>
                    <a:cubicBezTo>
                      <a:pt x="16740" y="647903"/>
                      <a:pt x="10945" y="645503"/>
                      <a:pt x="6673" y="641230"/>
                    </a:cubicBezTo>
                    <a:cubicBezTo>
                      <a:pt x="2400" y="636958"/>
                      <a:pt x="0" y="631163"/>
                      <a:pt x="0" y="625121"/>
                    </a:cubicBezTo>
                    <a:lnTo>
                      <a:pt x="0" y="22782"/>
                    </a:lnTo>
                    <a:cubicBezTo>
                      <a:pt x="0" y="16740"/>
                      <a:pt x="2400" y="10945"/>
                      <a:pt x="6673" y="6673"/>
                    </a:cubicBezTo>
                    <a:cubicBezTo>
                      <a:pt x="10945" y="2400"/>
                      <a:pt x="16740" y="0"/>
                      <a:pt x="22782" y="0"/>
                    </a:cubicBezTo>
                    <a:close/>
                  </a:path>
                </a:pathLst>
              </a:custGeom>
              <a:solidFill>
                <a:srgbClr val="5BB5DC"/>
              </a:solidFill>
              <a:ln w="133350" cap="rnd">
                <a:solidFill>
                  <a:srgbClr val="F8DCBF"/>
                </a:solidFill>
                <a:prstDash val="solid"/>
                <a:round/>
              </a:ln>
            </p:spPr>
          </p:sp>
          <p:sp>
            <p:nvSpPr>
              <p:cNvPr name="TextBox 21" id="21"/>
              <p:cNvSpPr txBox="true"/>
              <p:nvPr/>
            </p:nvSpPr>
            <p:spPr>
              <a:xfrm>
                <a:off x="0" y="-38100"/>
                <a:ext cx="1183350" cy="686003"/>
              </a:xfrm>
              <a:prstGeom prst="rect">
                <a:avLst/>
              </a:prstGeom>
            </p:spPr>
            <p:txBody>
              <a:bodyPr anchor="ctr" rtlCol="false" tIns="41176" lIns="41176" bIns="41176" rIns="41176"/>
              <a:lstStyle/>
              <a:p>
                <a:pPr algn="ctr">
                  <a:lnSpc>
                    <a:spcPts val="2659"/>
                  </a:lnSpc>
                </a:pPr>
              </a:p>
            </p:txBody>
          </p:sp>
        </p:grpSp>
        <p:sp>
          <p:nvSpPr>
            <p:cNvPr name="TextBox 22" id="22"/>
            <p:cNvSpPr txBox="true"/>
            <p:nvPr/>
          </p:nvSpPr>
          <p:spPr>
            <a:xfrm rot="0">
              <a:off x="256149" y="271399"/>
              <a:ext cx="8337367" cy="42089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En una red de correo:</a:t>
              </a:r>
            </a:p>
            <a:p>
              <a:pPr algn="l">
                <a:lnSpc>
                  <a:spcPts val="2800"/>
                </a:lnSpc>
              </a:pPr>
              <a:r>
                <a:rPr lang="en-US" sz="2000">
                  <a:solidFill>
                    <a:srgbClr val="FFFFFF"/>
                  </a:solidFill>
                  <a:latin typeface="Archivo Black"/>
                  <a:ea typeface="Archivo Black"/>
                  <a:cs typeface="Archivo Black"/>
                  <a:sym typeface="Archivo Black"/>
                </a:rPr>
                <a:t>El mensaje debería viajar por el camino más corto disponible.</a:t>
              </a:r>
            </a:p>
            <a:p>
              <a:pPr algn="l">
                <a:lnSpc>
                  <a:spcPts val="2800"/>
                </a:lnSpc>
              </a:pPr>
              <a:r>
                <a:rPr lang="en-US" sz="2000">
                  <a:solidFill>
                    <a:srgbClr val="FFFFFF"/>
                  </a:solidFill>
                  <a:latin typeface="Archivo Black"/>
                  <a:ea typeface="Archivo Black"/>
                  <a:cs typeface="Archivo Black"/>
                  <a:sym typeface="Archivo Black"/>
                </a:rPr>
                <a:t>BFS explora niveles completos antes de seguir bajando.</a:t>
              </a:r>
            </a:p>
            <a:p>
              <a:pPr algn="l">
                <a:lnSpc>
                  <a:spcPts val="2800"/>
                </a:lnSpc>
              </a:pPr>
              <a:r>
                <a:rPr lang="en-US" sz="2000">
                  <a:solidFill>
                    <a:srgbClr val="FFFFFF"/>
                  </a:solidFill>
                  <a:latin typeface="Archivo Black"/>
                  <a:ea typeface="Archivo Black"/>
                  <a:cs typeface="Archivo Black"/>
                  <a:sym typeface="Archivo Black"/>
                </a:rPr>
                <a:t>Eso asegura que apenas encuentra el destino, lo hace con la cantidad mínima de saltos entre servidores.</a:t>
              </a:r>
            </a:p>
            <a:p>
              <a:pPr algn="l">
                <a:lnSpc>
                  <a:spcPts val="2800"/>
                </a:lnSpc>
                <a:spcBef>
                  <a:spcPct val="0"/>
                </a:spcBef>
              </a:pPr>
              <a:r>
                <a:rPr lang="en-US" sz="2000">
                  <a:solidFill>
                    <a:srgbClr val="FFFFFF"/>
                  </a:solidFill>
                  <a:latin typeface="Archivo Black"/>
                  <a:ea typeface="Archivo Black"/>
                  <a:cs typeface="Archivo Black"/>
                  <a:sym typeface="Archivo Black"/>
                </a:rPr>
                <a:t>Es más rápido, más eficiente</a:t>
              </a:r>
            </a:p>
          </p:txBody>
        </p:sp>
      </p:grpSp>
      <p:grpSp>
        <p:nvGrpSpPr>
          <p:cNvPr name="Group 23" id="23"/>
          <p:cNvGrpSpPr/>
          <p:nvPr/>
        </p:nvGrpSpPr>
        <p:grpSpPr>
          <a:xfrm rot="0">
            <a:off x="7812660" y="6404840"/>
            <a:ext cx="8472636" cy="2363645"/>
            <a:chOff x="0" y="0"/>
            <a:chExt cx="11296848" cy="3151526"/>
          </a:xfrm>
        </p:grpSpPr>
        <p:grpSp>
          <p:nvGrpSpPr>
            <p:cNvPr name="Group 24" id="24"/>
            <p:cNvGrpSpPr/>
            <p:nvPr/>
          </p:nvGrpSpPr>
          <p:grpSpPr>
            <a:xfrm rot="0">
              <a:off x="0" y="0"/>
              <a:ext cx="11296848" cy="3151526"/>
              <a:chOff x="0" y="0"/>
              <a:chExt cx="818612" cy="228371"/>
            </a:xfrm>
          </p:grpSpPr>
          <p:sp>
            <p:nvSpPr>
              <p:cNvPr name="Freeform 25" id="25"/>
              <p:cNvSpPr/>
              <p:nvPr/>
            </p:nvSpPr>
            <p:spPr>
              <a:xfrm flipH="false" flipV="false" rot="0">
                <a:off x="0" y="0"/>
                <a:ext cx="818612" cy="228371"/>
              </a:xfrm>
              <a:custGeom>
                <a:avLst/>
                <a:gdLst/>
                <a:ahLst/>
                <a:cxnLst/>
                <a:rect r="r" b="b" t="t" l="l"/>
                <a:pathLst>
                  <a:path h="228371" w="818612">
                    <a:moveTo>
                      <a:pt x="17847" y="0"/>
                    </a:moveTo>
                    <a:lnTo>
                      <a:pt x="800765" y="0"/>
                    </a:lnTo>
                    <a:cubicBezTo>
                      <a:pt x="810622" y="0"/>
                      <a:pt x="818612" y="7990"/>
                      <a:pt x="818612" y="17847"/>
                    </a:cubicBezTo>
                    <a:lnTo>
                      <a:pt x="818612" y="210525"/>
                    </a:lnTo>
                    <a:cubicBezTo>
                      <a:pt x="818612" y="215258"/>
                      <a:pt x="816732" y="219797"/>
                      <a:pt x="813385" y="223144"/>
                    </a:cubicBezTo>
                    <a:cubicBezTo>
                      <a:pt x="810038" y="226491"/>
                      <a:pt x="805499" y="228371"/>
                      <a:pt x="800765" y="228371"/>
                    </a:cubicBezTo>
                    <a:lnTo>
                      <a:pt x="17847" y="228371"/>
                    </a:lnTo>
                    <a:cubicBezTo>
                      <a:pt x="7990" y="228371"/>
                      <a:pt x="0" y="220381"/>
                      <a:pt x="0" y="210525"/>
                    </a:cubicBezTo>
                    <a:lnTo>
                      <a:pt x="0" y="17847"/>
                    </a:lnTo>
                    <a:cubicBezTo>
                      <a:pt x="0" y="7990"/>
                      <a:pt x="7990" y="0"/>
                      <a:pt x="17847" y="0"/>
                    </a:cubicBezTo>
                    <a:close/>
                  </a:path>
                </a:pathLst>
              </a:custGeom>
              <a:solidFill>
                <a:srgbClr val="5BB5DC"/>
              </a:solidFill>
              <a:ln w="133350" cap="rnd">
                <a:solidFill>
                  <a:srgbClr val="F8DCBF"/>
                </a:solidFill>
                <a:prstDash val="solid"/>
                <a:round/>
              </a:ln>
            </p:spPr>
          </p:sp>
          <p:sp>
            <p:nvSpPr>
              <p:cNvPr name="TextBox 26" id="26"/>
              <p:cNvSpPr txBox="true"/>
              <p:nvPr/>
            </p:nvSpPr>
            <p:spPr>
              <a:xfrm>
                <a:off x="0" y="-38100"/>
                <a:ext cx="818612" cy="266471"/>
              </a:xfrm>
              <a:prstGeom prst="rect">
                <a:avLst/>
              </a:prstGeom>
            </p:spPr>
            <p:txBody>
              <a:bodyPr anchor="ctr" rtlCol="false" tIns="41176" lIns="41176" bIns="41176" rIns="41176"/>
              <a:lstStyle/>
              <a:p>
                <a:pPr algn="ctr">
                  <a:lnSpc>
                    <a:spcPts val="2659"/>
                  </a:lnSpc>
                </a:pPr>
              </a:p>
            </p:txBody>
          </p:sp>
        </p:grpSp>
        <p:sp>
          <p:nvSpPr>
            <p:cNvPr name="TextBox 27" id="27"/>
            <p:cNvSpPr txBox="true"/>
            <p:nvPr/>
          </p:nvSpPr>
          <p:spPr>
            <a:xfrm rot="0">
              <a:off x="571209" y="352984"/>
              <a:ext cx="10154431" cy="23293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 Relación entre recursividad y BFS</a:t>
              </a:r>
            </a:p>
            <a:p>
              <a:pPr algn="l">
                <a:lnSpc>
                  <a:spcPts val="2800"/>
                </a:lnSpc>
              </a:pPr>
              <a:r>
                <a:rPr lang="en-US" sz="2000">
                  <a:solidFill>
                    <a:srgbClr val="FFFFFF"/>
                  </a:solidFill>
                  <a:latin typeface="Archivo Black"/>
                  <a:ea typeface="Archivo Black"/>
                  <a:cs typeface="Archivo Black"/>
                  <a:sym typeface="Archivo Black"/>
                </a:rPr>
                <a:t>✔ La recursividad aparece en la estructura interna del usuario (árbol de carpetas).</a:t>
              </a:r>
            </a:p>
            <a:p>
              <a:pPr algn="l">
                <a:lnSpc>
                  <a:spcPts val="2800"/>
                </a:lnSpc>
                <a:spcBef>
                  <a:spcPct val="0"/>
                </a:spcBef>
              </a:pPr>
              <a:r>
                <a:rPr lang="en-US" sz="2000">
                  <a:solidFill>
                    <a:srgbClr val="FFFFFF"/>
                  </a:solidFill>
                  <a:latin typeface="Archivo Black"/>
                  <a:ea typeface="Archivo Black"/>
                  <a:cs typeface="Archivo Black"/>
                  <a:sym typeface="Archivo Black"/>
                </a:rPr>
                <a:t>✔ BFS aparece en la comunicación entre servidores (grafo de la red).</a:t>
              </a:r>
            </a:p>
          </p:txBody>
        </p:sp>
      </p:grpSp>
      <p:grpSp>
        <p:nvGrpSpPr>
          <p:cNvPr name="Group 28" id="28"/>
          <p:cNvGrpSpPr/>
          <p:nvPr/>
        </p:nvGrpSpPr>
        <p:grpSpPr>
          <a:xfrm rot="0">
            <a:off x="28403" y="8292652"/>
            <a:ext cx="17944360" cy="2007350"/>
            <a:chOff x="0" y="0"/>
            <a:chExt cx="4726087" cy="528685"/>
          </a:xfrm>
        </p:grpSpPr>
        <p:sp>
          <p:nvSpPr>
            <p:cNvPr name="Freeform 29" id="29"/>
            <p:cNvSpPr/>
            <p:nvPr/>
          </p:nvSpPr>
          <p:spPr>
            <a:xfrm flipH="false" flipV="false" rot="0">
              <a:off x="0" y="0"/>
              <a:ext cx="4726087" cy="528685"/>
            </a:xfrm>
            <a:custGeom>
              <a:avLst/>
              <a:gdLst/>
              <a:ahLst/>
              <a:cxnLst/>
              <a:rect r="r" b="b" t="t" l="l"/>
              <a:pathLst>
                <a:path h="528685" w="4726087">
                  <a:moveTo>
                    <a:pt x="4726087" y="264342"/>
                  </a:moveTo>
                  <a:lnTo>
                    <a:pt x="4319687" y="0"/>
                  </a:lnTo>
                  <a:lnTo>
                    <a:pt x="4319687" y="203200"/>
                  </a:lnTo>
                  <a:lnTo>
                    <a:pt x="0" y="203200"/>
                  </a:lnTo>
                  <a:lnTo>
                    <a:pt x="0" y="325485"/>
                  </a:lnTo>
                  <a:lnTo>
                    <a:pt x="4319687" y="325485"/>
                  </a:lnTo>
                  <a:lnTo>
                    <a:pt x="4319687" y="528685"/>
                  </a:lnTo>
                  <a:lnTo>
                    <a:pt x="4726087" y="264342"/>
                  </a:lnTo>
                  <a:close/>
                </a:path>
              </a:pathLst>
            </a:custGeom>
            <a:solidFill>
              <a:srgbClr val="DC8651"/>
            </a:solidFill>
          </p:spPr>
        </p:sp>
        <p:sp>
          <p:nvSpPr>
            <p:cNvPr name="TextBox 30" id="30"/>
            <p:cNvSpPr txBox="true"/>
            <p:nvPr/>
          </p:nvSpPr>
          <p:spPr>
            <a:xfrm>
              <a:off x="0" y="165100"/>
              <a:ext cx="4624487" cy="16038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686039" y="694594"/>
            <a:ext cx="10842835"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Grafos y sus formas de recorridos</a:t>
            </a:r>
          </a:p>
        </p:txBody>
      </p:sp>
      <p:sp>
        <p:nvSpPr>
          <p:cNvPr name="TextBox 32" id="32"/>
          <p:cNvSpPr txBox="true"/>
          <p:nvPr/>
        </p:nvSpPr>
        <p:spPr>
          <a:xfrm rot="0">
            <a:off x="12048978" y="747712"/>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3506785"/>
            <a:ext cx="19858713" cy="1543050"/>
            <a:chOff x="0" y="0"/>
            <a:chExt cx="5230278" cy="406400"/>
          </a:xfrm>
        </p:grpSpPr>
        <p:sp>
          <p:nvSpPr>
            <p:cNvPr name="Freeform 3" id="3"/>
            <p:cNvSpPr/>
            <p:nvPr/>
          </p:nvSpPr>
          <p:spPr>
            <a:xfrm flipH="false" flipV="false" rot="0">
              <a:off x="0" y="0"/>
              <a:ext cx="5230278" cy="406400"/>
            </a:xfrm>
            <a:custGeom>
              <a:avLst/>
              <a:gdLst/>
              <a:ahLst/>
              <a:cxnLst/>
              <a:rect r="r" b="b" t="t" l="l"/>
              <a:pathLst>
                <a:path h="406400" w="5230278">
                  <a:moveTo>
                    <a:pt x="5027078" y="0"/>
                  </a:moveTo>
                  <a:lnTo>
                    <a:pt x="0" y="0"/>
                  </a:lnTo>
                  <a:lnTo>
                    <a:pt x="0" y="406400"/>
                  </a:lnTo>
                  <a:lnTo>
                    <a:pt x="5027078" y="406400"/>
                  </a:lnTo>
                  <a:lnTo>
                    <a:pt x="5230278" y="203200"/>
                  </a:lnTo>
                  <a:lnTo>
                    <a:pt x="5027078" y="0"/>
                  </a:lnTo>
                  <a:close/>
                </a:path>
              </a:pathLst>
            </a:custGeom>
            <a:solidFill>
              <a:srgbClr val="001F3D"/>
            </a:solidFill>
          </p:spPr>
        </p:sp>
        <p:sp>
          <p:nvSpPr>
            <p:cNvPr name="TextBox 4" id="4"/>
            <p:cNvSpPr txBox="true"/>
            <p:nvPr/>
          </p:nvSpPr>
          <p:spPr>
            <a:xfrm>
              <a:off x="0" y="-38100"/>
              <a:ext cx="5115978" cy="444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7183435"/>
            <a:ext cx="19858713" cy="1543050"/>
            <a:chOff x="0" y="0"/>
            <a:chExt cx="5230278" cy="406400"/>
          </a:xfrm>
        </p:grpSpPr>
        <p:sp>
          <p:nvSpPr>
            <p:cNvPr name="Freeform 6" id="6"/>
            <p:cNvSpPr/>
            <p:nvPr/>
          </p:nvSpPr>
          <p:spPr>
            <a:xfrm flipH="false" flipV="false" rot="0">
              <a:off x="0" y="0"/>
              <a:ext cx="5230278" cy="406400"/>
            </a:xfrm>
            <a:custGeom>
              <a:avLst/>
              <a:gdLst/>
              <a:ahLst/>
              <a:cxnLst/>
              <a:rect r="r" b="b" t="t" l="l"/>
              <a:pathLst>
                <a:path h="406400" w="5230278">
                  <a:moveTo>
                    <a:pt x="5027078" y="0"/>
                  </a:moveTo>
                  <a:lnTo>
                    <a:pt x="0" y="0"/>
                  </a:lnTo>
                  <a:lnTo>
                    <a:pt x="0" y="406400"/>
                  </a:lnTo>
                  <a:lnTo>
                    <a:pt x="5027078" y="406400"/>
                  </a:lnTo>
                  <a:lnTo>
                    <a:pt x="5230278" y="203200"/>
                  </a:lnTo>
                  <a:lnTo>
                    <a:pt x="5027078" y="0"/>
                  </a:lnTo>
                  <a:close/>
                </a:path>
              </a:pathLst>
            </a:custGeom>
            <a:solidFill>
              <a:srgbClr val="001F3D"/>
            </a:solidFill>
          </p:spPr>
        </p:sp>
        <p:sp>
          <p:nvSpPr>
            <p:cNvPr name="TextBox 7" id="7"/>
            <p:cNvSpPr txBox="true"/>
            <p:nvPr/>
          </p:nvSpPr>
          <p:spPr>
            <a:xfrm>
              <a:off x="0" y="-38100"/>
              <a:ext cx="5115978" cy="444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1050425"/>
            <a:ext cx="19858713" cy="1543050"/>
            <a:chOff x="0" y="0"/>
            <a:chExt cx="5230278" cy="406400"/>
          </a:xfrm>
        </p:grpSpPr>
        <p:sp>
          <p:nvSpPr>
            <p:cNvPr name="Freeform 9" id="9"/>
            <p:cNvSpPr/>
            <p:nvPr/>
          </p:nvSpPr>
          <p:spPr>
            <a:xfrm flipH="false" flipV="false" rot="0">
              <a:off x="0" y="0"/>
              <a:ext cx="5230278" cy="406400"/>
            </a:xfrm>
            <a:custGeom>
              <a:avLst/>
              <a:gdLst/>
              <a:ahLst/>
              <a:cxnLst/>
              <a:rect r="r" b="b" t="t" l="l"/>
              <a:pathLst>
                <a:path h="406400" w="5230278">
                  <a:moveTo>
                    <a:pt x="5027078" y="0"/>
                  </a:moveTo>
                  <a:lnTo>
                    <a:pt x="0" y="0"/>
                  </a:lnTo>
                  <a:lnTo>
                    <a:pt x="0" y="406400"/>
                  </a:lnTo>
                  <a:lnTo>
                    <a:pt x="5027078" y="406400"/>
                  </a:lnTo>
                  <a:lnTo>
                    <a:pt x="5230278" y="203200"/>
                  </a:lnTo>
                  <a:lnTo>
                    <a:pt x="5027078" y="0"/>
                  </a:lnTo>
                  <a:close/>
                </a:path>
              </a:pathLst>
            </a:custGeom>
            <a:solidFill>
              <a:srgbClr val="001F3D"/>
            </a:solidFill>
          </p:spPr>
        </p:sp>
        <p:sp>
          <p:nvSpPr>
            <p:cNvPr name="TextBox 10" id="10"/>
            <p:cNvSpPr txBox="true"/>
            <p:nvPr/>
          </p:nvSpPr>
          <p:spPr>
            <a:xfrm>
              <a:off x="0" y="-38100"/>
              <a:ext cx="5115978" cy="444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4909946" y="6898959"/>
            <a:ext cx="2068264" cy="5033536"/>
            <a:chOff x="0" y="0"/>
            <a:chExt cx="369669" cy="899664"/>
          </a:xfrm>
        </p:grpSpPr>
        <p:sp>
          <p:nvSpPr>
            <p:cNvPr name="Freeform 12" id="12"/>
            <p:cNvSpPr/>
            <p:nvPr/>
          </p:nvSpPr>
          <p:spPr>
            <a:xfrm flipH="false" flipV="false" rot="0">
              <a:off x="0" y="0"/>
              <a:ext cx="369669" cy="899664"/>
            </a:xfrm>
            <a:custGeom>
              <a:avLst/>
              <a:gdLst/>
              <a:ahLst/>
              <a:cxnLst/>
              <a:rect r="r" b="b" t="t" l="l"/>
              <a:pathLst>
                <a:path h="899664" w="369669">
                  <a:moveTo>
                    <a:pt x="369669" y="899664"/>
                  </a:moveTo>
                  <a:lnTo>
                    <a:pt x="0" y="899664"/>
                  </a:lnTo>
                  <a:lnTo>
                    <a:pt x="0" y="0"/>
                  </a:lnTo>
                  <a:lnTo>
                    <a:pt x="369669" y="899664"/>
                  </a:lnTo>
                  <a:close/>
                </a:path>
              </a:pathLst>
            </a:custGeom>
            <a:solidFill>
              <a:srgbClr val="F1A372"/>
            </a:solidFill>
          </p:spPr>
        </p:sp>
        <p:sp>
          <p:nvSpPr>
            <p:cNvPr name="TextBox 13" id="13"/>
            <p:cNvSpPr txBox="true"/>
            <p:nvPr/>
          </p:nvSpPr>
          <p:spPr>
            <a:xfrm>
              <a:off x="0" y="411732"/>
              <a:ext cx="184835" cy="48601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58143" y="2627617"/>
            <a:ext cx="7384652" cy="1467660"/>
            <a:chOff x="0" y="0"/>
            <a:chExt cx="9846202" cy="1956880"/>
          </a:xfrm>
        </p:grpSpPr>
        <p:grpSp>
          <p:nvGrpSpPr>
            <p:cNvPr name="Group 15" id="15"/>
            <p:cNvGrpSpPr/>
            <p:nvPr/>
          </p:nvGrpSpPr>
          <p:grpSpPr>
            <a:xfrm rot="0">
              <a:off x="0" y="0"/>
              <a:ext cx="9846202" cy="1956880"/>
              <a:chOff x="0" y="0"/>
              <a:chExt cx="713493" cy="141803"/>
            </a:xfrm>
          </p:grpSpPr>
          <p:sp>
            <p:nvSpPr>
              <p:cNvPr name="Freeform 16" id="16"/>
              <p:cNvSpPr/>
              <p:nvPr/>
            </p:nvSpPr>
            <p:spPr>
              <a:xfrm flipH="false" flipV="false" rot="0">
                <a:off x="0" y="0"/>
                <a:ext cx="713493" cy="141803"/>
              </a:xfrm>
              <a:custGeom>
                <a:avLst/>
                <a:gdLst/>
                <a:ahLst/>
                <a:cxnLst/>
                <a:rect r="r" b="b" t="t" l="l"/>
                <a:pathLst>
                  <a:path h="141803" w="713493">
                    <a:moveTo>
                      <a:pt x="20476" y="0"/>
                    </a:moveTo>
                    <a:lnTo>
                      <a:pt x="693017" y="0"/>
                    </a:lnTo>
                    <a:cubicBezTo>
                      <a:pt x="704325" y="0"/>
                      <a:pt x="713493" y="9167"/>
                      <a:pt x="713493" y="20476"/>
                    </a:cubicBezTo>
                    <a:lnTo>
                      <a:pt x="713493" y="121327"/>
                    </a:lnTo>
                    <a:cubicBezTo>
                      <a:pt x="713493" y="126757"/>
                      <a:pt x="711336" y="131966"/>
                      <a:pt x="707495" y="135806"/>
                    </a:cubicBezTo>
                    <a:cubicBezTo>
                      <a:pt x="703655" y="139646"/>
                      <a:pt x="698447" y="141803"/>
                      <a:pt x="693017" y="141803"/>
                    </a:cubicBezTo>
                    <a:lnTo>
                      <a:pt x="20476" y="141803"/>
                    </a:lnTo>
                    <a:cubicBezTo>
                      <a:pt x="15046" y="141803"/>
                      <a:pt x="9837" y="139646"/>
                      <a:pt x="5997" y="135806"/>
                    </a:cubicBezTo>
                    <a:cubicBezTo>
                      <a:pt x="2157" y="131966"/>
                      <a:pt x="0" y="126757"/>
                      <a:pt x="0" y="121327"/>
                    </a:cubicBezTo>
                    <a:lnTo>
                      <a:pt x="0" y="20476"/>
                    </a:lnTo>
                    <a:cubicBezTo>
                      <a:pt x="0" y="15046"/>
                      <a:pt x="2157" y="9837"/>
                      <a:pt x="5997" y="5997"/>
                    </a:cubicBezTo>
                    <a:cubicBezTo>
                      <a:pt x="9837" y="2157"/>
                      <a:pt x="15046" y="0"/>
                      <a:pt x="20476" y="0"/>
                    </a:cubicBezTo>
                    <a:close/>
                  </a:path>
                </a:pathLst>
              </a:custGeom>
              <a:solidFill>
                <a:srgbClr val="5BB5DC"/>
              </a:solidFill>
              <a:ln cap="rnd">
                <a:noFill/>
                <a:prstDash val="solid"/>
                <a:round/>
              </a:ln>
            </p:spPr>
          </p:sp>
          <p:sp>
            <p:nvSpPr>
              <p:cNvPr name="TextBox 17" id="17"/>
              <p:cNvSpPr txBox="true"/>
              <p:nvPr/>
            </p:nvSpPr>
            <p:spPr>
              <a:xfrm>
                <a:off x="0" y="-38100"/>
                <a:ext cx="713493" cy="179903"/>
              </a:xfrm>
              <a:prstGeom prst="rect">
                <a:avLst/>
              </a:prstGeom>
            </p:spPr>
            <p:txBody>
              <a:bodyPr anchor="ctr" rtlCol="false" tIns="41176" lIns="41176" bIns="41176" rIns="41176"/>
              <a:lstStyle/>
              <a:p>
                <a:pPr algn="ctr">
                  <a:lnSpc>
                    <a:spcPts val="2659"/>
                  </a:lnSpc>
                </a:pPr>
              </a:p>
            </p:txBody>
          </p:sp>
        </p:grpSp>
        <p:sp>
          <p:nvSpPr>
            <p:cNvPr name="TextBox 18" id="18"/>
            <p:cNvSpPr txBox="true"/>
            <p:nvPr/>
          </p:nvSpPr>
          <p:spPr>
            <a:xfrm rot="0">
              <a:off x="497859" y="352984"/>
              <a:ext cx="8850484" cy="1134745"/>
            </a:xfrm>
            <a:prstGeom prst="rect">
              <a:avLst/>
            </a:prstGeom>
          </p:spPr>
          <p:txBody>
            <a:bodyPr anchor="t" rtlCol="false" tIns="0" lIns="0" bIns="0" rIns="0">
              <a:spAutoFit/>
            </a:bodyPr>
            <a:lstStyle/>
            <a:p>
              <a:pPr algn="l">
                <a:lnSpc>
                  <a:spcPts val="2310"/>
                </a:lnSpc>
              </a:pPr>
              <a:r>
                <a:rPr lang="en-US" sz="1650">
                  <a:solidFill>
                    <a:srgbClr val="F8DCBF"/>
                  </a:solidFill>
                  <a:latin typeface="Archivo Black"/>
                  <a:ea typeface="Archivo Black"/>
                  <a:cs typeface="Archivo Black"/>
                  <a:sym typeface="Archivo Black"/>
                </a:rPr>
                <a:t>Cada servidor guarda una lista de servidores vecinos.</a:t>
              </a:r>
            </a:p>
            <a:p>
              <a:pPr algn="l">
                <a:lnSpc>
                  <a:spcPts val="2310"/>
                </a:lnSpc>
                <a:spcBef>
                  <a:spcPct val="0"/>
                </a:spcBef>
              </a:pPr>
              <a:r>
                <a:rPr lang="en-US" sz="1650">
                  <a:solidFill>
                    <a:srgbClr val="F8DCBF"/>
                  </a:solidFill>
                  <a:latin typeface="Archivo Black"/>
                  <a:ea typeface="Archivo Black"/>
                  <a:cs typeface="Archivo Black"/>
                  <a:sym typeface="Archivo Black"/>
                </a:rPr>
                <a:t>Si A está conectado con B, ambos se agregan mutuamente en sus listas(lista de adyacencia).</a:t>
              </a:r>
            </a:p>
          </p:txBody>
        </p:sp>
      </p:grpSp>
      <p:grpSp>
        <p:nvGrpSpPr>
          <p:cNvPr name="Group 19" id="19"/>
          <p:cNvGrpSpPr/>
          <p:nvPr/>
        </p:nvGrpSpPr>
        <p:grpSpPr>
          <a:xfrm rot="0">
            <a:off x="9144000" y="1667650"/>
            <a:ext cx="7384652" cy="2610660"/>
            <a:chOff x="0" y="0"/>
            <a:chExt cx="9846202" cy="3480880"/>
          </a:xfrm>
        </p:grpSpPr>
        <p:grpSp>
          <p:nvGrpSpPr>
            <p:cNvPr name="Group 20" id="20"/>
            <p:cNvGrpSpPr/>
            <p:nvPr/>
          </p:nvGrpSpPr>
          <p:grpSpPr>
            <a:xfrm rot="0">
              <a:off x="0" y="0"/>
              <a:ext cx="9846202" cy="3480880"/>
              <a:chOff x="0" y="0"/>
              <a:chExt cx="713493" cy="252238"/>
            </a:xfrm>
          </p:grpSpPr>
          <p:sp>
            <p:nvSpPr>
              <p:cNvPr name="Freeform 21" id="21"/>
              <p:cNvSpPr/>
              <p:nvPr/>
            </p:nvSpPr>
            <p:spPr>
              <a:xfrm flipH="false" flipV="false" rot="0">
                <a:off x="0" y="0"/>
                <a:ext cx="713493" cy="252238"/>
              </a:xfrm>
              <a:custGeom>
                <a:avLst/>
                <a:gdLst/>
                <a:ahLst/>
                <a:cxnLst/>
                <a:rect r="r" b="b" t="t" l="l"/>
                <a:pathLst>
                  <a:path h="252238" w="713493">
                    <a:moveTo>
                      <a:pt x="20476" y="0"/>
                    </a:moveTo>
                    <a:lnTo>
                      <a:pt x="693017" y="0"/>
                    </a:lnTo>
                    <a:cubicBezTo>
                      <a:pt x="704325" y="0"/>
                      <a:pt x="713493" y="9167"/>
                      <a:pt x="713493" y="20476"/>
                    </a:cubicBezTo>
                    <a:lnTo>
                      <a:pt x="713493" y="231761"/>
                    </a:lnTo>
                    <a:cubicBezTo>
                      <a:pt x="713493" y="237192"/>
                      <a:pt x="711336" y="242400"/>
                      <a:pt x="707495" y="246240"/>
                    </a:cubicBezTo>
                    <a:cubicBezTo>
                      <a:pt x="703655" y="250080"/>
                      <a:pt x="698447" y="252238"/>
                      <a:pt x="693017" y="252238"/>
                    </a:cubicBezTo>
                    <a:lnTo>
                      <a:pt x="20476" y="252238"/>
                    </a:lnTo>
                    <a:cubicBezTo>
                      <a:pt x="15046" y="252238"/>
                      <a:pt x="9837" y="250080"/>
                      <a:pt x="5997" y="246240"/>
                    </a:cubicBezTo>
                    <a:cubicBezTo>
                      <a:pt x="2157" y="242400"/>
                      <a:pt x="0" y="237192"/>
                      <a:pt x="0" y="231761"/>
                    </a:cubicBezTo>
                    <a:lnTo>
                      <a:pt x="0" y="20476"/>
                    </a:lnTo>
                    <a:cubicBezTo>
                      <a:pt x="0" y="15046"/>
                      <a:pt x="2157" y="9837"/>
                      <a:pt x="5997" y="5997"/>
                    </a:cubicBezTo>
                    <a:cubicBezTo>
                      <a:pt x="9837" y="2157"/>
                      <a:pt x="15046" y="0"/>
                      <a:pt x="20476" y="0"/>
                    </a:cubicBezTo>
                    <a:close/>
                  </a:path>
                </a:pathLst>
              </a:custGeom>
              <a:solidFill>
                <a:srgbClr val="DC8651"/>
              </a:solidFill>
              <a:ln cap="rnd">
                <a:noFill/>
                <a:prstDash val="solid"/>
                <a:round/>
              </a:ln>
            </p:spPr>
          </p:sp>
          <p:sp>
            <p:nvSpPr>
              <p:cNvPr name="TextBox 22" id="22"/>
              <p:cNvSpPr txBox="true"/>
              <p:nvPr/>
            </p:nvSpPr>
            <p:spPr>
              <a:xfrm>
                <a:off x="0" y="-38100"/>
                <a:ext cx="713493" cy="290338"/>
              </a:xfrm>
              <a:prstGeom prst="rect">
                <a:avLst/>
              </a:prstGeom>
            </p:spPr>
            <p:txBody>
              <a:bodyPr anchor="ctr" rtlCol="false" tIns="41176" lIns="41176" bIns="41176" rIns="41176"/>
              <a:lstStyle/>
              <a:p>
                <a:pPr algn="ctr">
                  <a:lnSpc>
                    <a:spcPts val="2659"/>
                  </a:lnSpc>
                </a:pPr>
              </a:p>
            </p:txBody>
          </p:sp>
        </p:grpSp>
        <p:sp>
          <p:nvSpPr>
            <p:cNvPr name="TextBox 23" id="23"/>
            <p:cNvSpPr txBox="true"/>
            <p:nvPr/>
          </p:nvSpPr>
          <p:spPr>
            <a:xfrm rot="0">
              <a:off x="497859" y="352984"/>
              <a:ext cx="8850484" cy="2658745"/>
            </a:xfrm>
            <a:prstGeom prst="rect">
              <a:avLst/>
            </a:prstGeom>
          </p:spPr>
          <p:txBody>
            <a:bodyPr anchor="t" rtlCol="false" tIns="0" lIns="0" bIns="0" rIns="0">
              <a:spAutoFit/>
            </a:bodyPr>
            <a:lstStyle/>
            <a:p>
              <a:pPr algn="l">
                <a:lnSpc>
                  <a:spcPts val="2310"/>
                </a:lnSpc>
              </a:pPr>
              <a:r>
                <a:rPr lang="en-US" sz="1650">
                  <a:solidFill>
                    <a:srgbClr val="F8DCBF"/>
                  </a:solidFill>
                  <a:latin typeface="Archivo Black"/>
                  <a:ea typeface="Archivo Black"/>
                  <a:cs typeface="Archivo Black"/>
                  <a:sym typeface="Archivo Black"/>
                </a:rPr>
                <a:t>Sirve para:</a:t>
              </a:r>
            </a:p>
            <a:p>
              <a:pPr algn="l">
                <a:lnSpc>
                  <a:spcPts val="2310"/>
                </a:lnSpc>
              </a:pPr>
              <a:r>
                <a:rPr lang="en-US" sz="1650">
                  <a:solidFill>
                    <a:srgbClr val="F8DCBF"/>
                  </a:solidFill>
                  <a:latin typeface="Archivo Black"/>
                  <a:ea typeface="Archivo Black"/>
                  <a:cs typeface="Archivo Black"/>
                  <a:sym typeface="Archivo Black"/>
                </a:rPr>
                <a:t>Tener varios servidores conectados. Cada uno puede estar conectado con otros, y el mensaje tiene que viajar por esos enlaces hasta llegar al servidor donde está el destinatario.</a:t>
              </a:r>
            </a:p>
            <a:p>
              <a:pPr algn="l">
                <a:lnSpc>
                  <a:spcPts val="2310"/>
                </a:lnSpc>
                <a:spcBef>
                  <a:spcPct val="0"/>
                </a:spcBef>
              </a:pPr>
              <a:r>
                <a:rPr lang="en-US" sz="1650">
                  <a:solidFill>
                    <a:srgbClr val="F8DCBF"/>
                  </a:solidFill>
                  <a:latin typeface="Archivo Black"/>
                  <a:ea typeface="Archivo Black"/>
                  <a:cs typeface="Archivo Black"/>
                  <a:sym typeface="Archivo Black"/>
                </a:rPr>
                <a:t>En ese grafo los nodos son los servidores y las aristas las conexiones.</a:t>
              </a:r>
            </a:p>
          </p:txBody>
        </p:sp>
      </p:grpSp>
      <p:grpSp>
        <p:nvGrpSpPr>
          <p:cNvPr name="Group 24" id="24"/>
          <p:cNvGrpSpPr/>
          <p:nvPr/>
        </p:nvGrpSpPr>
        <p:grpSpPr>
          <a:xfrm rot="0">
            <a:off x="158143" y="8381595"/>
            <a:ext cx="7384652" cy="1753410"/>
            <a:chOff x="0" y="0"/>
            <a:chExt cx="9846202" cy="2337880"/>
          </a:xfrm>
        </p:grpSpPr>
        <p:grpSp>
          <p:nvGrpSpPr>
            <p:cNvPr name="Group 25" id="25"/>
            <p:cNvGrpSpPr/>
            <p:nvPr/>
          </p:nvGrpSpPr>
          <p:grpSpPr>
            <a:xfrm rot="0">
              <a:off x="0" y="0"/>
              <a:ext cx="9846202" cy="2337880"/>
              <a:chOff x="0" y="0"/>
              <a:chExt cx="713493" cy="169412"/>
            </a:xfrm>
          </p:grpSpPr>
          <p:sp>
            <p:nvSpPr>
              <p:cNvPr name="Freeform 26" id="26"/>
              <p:cNvSpPr/>
              <p:nvPr/>
            </p:nvSpPr>
            <p:spPr>
              <a:xfrm flipH="false" flipV="false" rot="0">
                <a:off x="0" y="0"/>
                <a:ext cx="713493" cy="169412"/>
              </a:xfrm>
              <a:custGeom>
                <a:avLst/>
                <a:gdLst/>
                <a:ahLst/>
                <a:cxnLst/>
                <a:rect r="r" b="b" t="t" l="l"/>
                <a:pathLst>
                  <a:path h="169412" w="713493">
                    <a:moveTo>
                      <a:pt x="20476" y="0"/>
                    </a:moveTo>
                    <a:lnTo>
                      <a:pt x="693017" y="0"/>
                    </a:lnTo>
                    <a:cubicBezTo>
                      <a:pt x="704325" y="0"/>
                      <a:pt x="713493" y="9167"/>
                      <a:pt x="713493" y="20476"/>
                    </a:cubicBezTo>
                    <a:lnTo>
                      <a:pt x="713493" y="148935"/>
                    </a:lnTo>
                    <a:cubicBezTo>
                      <a:pt x="713493" y="154366"/>
                      <a:pt x="711336" y="159574"/>
                      <a:pt x="707495" y="163414"/>
                    </a:cubicBezTo>
                    <a:cubicBezTo>
                      <a:pt x="703655" y="167254"/>
                      <a:pt x="698447" y="169412"/>
                      <a:pt x="693017" y="169412"/>
                    </a:cubicBezTo>
                    <a:lnTo>
                      <a:pt x="20476" y="169412"/>
                    </a:lnTo>
                    <a:cubicBezTo>
                      <a:pt x="9167" y="169412"/>
                      <a:pt x="0" y="160244"/>
                      <a:pt x="0" y="148935"/>
                    </a:cubicBezTo>
                    <a:lnTo>
                      <a:pt x="0" y="20476"/>
                    </a:lnTo>
                    <a:cubicBezTo>
                      <a:pt x="0" y="15046"/>
                      <a:pt x="2157" y="9837"/>
                      <a:pt x="5997" y="5997"/>
                    </a:cubicBezTo>
                    <a:cubicBezTo>
                      <a:pt x="9837" y="2157"/>
                      <a:pt x="15046" y="0"/>
                      <a:pt x="20476" y="0"/>
                    </a:cubicBezTo>
                    <a:close/>
                  </a:path>
                </a:pathLst>
              </a:custGeom>
              <a:solidFill>
                <a:srgbClr val="DC8651"/>
              </a:solidFill>
              <a:ln cap="rnd">
                <a:noFill/>
                <a:prstDash val="solid"/>
                <a:round/>
              </a:ln>
            </p:spPr>
          </p:sp>
          <p:sp>
            <p:nvSpPr>
              <p:cNvPr name="TextBox 27" id="27"/>
              <p:cNvSpPr txBox="true"/>
              <p:nvPr/>
            </p:nvSpPr>
            <p:spPr>
              <a:xfrm>
                <a:off x="0" y="-38100"/>
                <a:ext cx="713493" cy="207512"/>
              </a:xfrm>
              <a:prstGeom prst="rect">
                <a:avLst/>
              </a:prstGeom>
            </p:spPr>
            <p:txBody>
              <a:bodyPr anchor="ctr" rtlCol="false" tIns="41176" lIns="41176" bIns="41176" rIns="41176"/>
              <a:lstStyle/>
              <a:p>
                <a:pPr algn="ctr">
                  <a:lnSpc>
                    <a:spcPts val="2659"/>
                  </a:lnSpc>
                </a:pPr>
              </a:p>
            </p:txBody>
          </p:sp>
        </p:grpSp>
        <p:sp>
          <p:nvSpPr>
            <p:cNvPr name="TextBox 28" id="28"/>
            <p:cNvSpPr txBox="true"/>
            <p:nvPr/>
          </p:nvSpPr>
          <p:spPr>
            <a:xfrm rot="0">
              <a:off x="497859" y="352984"/>
              <a:ext cx="8850484" cy="1515745"/>
            </a:xfrm>
            <a:prstGeom prst="rect">
              <a:avLst/>
            </a:prstGeom>
          </p:spPr>
          <p:txBody>
            <a:bodyPr anchor="t" rtlCol="false" tIns="0" lIns="0" bIns="0" rIns="0">
              <a:spAutoFit/>
            </a:bodyPr>
            <a:lstStyle/>
            <a:p>
              <a:pPr algn="l">
                <a:lnSpc>
                  <a:spcPts val="2310"/>
                </a:lnSpc>
              </a:pPr>
              <a:r>
                <a:rPr lang="en-US" sz="1650">
                  <a:solidFill>
                    <a:srgbClr val="F8DCBF"/>
                  </a:solidFill>
                  <a:latin typeface="Archivo Black"/>
                  <a:ea typeface="Archivo Black"/>
                  <a:cs typeface="Archivo Black"/>
                  <a:sym typeface="Archivo Black"/>
                </a:rPr>
                <a:t>Este método:</a:t>
              </a:r>
            </a:p>
            <a:p>
              <a:pPr algn="l">
                <a:lnSpc>
                  <a:spcPts val="2310"/>
                </a:lnSpc>
              </a:pPr>
              <a:r>
                <a:rPr lang="en-US" sz="1650">
                  <a:solidFill>
                    <a:srgbClr val="F8DCBF"/>
                  </a:solidFill>
                  <a:latin typeface="Archivo Black"/>
                  <a:ea typeface="Archivo Black"/>
                  <a:cs typeface="Archivo Black"/>
                  <a:sym typeface="Archivo Black"/>
                </a:rPr>
                <a:t>Implementa BFS (Breadth First Search)que es un algoritmo de busqueda en grafos.</a:t>
              </a:r>
            </a:p>
            <a:p>
              <a:pPr algn="l">
                <a:lnSpc>
                  <a:spcPts val="2310"/>
                </a:lnSpc>
                <a:spcBef>
                  <a:spcPct val="0"/>
                </a:spcBef>
              </a:pPr>
              <a:r>
                <a:rPr lang="en-US" sz="1650">
                  <a:solidFill>
                    <a:srgbClr val="F8DCBF"/>
                  </a:solidFill>
                  <a:latin typeface="Archivo Black"/>
                  <a:ea typeface="Archivo Black"/>
                  <a:cs typeface="Archivo Black"/>
                  <a:sym typeface="Archivo Black"/>
                </a:rPr>
                <a:t>Busca una ruta entre dos servidores de la red.</a:t>
              </a:r>
            </a:p>
          </p:txBody>
        </p:sp>
      </p:grpSp>
      <p:sp>
        <p:nvSpPr>
          <p:cNvPr name="Freeform 29" id="29"/>
          <p:cNvSpPr/>
          <p:nvPr/>
        </p:nvSpPr>
        <p:spPr>
          <a:xfrm flipH="false" flipV="false" rot="0">
            <a:off x="1028700" y="4278310"/>
            <a:ext cx="6744723" cy="4260617"/>
          </a:xfrm>
          <a:custGeom>
            <a:avLst/>
            <a:gdLst/>
            <a:ahLst/>
            <a:cxnLst/>
            <a:rect r="r" b="b" t="t" l="l"/>
            <a:pathLst>
              <a:path h="4260617" w="6744723">
                <a:moveTo>
                  <a:pt x="0" y="0"/>
                </a:moveTo>
                <a:lnTo>
                  <a:pt x="6744723" y="0"/>
                </a:lnTo>
                <a:lnTo>
                  <a:pt x="6744723" y="4260617"/>
                </a:lnTo>
                <a:lnTo>
                  <a:pt x="0" y="4260617"/>
                </a:lnTo>
                <a:lnTo>
                  <a:pt x="0" y="0"/>
                </a:lnTo>
                <a:close/>
              </a:path>
            </a:pathLst>
          </a:custGeom>
          <a:blipFill>
            <a:blip r:embed="rId2"/>
            <a:stretch>
              <a:fillRect l="0" t="0" r="0" b="0"/>
            </a:stretch>
          </a:blipFill>
        </p:spPr>
      </p:sp>
      <p:sp>
        <p:nvSpPr>
          <p:cNvPr name="Freeform 30" id="30"/>
          <p:cNvSpPr/>
          <p:nvPr/>
        </p:nvSpPr>
        <p:spPr>
          <a:xfrm flipH="false" flipV="false" rot="0">
            <a:off x="8220021" y="4707244"/>
            <a:ext cx="7163498" cy="4816483"/>
          </a:xfrm>
          <a:custGeom>
            <a:avLst/>
            <a:gdLst/>
            <a:ahLst/>
            <a:cxnLst/>
            <a:rect r="r" b="b" t="t" l="l"/>
            <a:pathLst>
              <a:path h="4816483" w="7163498">
                <a:moveTo>
                  <a:pt x="0" y="0"/>
                </a:moveTo>
                <a:lnTo>
                  <a:pt x="7163498" y="0"/>
                </a:lnTo>
                <a:lnTo>
                  <a:pt x="7163498" y="4816483"/>
                </a:lnTo>
                <a:lnTo>
                  <a:pt x="0" y="4816483"/>
                </a:lnTo>
                <a:lnTo>
                  <a:pt x="0" y="0"/>
                </a:lnTo>
                <a:close/>
              </a:path>
            </a:pathLst>
          </a:custGeom>
          <a:blipFill>
            <a:blip r:embed="rId3"/>
            <a:stretch>
              <a:fillRect l="0" t="0" r="0" b="0"/>
            </a:stretch>
          </a:blipFill>
          <a:ln w="38100" cap="sq">
            <a:solidFill>
              <a:srgbClr val="DC8651"/>
            </a:solidFill>
            <a:prstDash val="solid"/>
            <a:miter/>
          </a:ln>
        </p:spPr>
      </p:sp>
      <p:sp>
        <p:nvSpPr>
          <p:cNvPr name="Freeform 31" id="31"/>
          <p:cNvSpPr/>
          <p:nvPr/>
        </p:nvSpPr>
        <p:spPr>
          <a:xfrm flipH="false" flipV="false" rot="0">
            <a:off x="158143" y="631950"/>
            <a:ext cx="8692267" cy="2071399"/>
          </a:xfrm>
          <a:custGeom>
            <a:avLst/>
            <a:gdLst/>
            <a:ahLst/>
            <a:cxnLst/>
            <a:rect r="r" b="b" t="t" l="l"/>
            <a:pathLst>
              <a:path h="2071399" w="8692267">
                <a:moveTo>
                  <a:pt x="0" y="0"/>
                </a:moveTo>
                <a:lnTo>
                  <a:pt x="8692267" y="0"/>
                </a:lnTo>
                <a:lnTo>
                  <a:pt x="8692267" y="2071399"/>
                </a:lnTo>
                <a:lnTo>
                  <a:pt x="0" y="2071399"/>
                </a:lnTo>
                <a:lnTo>
                  <a:pt x="0" y="0"/>
                </a:lnTo>
                <a:close/>
              </a:path>
            </a:pathLst>
          </a:custGeom>
          <a:blipFill>
            <a:blip r:embed="rId4"/>
            <a:stretch>
              <a:fillRect l="0" t="0" r="-10862" b="0"/>
            </a:stretch>
          </a:blipFill>
        </p:spPr>
      </p:sp>
      <p:sp>
        <p:nvSpPr>
          <p:cNvPr name="Freeform 32" id="32"/>
          <p:cNvSpPr/>
          <p:nvPr/>
        </p:nvSpPr>
        <p:spPr>
          <a:xfrm flipH="false" flipV="false" rot="0">
            <a:off x="10812305" y="492625"/>
            <a:ext cx="7329173" cy="1724511"/>
          </a:xfrm>
          <a:custGeom>
            <a:avLst/>
            <a:gdLst/>
            <a:ahLst/>
            <a:cxnLst/>
            <a:rect r="r" b="b" t="t" l="l"/>
            <a:pathLst>
              <a:path h="1724511" w="7329173">
                <a:moveTo>
                  <a:pt x="0" y="0"/>
                </a:moveTo>
                <a:lnTo>
                  <a:pt x="7329173" y="0"/>
                </a:lnTo>
                <a:lnTo>
                  <a:pt x="7329173" y="1724511"/>
                </a:lnTo>
                <a:lnTo>
                  <a:pt x="0" y="1724511"/>
                </a:lnTo>
                <a:lnTo>
                  <a:pt x="0" y="0"/>
                </a:lnTo>
                <a:close/>
              </a:path>
            </a:pathLst>
          </a:custGeom>
          <a:blipFill>
            <a:blip r:embed="rId5"/>
            <a:stretch>
              <a:fillRect l="0" t="0" r="0" b="0"/>
            </a:stretch>
          </a:blipFill>
        </p:spPr>
      </p:sp>
      <p:grpSp>
        <p:nvGrpSpPr>
          <p:cNvPr name="Group 33" id="33"/>
          <p:cNvGrpSpPr/>
          <p:nvPr/>
        </p:nvGrpSpPr>
        <p:grpSpPr>
          <a:xfrm rot="0">
            <a:off x="13427310" y="5630050"/>
            <a:ext cx="4714169" cy="2324910"/>
            <a:chOff x="0" y="0"/>
            <a:chExt cx="6285558" cy="3099880"/>
          </a:xfrm>
        </p:grpSpPr>
        <p:grpSp>
          <p:nvGrpSpPr>
            <p:cNvPr name="Group 34" id="34"/>
            <p:cNvGrpSpPr/>
            <p:nvPr/>
          </p:nvGrpSpPr>
          <p:grpSpPr>
            <a:xfrm rot="0">
              <a:off x="0" y="0"/>
              <a:ext cx="6285558" cy="3099880"/>
              <a:chOff x="0" y="0"/>
              <a:chExt cx="455475" cy="224629"/>
            </a:xfrm>
          </p:grpSpPr>
          <p:sp>
            <p:nvSpPr>
              <p:cNvPr name="Freeform 35" id="35"/>
              <p:cNvSpPr/>
              <p:nvPr/>
            </p:nvSpPr>
            <p:spPr>
              <a:xfrm flipH="false" flipV="false" rot="0">
                <a:off x="0" y="0"/>
                <a:ext cx="455475" cy="224629"/>
              </a:xfrm>
              <a:custGeom>
                <a:avLst/>
                <a:gdLst/>
                <a:ahLst/>
                <a:cxnLst/>
                <a:rect r="r" b="b" t="t" l="l"/>
                <a:pathLst>
                  <a:path h="224629" w="455475">
                    <a:moveTo>
                      <a:pt x="32076" y="0"/>
                    </a:moveTo>
                    <a:lnTo>
                      <a:pt x="423400" y="0"/>
                    </a:lnTo>
                    <a:cubicBezTo>
                      <a:pt x="441114" y="0"/>
                      <a:pt x="455475" y="14361"/>
                      <a:pt x="455475" y="32076"/>
                    </a:cubicBezTo>
                    <a:lnTo>
                      <a:pt x="455475" y="192553"/>
                    </a:lnTo>
                    <a:cubicBezTo>
                      <a:pt x="455475" y="210268"/>
                      <a:pt x="441114" y="224629"/>
                      <a:pt x="423400" y="224629"/>
                    </a:cubicBezTo>
                    <a:lnTo>
                      <a:pt x="32076" y="224629"/>
                    </a:lnTo>
                    <a:cubicBezTo>
                      <a:pt x="14361" y="224629"/>
                      <a:pt x="0" y="210268"/>
                      <a:pt x="0" y="192553"/>
                    </a:cubicBezTo>
                    <a:lnTo>
                      <a:pt x="0" y="32076"/>
                    </a:lnTo>
                    <a:cubicBezTo>
                      <a:pt x="0" y="14361"/>
                      <a:pt x="14361" y="0"/>
                      <a:pt x="32076" y="0"/>
                    </a:cubicBezTo>
                    <a:close/>
                  </a:path>
                </a:pathLst>
              </a:custGeom>
              <a:solidFill>
                <a:srgbClr val="5BB5DC"/>
              </a:solidFill>
              <a:ln cap="rnd">
                <a:noFill/>
                <a:prstDash val="solid"/>
                <a:round/>
              </a:ln>
            </p:spPr>
          </p:sp>
          <p:sp>
            <p:nvSpPr>
              <p:cNvPr name="TextBox 36" id="36"/>
              <p:cNvSpPr txBox="true"/>
              <p:nvPr/>
            </p:nvSpPr>
            <p:spPr>
              <a:xfrm>
                <a:off x="0" y="-38100"/>
                <a:ext cx="455475" cy="262729"/>
              </a:xfrm>
              <a:prstGeom prst="rect">
                <a:avLst/>
              </a:prstGeom>
            </p:spPr>
            <p:txBody>
              <a:bodyPr anchor="ctr" rtlCol="false" tIns="41176" lIns="41176" bIns="41176" rIns="41176"/>
              <a:lstStyle/>
              <a:p>
                <a:pPr algn="ctr">
                  <a:lnSpc>
                    <a:spcPts val="2659"/>
                  </a:lnSpc>
                </a:pPr>
              </a:p>
            </p:txBody>
          </p:sp>
        </p:grpSp>
        <p:sp>
          <p:nvSpPr>
            <p:cNvPr name="TextBox 37" id="37"/>
            <p:cNvSpPr txBox="true"/>
            <p:nvPr/>
          </p:nvSpPr>
          <p:spPr>
            <a:xfrm rot="0">
              <a:off x="317820" y="352984"/>
              <a:ext cx="5649918" cy="2277745"/>
            </a:xfrm>
            <a:prstGeom prst="rect">
              <a:avLst/>
            </a:prstGeom>
          </p:spPr>
          <p:txBody>
            <a:bodyPr anchor="t" rtlCol="false" tIns="0" lIns="0" bIns="0" rIns="0">
              <a:spAutoFit/>
            </a:bodyPr>
            <a:lstStyle/>
            <a:p>
              <a:pPr algn="l">
                <a:lnSpc>
                  <a:spcPts val="2310"/>
                </a:lnSpc>
              </a:pPr>
              <a:r>
                <a:rPr lang="en-US" sz="1650">
                  <a:solidFill>
                    <a:srgbClr val="F8DCBF"/>
                  </a:solidFill>
                  <a:latin typeface="Archivo Black"/>
                  <a:ea typeface="Archivo Black"/>
                  <a:cs typeface="Archivo Black"/>
                  <a:sym typeface="Archivo Black"/>
                </a:rPr>
                <a:t>El servidor:</a:t>
              </a:r>
            </a:p>
            <a:p>
              <a:pPr algn="l">
                <a:lnSpc>
                  <a:spcPts val="2310"/>
                </a:lnSpc>
              </a:pPr>
              <a:r>
                <a:rPr lang="en-US" sz="1650">
                  <a:solidFill>
                    <a:srgbClr val="F8DCBF"/>
                  </a:solidFill>
                  <a:latin typeface="Archivo Black"/>
                  <a:ea typeface="Archivo Black"/>
                  <a:cs typeface="Archivo Black"/>
                  <a:sym typeface="Archivo Black"/>
                </a:rPr>
                <a:t>Busca al destinatario en toda la red.</a:t>
              </a:r>
            </a:p>
            <a:p>
              <a:pPr algn="l">
                <a:lnSpc>
                  <a:spcPts val="2310"/>
                </a:lnSpc>
              </a:pPr>
              <a:r>
                <a:rPr lang="en-US" sz="1650">
                  <a:solidFill>
                    <a:srgbClr val="F8DCBF"/>
                  </a:solidFill>
                  <a:latin typeface="Archivo Black"/>
                  <a:ea typeface="Archivo Black"/>
                  <a:cs typeface="Archivo Black"/>
                  <a:sym typeface="Archivo Black"/>
                </a:rPr>
                <a:t>Usa BFS para encontrar la ruta más corta.</a:t>
              </a:r>
            </a:p>
            <a:p>
              <a:pPr algn="l">
                <a:lnSpc>
                  <a:spcPts val="2310"/>
                </a:lnSpc>
                <a:spcBef>
                  <a:spcPct val="0"/>
                </a:spcBef>
              </a:pPr>
              <a:r>
                <a:rPr lang="en-US" sz="1650">
                  <a:solidFill>
                    <a:srgbClr val="F8DCBF"/>
                  </a:solidFill>
                  <a:latin typeface="Archivo Black"/>
                  <a:ea typeface="Archivo Black"/>
                  <a:cs typeface="Archivo Black"/>
                  <a:sym typeface="Archivo Black"/>
                </a:rPr>
                <a:t>Entrega el mensaje siguiendo esa ruta virtual.</a:t>
              </a:r>
            </a:p>
          </p:txBody>
        </p:sp>
      </p:grpSp>
    </p:spTree>
  </p:cSld>
  <p:clrMapOvr>
    <a:masterClrMapping/>
  </p:clrMapOvr>
</p:sld>
</file>

<file path=ppt/slides/slide18.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4112330"/>
            <a:ext cx="19530227" cy="3039936"/>
            <a:chOff x="0" y="0"/>
            <a:chExt cx="5143763" cy="800642"/>
          </a:xfrm>
        </p:grpSpPr>
        <p:sp>
          <p:nvSpPr>
            <p:cNvPr name="Freeform 3" id="3"/>
            <p:cNvSpPr/>
            <p:nvPr/>
          </p:nvSpPr>
          <p:spPr>
            <a:xfrm flipH="false" flipV="false" rot="0">
              <a:off x="0" y="0"/>
              <a:ext cx="5143764" cy="800642"/>
            </a:xfrm>
            <a:custGeom>
              <a:avLst/>
              <a:gdLst/>
              <a:ahLst/>
              <a:cxnLst/>
              <a:rect r="r" b="b" t="t" l="l"/>
              <a:pathLst>
                <a:path h="800642" w="5143764">
                  <a:moveTo>
                    <a:pt x="4940564" y="0"/>
                  </a:moveTo>
                  <a:lnTo>
                    <a:pt x="0" y="0"/>
                  </a:lnTo>
                  <a:lnTo>
                    <a:pt x="0" y="800642"/>
                  </a:lnTo>
                  <a:lnTo>
                    <a:pt x="4940564" y="800642"/>
                  </a:lnTo>
                  <a:lnTo>
                    <a:pt x="5143764" y="400321"/>
                  </a:lnTo>
                  <a:lnTo>
                    <a:pt x="4940564" y="0"/>
                  </a:lnTo>
                  <a:close/>
                </a:path>
              </a:pathLst>
            </a:custGeom>
            <a:solidFill>
              <a:srgbClr val="DC8651"/>
            </a:solidFill>
          </p:spPr>
        </p:sp>
        <p:sp>
          <p:nvSpPr>
            <p:cNvPr name="TextBox 4" id="4"/>
            <p:cNvSpPr txBox="true"/>
            <p:nvPr/>
          </p:nvSpPr>
          <p:spPr>
            <a:xfrm>
              <a:off x="0" y="-38100"/>
              <a:ext cx="5029463" cy="8387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184090"/>
            <a:ext cx="18288000" cy="1736131"/>
            <a:chOff x="0" y="0"/>
            <a:chExt cx="7742310" cy="734999"/>
          </a:xfrm>
        </p:grpSpPr>
        <p:sp>
          <p:nvSpPr>
            <p:cNvPr name="Freeform 6" id="6"/>
            <p:cNvSpPr/>
            <p:nvPr/>
          </p:nvSpPr>
          <p:spPr>
            <a:xfrm flipH="false" flipV="false" rot="0">
              <a:off x="0" y="0"/>
              <a:ext cx="7742310" cy="734999"/>
            </a:xfrm>
            <a:custGeom>
              <a:avLst/>
              <a:gdLst/>
              <a:ahLst/>
              <a:cxnLst/>
              <a:rect r="r" b="b" t="t" l="l"/>
              <a:pathLst>
                <a:path h="734999" w="7742310">
                  <a:moveTo>
                    <a:pt x="0" y="0"/>
                  </a:moveTo>
                  <a:lnTo>
                    <a:pt x="7742310" y="0"/>
                  </a:lnTo>
                  <a:lnTo>
                    <a:pt x="7742310" y="734999"/>
                  </a:lnTo>
                  <a:lnTo>
                    <a:pt x="0" y="734999"/>
                  </a:lnTo>
                  <a:close/>
                </a:path>
              </a:pathLst>
            </a:custGeom>
            <a:solidFill>
              <a:srgbClr val="F8DCBF"/>
            </a:solidFill>
          </p:spPr>
        </p:sp>
        <p:sp>
          <p:nvSpPr>
            <p:cNvPr name="TextBox 7" id="7"/>
            <p:cNvSpPr txBox="true"/>
            <p:nvPr/>
          </p:nvSpPr>
          <p:spPr>
            <a:xfrm>
              <a:off x="0" y="-38100"/>
              <a:ext cx="7742310" cy="773099"/>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297115" y="353501"/>
            <a:ext cx="13656983" cy="1382905"/>
            <a:chOff x="0" y="0"/>
            <a:chExt cx="6647738" cy="673149"/>
          </a:xfrm>
        </p:grpSpPr>
        <p:sp>
          <p:nvSpPr>
            <p:cNvPr name="Freeform 9" id="9"/>
            <p:cNvSpPr/>
            <p:nvPr/>
          </p:nvSpPr>
          <p:spPr>
            <a:xfrm flipH="false" flipV="false" rot="0">
              <a:off x="0" y="0"/>
              <a:ext cx="6647738" cy="673149"/>
            </a:xfrm>
            <a:custGeom>
              <a:avLst/>
              <a:gdLst/>
              <a:ahLst/>
              <a:cxnLst/>
              <a:rect r="r" b="b" t="t" l="l"/>
              <a:pathLst>
                <a:path h="673149" w="6647738">
                  <a:moveTo>
                    <a:pt x="6568319" y="0"/>
                  </a:moveTo>
                  <a:lnTo>
                    <a:pt x="79418" y="0"/>
                  </a:lnTo>
                  <a:cubicBezTo>
                    <a:pt x="79418" y="43699"/>
                    <a:pt x="44079" y="79418"/>
                    <a:pt x="0" y="79418"/>
                  </a:cubicBezTo>
                  <a:lnTo>
                    <a:pt x="0" y="593731"/>
                  </a:lnTo>
                  <a:cubicBezTo>
                    <a:pt x="43699" y="593731"/>
                    <a:pt x="79418" y="629070"/>
                    <a:pt x="79418" y="673149"/>
                  </a:cubicBezTo>
                  <a:lnTo>
                    <a:pt x="6568319" y="673149"/>
                  </a:lnTo>
                  <a:cubicBezTo>
                    <a:pt x="6568319" y="629450"/>
                    <a:pt x="6603658" y="593731"/>
                    <a:pt x="6647738" y="593731"/>
                  </a:cubicBezTo>
                  <a:lnTo>
                    <a:pt x="6647738" y="79418"/>
                  </a:lnTo>
                  <a:cubicBezTo>
                    <a:pt x="6604038" y="79418"/>
                    <a:pt x="6568319" y="44079"/>
                    <a:pt x="6568319" y="0"/>
                  </a:cubicBezTo>
                  <a:close/>
                </a:path>
              </a:pathLst>
            </a:custGeom>
            <a:solidFill>
              <a:srgbClr val="DC8651"/>
            </a:solidFill>
            <a:ln w="323850" cap="sq">
              <a:solidFill>
                <a:srgbClr val="F1A372"/>
              </a:solidFill>
              <a:prstDash val="solid"/>
              <a:miter/>
            </a:ln>
          </p:spPr>
        </p:sp>
        <p:sp>
          <p:nvSpPr>
            <p:cNvPr name="TextBox 10" id="10"/>
            <p:cNvSpPr txBox="true"/>
            <p:nvPr/>
          </p:nvSpPr>
          <p:spPr>
            <a:xfrm>
              <a:off x="38100" y="0"/>
              <a:ext cx="6571538" cy="635049"/>
            </a:xfrm>
            <a:prstGeom prst="rect">
              <a:avLst/>
            </a:prstGeom>
          </p:spPr>
          <p:txBody>
            <a:bodyPr anchor="ctr" rtlCol="false" tIns="41176" lIns="41176" bIns="41176" rIns="41176"/>
            <a:lstStyle/>
            <a:p>
              <a:pPr algn="ctr">
                <a:lnSpc>
                  <a:spcPts val="2659"/>
                </a:lnSpc>
              </a:pPr>
            </a:p>
          </p:txBody>
        </p:sp>
      </p:grpSp>
      <p:grpSp>
        <p:nvGrpSpPr>
          <p:cNvPr name="Group 11" id="11"/>
          <p:cNvGrpSpPr/>
          <p:nvPr/>
        </p:nvGrpSpPr>
        <p:grpSpPr>
          <a:xfrm rot="0">
            <a:off x="9388569" y="3372784"/>
            <a:ext cx="6572333" cy="3179763"/>
            <a:chOff x="0" y="0"/>
            <a:chExt cx="8763111" cy="4239685"/>
          </a:xfrm>
        </p:grpSpPr>
        <p:grpSp>
          <p:nvGrpSpPr>
            <p:cNvPr name="Group 12" id="12"/>
            <p:cNvGrpSpPr/>
            <p:nvPr/>
          </p:nvGrpSpPr>
          <p:grpSpPr>
            <a:xfrm rot="0">
              <a:off x="0" y="0"/>
              <a:ext cx="8763111" cy="4239685"/>
              <a:chOff x="0" y="0"/>
              <a:chExt cx="514632" cy="248984"/>
            </a:xfrm>
          </p:grpSpPr>
          <p:sp>
            <p:nvSpPr>
              <p:cNvPr name="Freeform 13" id="13"/>
              <p:cNvSpPr/>
              <p:nvPr/>
            </p:nvSpPr>
            <p:spPr>
              <a:xfrm flipH="false" flipV="false" rot="0">
                <a:off x="0" y="0"/>
                <a:ext cx="514632" cy="248984"/>
              </a:xfrm>
              <a:custGeom>
                <a:avLst/>
                <a:gdLst/>
                <a:ahLst/>
                <a:cxnLst/>
                <a:rect r="r" b="b" t="t" l="l"/>
                <a:pathLst>
                  <a:path h="248984" w="514632">
                    <a:moveTo>
                      <a:pt x="23007" y="0"/>
                    </a:moveTo>
                    <a:lnTo>
                      <a:pt x="491625" y="0"/>
                    </a:lnTo>
                    <a:cubicBezTo>
                      <a:pt x="497727" y="0"/>
                      <a:pt x="503578" y="2424"/>
                      <a:pt x="507893" y="6739"/>
                    </a:cubicBezTo>
                    <a:cubicBezTo>
                      <a:pt x="512208" y="11053"/>
                      <a:pt x="514632" y="16905"/>
                      <a:pt x="514632" y="23007"/>
                    </a:cubicBezTo>
                    <a:lnTo>
                      <a:pt x="514632" y="225977"/>
                    </a:lnTo>
                    <a:cubicBezTo>
                      <a:pt x="514632" y="232079"/>
                      <a:pt x="512208" y="237931"/>
                      <a:pt x="507893" y="242246"/>
                    </a:cubicBezTo>
                    <a:cubicBezTo>
                      <a:pt x="503578" y="246560"/>
                      <a:pt x="497727" y="248984"/>
                      <a:pt x="491625" y="248984"/>
                    </a:cubicBezTo>
                    <a:lnTo>
                      <a:pt x="23007" y="248984"/>
                    </a:lnTo>
                    <a:cubicBezTo>
                      <a:pt x="10301" y="248984"/>
                      <a:pt x="0" y="238684"/>
                      <a:pt x="0" y="225977"/>
                    </a:cubicBezTo>
                    <a:lnTo>
                      <a:pt x="0" y="23007"/>
                    </a:lnTo>
                    <a:cubicBezTo>
                      <a:pt x="0" y="16905"/>
                      <a:pt x="2424" y="11053"/>
                      <a:pt x="6739" y="6739"/>
                    </a:cubicBezTo>
                    <a:cubicBezTo>
                      <a:pt x="11053" y="2424"/>
                      <a:pt x="16905" y="0"/>
                      <a:pt x="23007" y="0"/>
                    </a:cubicBezTo>
                    <a:close/>
                  </a:path>
                </a:pathLst>
              </a:custGeom>
              <a:solidFill>
                <a:srgbClr val="5BB5DC"/>
              </a:solidFill>
              <a:ln w="133350" cap="rnd">
                <a:solidFill>
                  <a:srgbClr val="F8DCBF"/>
                </a:solidFill>
                <a:prstDash val="solid"/>
                <a:round/>
              </a:ln>
            </p:spPr>
          </p:sp>
          <p:sp>
            <p:nvSpPr>
              <p:cNvPr name="TextBox 14" id="14"/>
              <p:cNvSpPr txBox="true"/>
              <p:nvPr/>
            </p:nvSpPr>
            <p:spPr>
              <a:xfrm>
                <a:off x="0" y="-38100"/>
                <a:ext cx="514632" cy="287084"/>
              </a:xfrm>
              <a:prstGeom prst="rect">
                <a:avLst/>
              </a:prstGeom>
            </p:spPr>
            <p:txBody>
              <a:bodyPr anchor="ctr" rtlCol="false" tIns="50800" lIns="50800" bIns="50800" rIns="50800"/>
              <a:lstStyle/>
              <a:p>
                <a:pPr algn="ctr">
                  <a:lnSpc>
                    <a:spcPts val="2310"/>
                  </a:lnSpc>
                </a:pPr>
              </a:p>
            </p:txBody>
          </p:sp>
        </p:grpSp>
        <p:sp>
          <p:nvSpPr>
            <p:cNvPr name="TextBox 15" id="15"/>
            <p:cNvSpPr txBox="true"/>
            <p:nvPr/>
          </p:nvSpPr>
          <p:spPr>
            <a:xfrm rot="0">
              <a:off x="83708" y="385657"/>
              <a:ext cx="8618946" cy="3420745"/>
            </a:xfrm>
            <a:prstGeom prst="rect">
              <a:avLst/>
            </a:prstGeom>
          </p:spPr>
          <p:txBody>
            <a:bodyPr anchor="t" rtlCol="false" tIns="0" lIns="0" bIns="0" rIns="0">
              <a:spAutoFit/>
            </a:bodyPr>
            <a:lstStyle/>
            <a:p>
              <a:pPr algn="ctr">
                <a:lnSpc>
                  <a:spcPts val="2310"/>
                </a:lnSpc>
              </a:pPr>
              <a:r>
                <a:rPr lang="en-US" sz="1650">
                  <a:solidFill>
                    <a:srgbClr val="FFFFFF"/>
                  </a:solidFill>
                  <a:latin typeface="Archivo Black"/>
                  <a:ea typeface="Archivo Black"/>
                  <a:cs typeface="Archivo Black"/>
                  <a:sym typeface="Archivo Black"/>
                </a:rPr>
                <a:t>2. Envío y recepción de mensajes</a:t>
              </a:r>
            </a:p>
            <a:p>
              <a:pPr algn="ctr">
                <a:lnSpc>
                  <a:spcPts val="2310"/>
                </a:lnSpc>
              </a:pPr>
              <a:r>
                <a:rPr lang="en-US" sz="1650">
                  <a:solidFill>
                    <a:srgbClr val="FFFFFF"/>
                  </a:solidFill>
                  <a:latin typeface="Archivo Black"/>
                  <a:ea typeface="Archivo Black"/>
                  <a:cs typeface="Archivo Black"/>
                  <a:sym typeface="Archivo Black"/>
                </a:rPr>
                <a:t>Enviar mensajes individuales entre usuarios del mismo servidor.</a:t>
              </a:r>
            </a:p>
            <a:p>
              <a:pPr algn="ctr">
                <a:lnSpc>
                  <a:spcPts val="2310"/>
                </a:lnSpc>
              </a:pPr>
              <a:r>
                <a:rPr lang="en-US" sz="1650">
                  <a:solidFill>
                    <a:srgbClr val="FFFFFF"/>
                  </a:solidFill>
                  <a:latin typeface="Archivo Black"/>
                  <a:ea typeface="Archivo Black"/>
                  <a:cs typeface="Archivo Black"/>
                  <a:sym typeface="Archivo Black"/>
                </a:rPr>
                <a:t>Enviar mensajes a todos los usuarios de un mismo departamento.</a:t>
              </a:r>
            </a:p>
            <a:p>
              <a:pPr algn="ctr">
                <a:lnSpc>
                  <a:spcPts val="2310"/>
                </a:lnSpc>
              </a:pPr>
              <a:r>
                <a:rPr lang="en-US" sz="1650">
                  <a:solidFill>
                    <a:srgbClr val="FFFFFF"/>
                  </a:solidFill>
                  <a:latin typeface="Archivo Black"/>
                  <a:ea typeface="Archivo Black"/>
                  <a:cs typeface="Archivo Black"/>
                  <a:sym typeface="Archivo Black"/>
                </a:rPr>
                <a:t>Recepción automática de mensajes en la bandeja de entrada.</a:t>
              </a:r>
            </a:p>
            <a:p>
              <a:pPr algn="ctr">
                <a:lnSpc>
                  <a:spcPts val="2310"/>
                </a:lnSpc>
              </a:pPr>
              <a:r>
                <a:rPr lang="en-US" sz="1650">
                  <a:solidFill>
                    <a:srgbClr val="FFFFFF"/>
                  </a:solidFill>
                  <a:latin typeface="Archivo Black"/>
                  <a:ea typeface="Archivo Black"/>
                  <a:cs typeface="Archivo Black"/>
                  <a:sym typeface="Archivo Black"/>
                </a:rPr>
                <a:t>Soporte para mensajes con prioridad alta.</a:t>
              </a:r>
            </a:p>
            <a:p>
              <a:pPr algn="ctr">
                <a:lnSpc>
                  <a:spcPts val="2310"/>
                </a:lnSpc>
                <a:spcBef>
                  <a:spcPct val="0"/>
                </a:spcBef>
              </a:pPr>
              <a:r>
                <a:rPr lang="en-US" sz="1650">
                  <a:solidFill>
                    <a:srgbClr val="FFFFFF"/>
                  </a:solidFill>
                  <a:latin typeface="Archivo Black"/>
                  <a:ea typeface="Archivo Black"/>
                  <a:cs typeface="Archivo Black"/>
                  <a:sym typeface="Archivo Black"/>
                </a:rPr>
                <a:t>Fecha automática, adjuntos, destacado, etc.</a:t>
              </a:r>
            </a:p>
          </p:txBody>
        </p:sp>
      </p:grpSp>
      <p:grpSp>
        <p:nvGrpSpPr>
          <p:cNvPr name="Group 16" id="16"/>
          <p:cNvGrpSpPr/>
          <p:nvPr/>
        </p:nvGrpSpPr>
        <p:grpSpPr>
          <a:xfrm rot="0">
            <a:off x="2347178" y="2548871"/>
            <a:ext cx="6828492" cy="2605545"/>
            <a:chOff x="0" y="0"/>
            <a:chExt cx="9104656" cy="3474060"/>
          </a:xfrm>
        </p:grpSpPr>
        <p:grpSp>
          <p:nvGrpSpPr>
            <p:cNvPr name="Group 17" id="17"/>
            <p:cNvGrpSpPr/>
            <p:nvPr/>
          </p:nvGrpSpPr>
          <p:grpSpPr>
            <a:xfrm rot="0">
              <a:off x="0" y="0"/>
              <a:ext cx="9104656" cy="3474060"/>
              <a:chOff x="0" y="0"/>
              <a:chExt cx="534690" cy="204021"/>
            </a:xfrm>
          </p:grpSpPr>
          <p:sp>
            <p:nvSpPr>
              <p:cNvPr name="Freeform 18" id="18"/>
              <p:cNvSpPr/>
              <p:nvPr/>
            </p:nvSpPr>
            <p:spPr>
              <a:xfrm flipH="false" flipV="false" rot="0">
                <a:off x="0" y="0"/>
                <a:ext cx="534690" cy="204021"/>
              </a:xfrm>
              <a:custGeom>
                <a:avLst/>
                <a:gdLst/>
                <a:ahLst/>
                <a:cxnLst/>
                <a:rect r="r" b="b" t="t" l="l"/>
                <a:pathLst>
                  <a:path h="204021" w="534690">
                    <a:moveTo>
                      <a:pt x="22144" y="0"/>
                    </a:moveTo>
                    <a:lnTo>
                      <a:pt x="512546" y="0"/>
                    </a:lnTo>
                    <a:cubicBezTo>
                      <a:pt x="518419" y="0"/>
                      <a:pt x="524051" y="2333"/>
                      <a:pt x="528204" y="6486"/>
                    </a:cubicBezTo>
                    <a:cubicBezTo>
                      <a:pt x="532357" y="10639"/>
                      <a:pt x="534690" y="16271"/>
                      <a:pt x="534690" y="22144"/>
                    </a:cubicBezTo>
                    <a:lnTo>
                      <a:pt x="534690" y="181877"/>
                    </a:lnTo>
                    <a:cubicBezTo>
                      <a:pt x="534690" y="194107"/>
                      <a:pt x="524775" y="204021"/>
                      <a:pt x="512546" y="204021"/>
                    </a:cubicBezTo>
                    <a:lnTo>
                      <a:pt x="22144" y="204021"/>
                    </a:lnTo>
                    <a:cubicBezTo>
                      <a:pt x="9914" y="204021"/>
                      <a:pt x="0" y="194107"/>
                      <a:pt x="0" y="181877"/>
                    </a:cubicBezTo>
                    <a:lnTo>
                      <a:pt x="0" y="22144"/>
                    </a:lnTo>
                    <a:cubicBezTo>
                      <a:pt x="0" y="9914"/>
                      <a:pt x="9914" y="0"/>
                      <a:pt x="22144" y="0"/>
                    </a:cubicBezTo>
                    <a:close/>
                  </a:path>
                </a:pathLst>
              </a:custGeom>
              <a:solidFill>
                <a:srgbClr val="5BB5DC"/>
              </a:solidFill>
              <a:ln w="133350" cap="rnd">
                <a:solidFill>
                  <a:srgbClr val="F8DCBF"/>
                </a:solidFill>
                <a:prstDash val="solid"/>
                <a:round/>
              </a:ln>
            </p:spPr>
          </p:sp>
          <p:sp>
            <p:nvSpPr>
              <p:cNvPr name="TextBox 19" id="19"/>
              <p:cNvSpPr txBox="true"/>
              <p:nvPr/>
            </p:nvSpPr>
            <p:spPr>
              <a:xfrm>
                <a:off x="0" y="-38100"/>
                <a:ext cx="534690" cy="242121"/>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57170" y="434315"/>
              <a:ext cx="8847485" cy="3039745"/>
            </a:xfrm>
            <a:prstGeom prst="rect">
              <a:avLst/>
            </a:prstGeom>
          </p:spPr>
          <p:txBody>
            <a:bodyPr anchor="t" rtlCol="false" tIns="0" lIns="0" bIns="0" rIns="0">
              <a:spAutoFit/>
            </a:bodyPr>
            <a:lstStyle/>
            <a:p>
              <a:pPr algn="just">
                <a:lnSpc>
                  <a:spcPts val="2310"/>
                </a:lnSpc>
              </a:pPr>
              <a:r>
                <a:rPr lang="en-US" sz="1650">
                  <a:solidFill>
                    <a:srgbClr val="FFFFFF"/>
                  </a:solidFill>
                  <a:latin typeface="Archivo Black"/>
                  <a:ea typeface="Archivo Black"/>
                  <a:cs typeface="Archivo Black"/>
                  <a:sym typeface="Archivo Black"/>
                </a:rPr>
                <a:t>1. Gestión de usuarios</a:t>
              </a:r>
            </a:p>
            <a:p>
              <a:pPr algn="just">
                <a:lnSpc>
                  <a:spcPts val="2310"/>
                </a:lnSpc>
              </a:pPr>
              <a:r>
                <a:rPr lang="en-US" sz="1650">
                  <a:solidFill>
                    <a:srgbClr val="FFFFFF"/>
                  </a:solidFill>
                  <a:latin typeface="Archivo Black"/>
                  <a:ea typeface="Archivo Black"/>
                  <a:cs typeface="Archivo Black"/>
                  <a:sym typeface="Archivo Black"/>
                </a:rPr>
                <a:t>Crear (registrar) nuevos usuarios.</a:t>
              </a:r>
            </a:p>
            <a:p>
              <a:pPr algn="just">
                <a:lnSpc>
                  <a:spcPts val="2310"/>
                </a:lnSpc>
              </a:pPr>
              <a:r>
                <a:rPr lang="en-US" sz="1650">
                  <a:solidFill>
                    <a:srgbClr val="FFFFFF"/>
                  </a:solidFill>
                  <a:latin typeface="Archivo Black"/>
                  <a:ea typeface="Archivo Black"/>
                  <a:cs typeface="Archivo Black"/>
                  <a:sym typeface="Archivo Black"/>
                </a:rPr>
                <a:t>Iniciar sesión con verificación de contraseña.</a:t>
              </a:r>
            </a:p>
            <a:p>
              <a:pPr algn="just">
                <a:lnSpc>
                  <a:spcPts val="2310"/>
                </a:lnSpc>
              </a:pPr>
              <a:r>
                <a:rPr lang="en-US" sz="1650">
                  <a:solidFill>
                    <a:srgbClr val="FFFFFF"/>
                  </a:solidFill>
                  <a:latin typeface="Archivo Black"/>
                  <a:ea typeface="Archivo Black"/>
                  <a:cs typeface="Archivo Black"/>
                  <a:sym typeface="Archivo Black"/>
                </a:rPr>
                <a:t>Solicitud de cambio de contraseña en el primer login.</a:t>
              </a:r>
            </a:p>
            <a:p>
              <a:pPr algn="just">
                <a:lnSpc>
                  <a:spcPts val="2310"/>
                </a:lnSpc>
              </a:pPr>
              <a:r>
                <a:rPr lang="en-US" sz="1650">
                  <a:solidFill>
                    <a:srgbClr val="FFFFFF"/>
                  </a:solidFill>
                  <a:latin typeface="Archivo Black"/>
                  <a:ea typeface="Archivo Black"/>
                  <a:cs typeface="Archivo Black"/>
                  <a:sym typeface="Archivo Black"/>
                </a:rPr>
                <a:t>Recuperación mediante pregunta de seguridad.</a:t>
              </a:r>
            </a:p>
            <a:p>
              <a:pPr algn="just">
                <a:lnSpc>
                  <a:spcPts val="2310"/>
                </a:lnSpc>
              </a:pPr>
              <a:r>
                <a:rPr lang="en-US" sz="1650">
                  <a:solidFill>
                    <a:srgbClr val="FFFFFF"/>
                  </a:solidFill>
                  <a:latin typeface="Archivo Black"/>
                  <a:ea typeface="Archivo Black"/>
                  <a:cs typeface="Archivo Black"/>
                  <a:sym typeface="Archivo Black"/>
                </a:rPr>
                <a:t>Mostrar lista de usuarios (solo administrador).</a:t>
              </a:r>
            </a:p>
            <a:p>
              <a:pPr algn="just">
                <a:lnSpc>
                  <a:spcPts val="2310"/>
                </a:lnSpc>
              </a:pPr>
              <a:r>
                <a:rPr lang="en-US" sz="1650">
                  <a:solidFill>
                    <a:srgbClr val="FFFFFF"/>
                  </a:solidFill>
                  <a:latin typeface="Archivo Black"/>
                  <a:ea typeface="Archivo Black"/>
                  <a:cs typeface="Archivo Black"/>
                  <a:sym typeface="Archivo Black"/>
                </a:rPr>
                <a:t>Atributos encapsulados y modificables según permisos.</a:t>
              </a:r>
            </a:p>
            <a:p>
              <a:pPr algn="just">
                <a:lnSpc>
                  <a:spcPts val="2310"/>
                </a:lnSpc>
                <a:spcBef>
                  <a:spcPct val="0"/>
                </a:spcBef>
              </a:pPr>
            </a:p>
          </p:txBody>
        </p:sp>
      </p:grpSp>
      <p:grpSp>
        <p:nvGrpSpPr>
          <p:cNvPr name="Group 21" id="21"/>
          <p:cNvGrpSpPr/>
          <p:nvPr/>
        </p:nvGrpSpPr>
        <p:grpSpPr>
          <a:xfrm rot="0">
            <a:off x="8835535" y="6781147"/>
            <a:ext cx="5252071" cy="2611966"/>
            <a:chOff x="0" y="0"/>
            <a:chExt cx="411251" cy="204524"/>
          </a:xfrm>
        </p:grpSpPr>
        <p:sp>
          <p:nvSpPr>
            <p:cNvPr name="Freeform 22" id="22"/>
            <p:cNvSpPr/>
            <p:nvPr/>
          </p:nvSpPr>
          <p:spPr>
            <a:xfrm flipH="false" flipV="false" rot="0">
              <a:off x="0" y="0"/>
              <a:ext cx="411251" cy="204524"/>
            </a:xfrm>
            <a:custGeom>
              <a:avLst/>
              <a:gdLst/>
              <a:ahLst/>
              <a:cxnLst/>
              <a:rect r="r" b="b" t="t" l="l"/>
              <a:pathLst>
                <a:path h="204524" w="411251">
                  <a:moveTo>
                    <a:pt x="28790" y="0"/>
                  </a:moveTo>
                  <a:lnTo>
                    <a:pt x="382461" y="0"/>
                  </a:lnTo>
                  <a:cubicBezTo>
                    <a:pt x="398362" y="0"/>
                    <a:pt x="411251" y="12890"/>
                    <a:pt x="411251" y="28790"/>
                  </a:cubicBezTo>
                  <a:lnTo>
                    <a:pt x="411251" y="175734"/>
                  </a:lnTo>
                  <a:cubicBezTo>
                    <a:pt x="411251" y="191634"/>
                    <a:pt x="398362" y="204524"/>
                    <a:pt x="382461" y="204524"/>
                  </a:cubicBezTo>
                  <a:lnTo>
                    <a:pt x="28790" y="204524"/>
                  </a:lnTo>
                  <a:cubicBezTo>
                    <a:pt x="12890" y="204524"/>
                    <a:pt x="0" y="191634"/>
                    <a:pt x="0" y="175734"/>
                  </a:cubicBezTo>
                  <a:lnTo>
                    <a:pt x="0" y="28790"/>
                  </a:lnTo>
                  <a:cubicBezTo>
                    <a:pt x="0" y="12890"/>
                    <a:pt x="12890" y="0"/>
                    <a:pt x="28790" y="0"/>
                  </a:cubicBezTo>
                  <a:close/>
                </a:path>
              </a:pathLst>
            </a:custGeom>
            <a:solidFill>
              <a:srgbClr val="5BB5DC"/>
            </a:solidFill>
            <a:ln w="133350" cap="rnd">
              <a:solidFill>
                <a:srgbClr val="F8DCBF"/>
              </a:solidFill>
              <a:prstDash val="solid"/>
              <a:round/>
            </a:ln>
          </p:spPr>
        </p:sp>
        <p:sp>
          <p:nvSpPr>
            <p:cNvPr name="TextBox 23" id="23"/>
            <p:cNvSpPr txBox="true"/>
            <p:nvPr/>
          </p:nvSpPr>
          <p:spPr>
            <a:xfrm>
              <a:off x="0" y="-38100"/>
              <a:ext cx="411251" cy="242624"/>
            </a:xfrm>
            <a:prstGeom prst="rect">
              <a:avLst/>
            </a:prstGeom>
          </p:spPr>
          <p:txBody>
            <a:bodyPr anchor="ctr" rtlCol="false" tIns="50800" lIns="50800" bIns="50800" rIns="50800"/>
            <a:lstStyle/>
            <a:p>
              <a:pPr algn="ctr">
                <a:lnSpc>
                  <a:spcPts val="2310"/>
                </a:lnSpc>
              </a:pPr>
            </a:p>
          </p:txBody>
        </p:sp>
      </p:grpSp>
      <p:grpSp>
        <p:nvGrpSpPr>
          <p:cNvPr name="Group 24" id="24"/>
          <p:cNvGrpSpPr/>
          <p:nvPr/>
        </p:nvGrpSpPr>
        <p:grpSpPr>
          <a:xfrm rot="0">
            <a:off x="2327098" y="5383016"/>
            <a:ext cx="6175201" cy="3538500"/>
            <a:chOff x="0" y="0"/>
            <a:chExt cx="8233601" cy="4717999"/>
          </a:xfrm>
        </p:grpSpPr>
        <p:grpSp>
          <p:nvGrpSpPr>
            <p:cNvPr name="Group 25" id="25"/>
            <p:cNvGrpSpPr/>
            <p:nvPr/>
          </p:nvGrpSpPr>
          <p:grpSpPr>
            <a:xfrm rot="0">
              <a:off x="0" y="0"/>
              <a:ext cx="8233601" cy="4717999"/>
              <a:chOff x="0" y="0"/>
              <a:chExt cx="483535" cy="277074"/>
            </a:xfrm>
          </p:grpSpPr>
          <p:sp>
            <p:nvSpPr>
              <p:cNvPr name="Freeform 26" id="26"/>
              <p:cNvSpPr/>
              <p:nvPr/>
            </p:nvSpPr>
            <p:spPr>
              <a:xfrm flipH="false" flipV="false" rot="0">
                <a:off x="0" y="0"/>
                <a:ext cx="483535" cy="277074"/>
              </a:xfrm>
              <a:custGeom>
                <a:avLst/>
                <a:gdLst/>
                <a:ahLst/>
                <a:cxnLst/>
                <a:rect r="r" b="b" t="t" l="l"/>
                <a:pathLst>
                  <a:path h="277074" w="483535">
                    <a:moveTo>
                      <a:pt x="24487" y="0"/>
                    </a:moveTo>
                    <a:lnTo>
                      <a:pt x="459049" y="0"/>
                    </a:lnTo>
                    <a:cubicBezTo>
                      <a:pt x="465543" y="0"/>
                      <a:pt x="471771" y="2580"/>
                      <a:pt x="476363" y="7172"/>
                    </a:cubicBezTo>
                    <a:cubicBezTo>
                      <a:pt x="480955" y="11764"/>
                      <a:pt x="483535" y="17992"/>
                      <a:pt x="483535" y="24487"/>
                    </a:cubicBezTo>
                    <a:lnTo>
                      <a:pt x="483535" y="252588"/>
                    </a:lnTo>
                    <a:cubicBezTo>
                      <a:pt x="483535" y="266111"/>
                      <a:pt x="472572" y="277074"/>
                      <a:pt x="459049" y="277074"/>
                    </a:cubicBezTo>
                    <a:lnTo>
                      <a:pt x="24487" y="277074"/>
                    </a:lnTo>
                    <a:cubicBezTo>
                      <a:pt x="10963" y="277074"/>
                      <a:pt x="0" y="266111"/>
                      <a:pt x="0" y="252588"/>
                    </a:cubicBezTo>
                    <a:lnTo>
                      <a:pt x="0" y="24487"/>
                    </a:lnTo>
                    <a:cubicBezTo>
                      <a:pt x="0" y="10963"/>
                      <a:pt x="10963" y="0"/>
                      <a:pt x="24487" y="0"/>
                    </a:cubicBezTo>
                    <a:close/>
                  </a:path>
                </a:pathLst>
              </a:custGeom>
              <a:solidFill>
                <a:srgbClr val="5BB5DC"/>
              </a:solidFill>
              <a:ln w="133350" cap="rnd">
                <a:solidFill>
                  <a:srgbClr val="F8DCBF"/>
                </a:solidFill>
                <a:prstDash val="solid"/>
                <a:round/>
              </a:ln>
            </p:spPr>
          </p:sp>
          <p:sp>
            <p:nvSpPr>
              <p:cNvPr name="TextBox 27" id="27"/>
              <p:cNvSpPr txBox="true"/>
              <p:nvPr/>
            </p:nvSpPr>
            <p:spPr>
              <a:xfrm>
                <a:off x="0" y="-38100"/>
                <a:ext cx="483535" cy="315174"/>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204618" y="434315"/>
              <a:ext cx="8028983" cy="3801745"/>
            </a:xfrm>
            <a:prstGeom prst="rect">
              <a:avLst/>
            </a:prstGeom>
          </p:spPr>
          <p:txBody>
            <a:bodyPr anchor="t" rtlCol="false" tIns="0" lIns="0" bIns="0" rIns="0">
              <a:spAutoFit/>
            </a:bodyPr>
            <a:lstStyle/>
            <a:p>
              <a:pPr algn="just">
                <a:lnSpc>
                  <a:spcPts val="2310"/>
                </a:lnSpc>
              </a:pPr>
              <a:r>
                <a:rPr lang="en-US" sz="1650">
                  <a:solidFill>
                    <a:srgbClr val="FFFFFF"/>
                  </a:solidFill>
                  <a:latin typeface="Archivo Black"/>
                  <a:ea typeface="Archivo Black"/>
                  <a:cs typeface="Archivo Black"/>
                  <a:sym typeface="Archivo Black"/>
                </a:rPr>
                <a:t>3. Estructura de carpetas (Árbol general recursivo)</a:t>
              </a:r>
            </a:p>
            <a:p>
              <a:pPr algn="just">
                <a:lnSpc>
                  <a:spcPts val="2310"/>
                </a:lnSpc>
              </a:pPr>
              <a:r>
                <a:rPr lang="en-US" sz="1650">
                  <a:solidFill>
                    <a:srgbClr val="FFFFFF"/>
                  </a:solidFill>
                  <a:latin typeface="Archivo Black"/>
                  <a:ea typeface="Archivo Black"/>
                  <a:cs typeface="Archivo Black"/>
                  <a:sym typeface="Archivo Black"/>
                </a:rPr>
                <a:t>Cada usuario tiene:</a:t>
              </a:r>
            </a:p>
            <a:p>
              <a:pPr algn="just">
                <a:lnSpc>
                  <a:spcPts val="2310"/>
                </a:lnSpc>
              </a:pPr>
              <a:r>
                <a:rPr lang="en-US" sz="1650">
                  <a:solidFill>
                    <a:srgbClr val="FFFFFF"/>
                  </a:solidFill>
                  <a:latin typeface="Archivo Black"/>
                  <a:ea typeface="Archivo Black"/>
                  <a:cs typeface="Archivo Black"/>
                  <a:sym typeface="Archivo Black"/>
                </a:rPr>
                <a:t>Root</a:t>
              </a:r>
            </a:p>
            <a:p>
              <a:pPr algn="just">
                <a:lnSpc>
                  <a:spcPts val="2310"/>
                </a:lnSpc>
              </a:pPr>
              <a:r>
                <a:rPr lang="en-US" sz="1650">
                  <a:solidFill>
                    <a:srgbClr val="FFFFFF"/>
                  </a:solidFill>
                  <a:latin typeface="Archivo Black"/>
                  <a:ea typeface="Archivo Black"/>
                  <a:cs typeface="Archivo Black"/>
                  <a:sym typeface="Archivo Black"/>
                </a:rPr>
                <a:t>Bandeja de Entrada</a:t>
              </a:r>
            </a:p>
            <a:p>
              <a:pPr algn="just">
                <a:lnSpc>
                  <a:spcPts val="2310"/>
                </a:lnSpc>
              </a:pPr>
              <a:r>
                <a:rPr lang="en-US" sz="1650">
                  <a:solidFill>
                    <a:srgbClr val="FFFFFF"/>
                  </a:solidFill>
                  <a:latin typeface="Archivo Black"/>
                  <a:ea typeface="Archivo Black"/>
                  <a:cs typeface="Archivo Black"/>
                  <a:sym typeface="Archivo Black"/>
                </a:rPr>
                <a:t>Enviados</a:t>
              </a:r>
            </a:p>
            <a:p>
              <a:pPr algn="just">
                <a:lnSpc>
                  <a:spcPts val="2310"/>
                </a:lnSpc>
              </a:pPr>
              <a:r>
                <a:rPr lang="en-US" sz="1650">
                  <a:solidFill>
                    <a:srgbClr val="FFFFFF"/>
                  </a:solidFill>
                  <a:latin typeface="Archivo Black"/>
                  <a:ea typeface="Archivo Black"/>
                  <a:cs typeface="Archivo Black"/>
                  <a:sym typeface="Archivo Black"/>
                </a:rPr>
                <a:t>Carpetas nuevas creadas por reglas de filtro.</a:t>
              </a:r>
            </a:p>
            <a:p>
              <a:pPr algn="just">
                <a:lnSpc>
                  <a:spcPts val="2310"/>
                </a:lnSpc>
              </a:pPr>
              <a:r>
                <a:rPr lang="en-US" sz="1650">
                  <a:solidFill>
                    <a:srgbClr val="FFFFFF"/>
                  </a:solidFill>
                  <a:latin typeface="Archivo Black"/>
                  <a:ea typeface="Archivo Black"/>
                  <a:cs typeface="Archivo Black"/>
                  <a:sym typeface="Archivo Black"/>
                </a:rPr>
                <a:t>Posibilidad de:</a:t>
              </a:r>
            </a:p>
            <a:p>
              <a:pPr algn="just">
                <a:lnSpc>
                  <a:spcPts val="2310"/>
                </a:lnSpc>
              </a:pPr>
              <a:r>
                <a:rPr lang="en-US" sz="1650">
                  <a:solidFill>
                    <a:srgbClr val="FFFFFF"/>
                  </a:solidFill>
                  <a:latin typeface="Archivo Black"/>
                  <a:ea typeface="Archivo Black"/>
                  <a:cs typeface="Archivo Black"/>
                  <a:sym typeface="Archivo Black"/>
                </a:rPr>
                <a:t>Agregar subcarpetas recursivamente.</a:t>
              </a:r>
            </a:p>
            <a:p>
              <a:pPr algn="just">
                <a:lnSpc>
                  <a:spcPts val="2310"/>
                </a:lnSpc>
              </a:pPr>
              <a:r>
                <a:rPr lang="en-US" sz="1650">
                  <a:solidFill>
                    <a:srgbClr val="FFFFFF"/>
                  </a:solidFill>
                  <a:latin typeface="Archivo Black"/>
                  <a:ea typeface="Archivo Black"/>
                  <a:cs typeface="Archivo Black"/>
                  <a:sym typeface="Archivo Black"/>
                </a:rPr>
                <a:t>Buscar carpetas recursivamente.</a:t>
              </a:r>
            </a:p>
            <a:p>
              <a:pPr algn="just">
                <a:lnSpc>
                  <a:spcPts val="2310"/>
                </a:lnSpc>
                <a:spcBef>
                  <a:spcPct val="0"/>
                </a:spcBef>
              </a:pPr>
              <a:r>
                <a:rPr lang="en-US" sz="1650">
                  <a:solidFill>
                    <a:srgbClr val="FFFFFF"/>
                  </a:solidFill>
                  <a:latin typeface="Archivo Black"/>
                  <a:ea typeface="Archivo Black"/>
                  <a:cs typeface="Archivo Black"/>
                  <a:sym typeface="Archivo Black"/>
                </a:rPr>
                <a:t>Listar el contenido de todo el árbol (DFS preorden).</a:t>
              </a:r>
            </a:p>
          </p:txBody>
        </p:sp>
      </p:grpSp>
      <p:sp>
        <p:nvSpPr>
          <p:cNvPr name="TextBox 29" id="29"/>
          <p:cNvSpPr txBox="true"/>
          <p:nvPr/>
        </p:nvSpPr>
        <p:spPr>
          <a:xfrm rot="0">
            <a:off x="686039" y="694594"/>
            <a:ext cx="12919297"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FUNCIONALIDADES PRINCIPALES DEL PROGRAMA</a:t>
            </a:r>
          </a:p>
        </p:txBody>
      </p:sp>
      <p:sp>
        <p:nvSpPr>
          <p:cNvPr name="TextBox 30" id="30"/>
          <p:cNvSpPr txBox="true"/>
          <p:nvPr/>
        </p:nvSpPr>
        <p:spPr>
          <a:xfrm rot="0">
            <a:off x="13077678" y="186307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
        <p:nvSpPr>
          <p:cNvPr name="TextBox 31" id="31"/>
          <p:cNvSpPr txBox="true"/>
          <p:nvPr/>
        </p:nvSpPr>
        <p:spPr>
          <a:xfrm rot="0">
            <a:off x="8991478" y="6917461"/>
            <a:ext cx="4940184" cy="2291715"/>
          </a:xfrm>
          <a:prstGeom prst="rect">
            <a:avLst/>
          </a:prstGeom>
        </p:spPr>
        <p:txBody>
          <a:bodyPr anchor="t" rtlCol="false" tIns="0" lIns="0" bIns="0" rIns="0">
            <a:spAutoFit/>
          </a:bodyPr>
          <a:lstStyle/>
          <a:p>
            <a:pPr algn="ctr">
              <a:lnSpc>
                <a:spcPts val="2310"/>
              </a:lnSpc>
            </a:pPr>
            <a:r>
              <a:rPr lang="en-US" sz="1650">
                <a:solidFill>
                  <a:srgbClr val="FFFFFF"/>
                </a:solidFill>
                <a:latin typeface="Archivo Black"/>
                <a:ea typeface="Archivo Black"/>
                <a:cs typeface="Archivo Black"/>
                <a:sym typeface="Archivo Black"/>
              </a:rPr>
              <a:t>4. Gestión de mensajes dentro de carpetas</a:t>
            </a:r>
          </a:p>
          <a:p>
            <a:pPr algn="ctr">
              <a:lnSpc>
                <a:spcPts val="2310"/>
              </a:lnSpc>
            </a:pPr>
            <a:r>
              <a:rPr lang="en-US" sz="1650">
                <a:solidFill>
                  <a:srgbClr val="FFFFFF"/>
                </a:solidFill>
                <a:latin typeface="Archivo Black"/>
                <a:ea typeface="Archivo Black"/>
                <a:cs typeface="Archivo Black"/>
                <a:sym typeface="Archivo Black"/>
              </a:rPr>
              <a:t>Insertar mensajes.</a:t>
            </a:r>
          </a:p>
          <a:p>
            <a:pPr algn="ctr">
              <a:lnSpc>
                <a:spcPts val="2310"/>
              </a:lnSpc>
            </a:pPr>
            <a:r>
              <a:rPr lang="en-US" sz="1650">
                <a:solidFill>
                  <a:srgbClr val="FFFFFF"/>
                </a:solidFill>
                <a:latin typeface="Archivo Black"/>
                <a:ea typeface="Archivo Black"/>
                <a:cs typeface="Archivo Black"/>
                <a:sym typeface="Archivo Black"/>
              </a:rPr>
              <a:t>Eliminar mensajes y enviarlos a papelera (con pila LIFO).</a:t>
            </a:r>
          </a:p>
          <a:p>
            <a:pPr algn="ctr">
              <a:lnSpc>
                <a:spcPts val="2310"/>
              </a:lnSpc>
            </a:pPr>
            <a:r>
              <a:rPr lang="en-US" sz="1650">
                <a:solidFill>
                  <a:srgbClr val="FFFFFF"/>
                </a:solidFill>
                <a:latin typeface="Archivo Black"/>
                <a:ea typeface="Archivo Black"/>
                <a:cs typeface="Archivo Black"/>
                <a:sym typeface="Archivo Black"/>
              </a:rPr>
              <a:t>Recuperar últimos mensajes eliminados.</a:t>
            </a:r>
          </a:p>
          <a:p>
            <a:pPr algn="ctr">
              <a:lnSpc>
                <a:spcPts val="2310"/>
              </a:lnSpc>
            </a:pPr>
            <a:r>
              <a:rPr lang="en-US" sz="1650">
                <a:solidFill>
                  <a:srgbClr val="FFFFFF"/>
                </a:solidFill>
                <a:latin typeface="Archivo Black"/>
                <a:ea typeface="Archivo Black"/>
                <a:cs typeface="Archivo Black"/>
                <a:sym typeface="Archivo Black"/>
              </a:rPr>
              <a:t>Mover mensajes entre carpetas.</a:t>
            </a:r>
          </a:p>
          <a:p>
            <a:pPr algn="ctr">
              <a:lnSpc>
                <a:spcPts val="2310"/>
              </a:lnSpc>
              <a:spcBef>
                <a:spcPct val="0"/>
              </a:spcBef>
            </a:pPr>
            <a:r>
              <a:rPr lang="en-US" sz="1650">
                <a:solidFill>
                  <a:srgbClr val="FFFFFF"/>
                </a:solidFill>
                <a:latin typeface="Archivo Black"/>
                <a:ea typeface="Archivo Black"/>
                <a:cs typeface="Archivo Black"/>
                <a:sym typeface="Archivo Black"/>
              </a:rPr>
              <a:t>Buscar mensajes por asunto de manera recursiva.</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184090"/>
            <a:ext cx="18288000" cy="1736131"/>
            <a:chOff x="0" y="0"/>
            <a:chExt cx="7742310" cy="734999"/>
          </a:xfrm>
        </p:grpSpPr>
        <p:sp>
          <p:nvSpPr>
            <p:cNvPr name="Freeform 3" id="3"/>
            <p:cNvSpPr/>
            <p:nvPr/>
          </p:nvSpPr>
          <p:spPr>
            <a:xfrm flipH="false" flipV="false" rot="0">
              <a:off x="0" y="0"/>
              <a:ext cx="7742310" cy="734999"/>
            </a:xfrm>
            <a:custGeom>
              <a:avLst/>
              <a:gdLst/>
              <a:ahLst/>
              <a:cxnLst/>
              <a:rect r="r" b="b" t="t" l="l"/>
              <a:pathLst>
                <a:path h="734999" w="7742310">
                  <a:moveTo>
                    <a:pt x="0" y="0"/>
                  </a:moveTo>
                  <a:lnTo>
                    <a:pt x="7742310" y="0"/>
                  </a:lnTo>
                  <a:lnTo>
                    <a:pt x="7742310" y="734999"/>
                  </a:lnTo>
                  <a:lnTo>
                    <a:pt x="0" y="734999"/>
                  </a:lnTo>
                  <a:close/>
                </a:path>
              </a:pathLst>
            </a:custGeom>
            <a:solidFill>
              <a:srgbClr val="F8DCBF"/>
            </a:solidFill>
          </p:spPr>
        </p:sp>
        <p:sp>
          <p:nvSpPr>
            <p:cNvPr name="TextBox 4" id="4"/>
            <p:cNvSpPr txBox="true"/>
            <p:nvPr/>
          </p:nvSpPr>
          <p:spPr>
            <a:xfrm>
              <a:off x="0" y="-38100"/>
              <a:ext cx="7742310" cy="773099"/>
            </a:xfrm>
            <a:prstGeom prst="rect">
              <a:avLst/>
            </a:prstGeom>
          </p:spPr>
          <p:txBody>
            <a:bodyPr anchor="ctr" rtlCol="false" tIns="41176" lIns="41176" bIns="41176" rIns="41176"/>
            <a:lstStyle/>
            <a:p>
              <a:pPr algn="ctr">
                <a:lnSpc>
                  <a:spcPts val="2659"/>
                </a:lnSpc>
              </a:pPr>
            </a:p>
          </p:txBody>
        </p:sp>
      </p:grpSp>
      <p:grpSp>
        <p:nvGrpSpPr>
          <p:cNvPr name="Group 5" id="5"/>
          <p:cNvGrpSpPr/>
          <p:nvPr/>
        </p:nvGrpSpPr>
        <p:grpSpPr>
          <a:xfrm rot="0">
            <a:off x="297115" y="353501"/>
            <a:ext cx="13656983" cy="1382905"/>
            <a:chOff x="0" y="0"/>
            <a:chExt cx="6647738" cy="673149"/>
          </a:xfrm>
        </p:grpSpPr>
        <p:sp>
          <p:nvSpPr>
            <p:cNvPr name="Freeform 6" id="6"/>
            <p:cNvSpPr/>
            <p:nvPr/>
          </p:nvSpPr>
          <p:spPr>
            <a:xfrm flipH="false" flipV="false" rot="0">
              <a:off x="0" y="0"/>
              <a:ext cx="6647738" cy="673149"/>
            </a:xfrm>
            <a:custGeom>
              <a:avLst/>
              <a:gdLst/>
              <a:ahLst/>
              <a:cxnLst/>
              <a:rect r="r" b="b" t="t" l="l"/>
              <a:pathLst>
                <a:path h="673149" w="6647738">
                  <a:moveTo>
                    <a:pt x="6568319" y="0"/>
                  </a:moveTo>
                  <a:lnTo>
                    <a:pt x="79418" y="0"/>
                  </a:lnTo>
                  <a:cubicBezTo>
                    <a:pt x="79418" y="43699"/>
                    <a:pt x="44079" y="79418"/>
                    <a:pt x="0" y="79418"/>
                  </a:cubicBezTo>
                  <a:lnTo>
                    <a:pt x="0" y="593731"/>
                  </a:lnTo>
                  <a:cubicBezTo>
                    <a:pt x="43699" y="593731"/>
                    <a:pt x="79418" y="629070"/>
                    <a:pt x="79418" y="673149"/>
                  </a:cubicBezTo>
                  <a:lnTo>
                    <a:pt x="6568319" y="673149"/>
                  </a:lnTo>
                  <a:cubicBezTo>
                    <a:pt x="6568319" y="629450"/>
                    <a:pt x="6603658" y="593731"/>
                    <a:pt x="6647738" y="593731"/>
                  </a:cubicBezTo>
                  <a:lnTo>
                    <a:pt x="6647738" y="79418"/>
                  </a:lnTo>
                  <a:cubicBezTo>
                    <a:pt x="6604038" y="79418"/>
                    <a:pt x="6568319" y="44079"/>
                    <a:pt x="6568319" y="0"/>
                  </a:cubicBezTo>
                  <a:close/>
                </a:path>
              </a:pathLst>
            </a:custGeom>
            <a:solidFill>
              <a:srgbClr val="DC8651"/>
            </a:solidFill>
            <a:ln w="323850" cap="sq">
              <a:solidFill>
                <a:srgbClr val="F1A372"/>
              </a:solidFill>
              <a:prstDash val="solid"/>
              <a:miter/>
            </a:ln>
          </p:spPr>
        </p:sp>
        <p:sp>
          <p:nvSpPr>
            <p:cNvPr name="TextBox 7" id="7"/>
            <p:cNvSpPr txBox="true"/>
            <p:nvPr/>
          </p:nvSpPr>
          <p:spPr>
            <a:xfrm>
              <a:off x="38100" y="0"/>
              <a:ext cx="6571538" cy="635049"/>
            </a:xfrm>
            <a:prstGeom prst="rect">
              <a:avLst/>
            </a:prstGeom>
          </p:spPr>
          <p:txBody>
            <a:bodyPr anchor="ctr" rtlCol="false" tIns="41176" lIns="41176" bIns="41176" rIns="41176"/>
            <a:lstStyle/>
            <a:p>
              <a:pPr algn="ctr">
                <a:lnSpc>
                  <a:spcPts val="2659"/>
                </a:lnSpc>
              </a:pPr>
            </a:p>
          </p:txBody>
        </p:sp>
      </p:grpSp>
      <p:grpSp>
        <p:nvGrpSpPr>
          <p:cNvPr name="Group 8" id="8"/>
          <p:cNvGrpSpPr/>
          <p:nvPr/>
        </p:nvGrpSpPr>
        <p:grpSpPr>
          <a:xfrm rot="0">
            <a:off x="0" y="3346120"/>
            <a:ext cx="18104133" cy="4558108"/>
            <a:chOff x="0" y="0"/>
            <a:chExt cx="4799501" cy="1208378"/>
          </a:xfrm>
        </p:grpSpPr>
        <p:sp>
          <p:nvSpPr>
            <p:cNvPr name="Freeform 9" id="9"/>
            <p:cNvSpPr/>
            <p:nvPr/>
          </p:nvSpPr>
          <p:spPr>
            <a:xfrm flipH="false" flipV="false" rot="0">
              <a:off x="0" y="0"/>
              <a:ext cx="4799500" cy="1208378"/>
            </a:xfrm>
            <a:custGeom>
              <a:avLst/>
              <a:gdLst/>
              <a:ahLst/>
              <a:cxnLst/>
              <a:rect r="r" b="b" t="t" l="l"/>
              <a:pathLst>
                <a:path h="1208378" w="4799500">
                  <a:moveTo>
                    <a:pt x="4799500" y="604189"/>
                  </a:moveTo>
                  <a:lnTo>
                    <a:pt x="4393100" y="0"/>
                  </a:lnTo>
                  <a:lnTo>
                    <a:pt x="4393100" y="203200"/>
                  </a:lnTo>
                  <a:lnTo>
                    <a:pt x="0" y="203200"/>
                  </a:lnTo>
                  <a:lnTo>
                    <a:pt x="0" y="1005178"/>
                  </a:lnTo>
                  <a:lnTo>
                    <a:pt x="4393100" y="1005178"/>
                  </a:lnTo>
                  <a:lnTo>
                    <a:pt x="4393100" y="1208378"/>
                  </a:lnTo>
                  <a:lnTo>
                    <a:pt x="4799500" y="604189"/>
                  </a:lnTo>
                  <a:close/>
                </a:path>
              </a:pathLst>
            </a:custGeom>
            <a:solidFill>
              <a:srgbClr val="DC8651"/>
            </a:solidFill>
          </p:spPr>
        </p:sp>
        <p:sp>
          <p:nvSpPr>
            <p:cNvPr name="TextBox 10" id="10"/>
            <p:cNvSpPr txBox="true"/>
            <p:nvPr/>
          </p:nvSpPr>
          <p:spPr>
            <a:xfrm>
              <a:off x="0" y="165100"/>
              <a:ext cx="4697901" cy="84007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786799" y="2870457"/>
            <a:ext cx="6572333" cy="2361248"/>
            <a:chOff x="0" y="0"/>
            <a:chExt cx="8763111" cy="3148331"/>
          </a:xfrm>
        </p:grpSpPr>
        <p:grpSp>
          <p:nvGrpSpPr>
            <p:cNvPr name="Group 12" id="12"/>
            <p:cNvGrpSpPr/>
            <p:nvPr/>
          </p:nvGrpSpPr>
          <p:grpSpPr>
            <a:xfrm rot="0">
              <a:off x="0" y="0"/>
              <a:ext cx="8763111" cy="3148331"/>
              <a:chOff x="0" y="0"/>
              <a:chExt cx="514632" cy="184892"/>
            </a:xfrm>
          </p:grpSpPr>
          <p:sp>
            <p:nvSpPr>
              <p:cNvPr name="Freeform 13" id="13"/>
              <p:cNvSpPr/>
              <p:nvPr/>
            </p:nvSpPr>
            <p:spPr>
              <a:xfrm flipH="false" flipV="false" rot="0">
                <a:off x="0" y="0"/>
                <a:ext cx="514632" cy="184892"/>
              </a:xfrm>
              <a:custGeom>
                <a:avLst/>
                <a:gdLst/>
                <a:ahLst/>
                <a:cxnLst/>
                <a:rect r="r" b="b" t="t" l="l"/>
                <a:pathLst>
                  <a:path h="184892" w="514632">
                    <a:moveTo>
                      <a:pt x="23007" y="0"/>
                    </a:moveTo>
                    <a:lnTo>
                      <a:pt x="491625" y="0"/>
                    </a:lnTo>
                    <a:cubicBezTo>
                      <a:pt x="497727" y="0"/>
                      <a:pt x="503578" y="2424"/>
                      <a:pt x="507893" y="6739"/>
                    </a:cubicBezTo>
                    <a:cubicBezTo>
                      <a:pt x="512208" y="11053"/>
                      <a:pt x="514632" y="16905"/>
                      <a:pt x="514632" y="23007"/>
                    </a:cubicBezTo>
                    <a:lnTo>
                      <a:pt x="514632" y="161885"/>
                    </a:lnTo>
                    <a:cubicBezTo>
                      <a:pt x="514632" y="174592"/>
                      <a:pt x="504331" y="184892"/>
                      <a:pt x="491625" y="184892"/>
                    </a:cubicBezTo>
                    <a:lnTo>
                      <a:pt x="23007" y="184892"/>
                    </a:lnTo>
                    <a:cubicBezTo>
                      <a:pt x="16905" y="184892"/>
                      <a:pt x="11053" y="182468"/>
                      <a:pt x="6739" y="178154"/>
                    </a:cubicBezTo>
                    <a:cubicBezTo>
                      <a:pt x="2424" y="173839"/>
                      <a:pt x="0" y="167987"/>
                      <a:pt x="0" y="161885"/>
                    </a:cubicBezTo>
                    <a:lnTo>
                      <a:pt x="0" y="23007"/>
                    </a:lnTo>
                    <a:cubicBezTo>
                      <a:pt x="0" y="16905"/>
                      <a:pt x="2424" y="11053"/>
                      <a:pt x="6739" y="6739"/>
                    </a:cubicBezTo>
                    <a:cubicBezTo>
                      <a:pt x="11053" y="2424"/>
                      <a:pt x="16905" y="0"/>
                      <a:pt x="23007" y="0"/>
                    </a:cubicBezTo>
                    <a:close/>
                  </a:path>
                </a:pathLst>
              </a:custGeom>
              <a:solidFill>
                <a:srgbClr val="5BB5DC"/>
              </a:solidFill>
              <a:ln w="133350" cap="rnd">
                <a:solidFill>
                  <a:srgbClr val="F8DCBF"/>
                </a:solidFill>
                <a:prstDash val="solid"/>
                <a:round/>
              </a:ln>
            </p:spPr>
          </p:sp>
          <p:sp>
            <p:nvSpPr>
              <p:cNvPr name="TextBox 14" id="14"/>
              <p:cNvSpPr txBox="true"/>
              <p:nvPr/>
            </p:nvSpPr>
            <p:spPr>
              <a:xfrm>
                <a:off x="0" y="-47625"/>
                <a:ext cx="514632" cy="232517"/>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83708" y="385657"/>
              <a:ext cx="8618946" cy="2329392"/>
            </a:xfrm>
            <a:prstGeom prst="rect">
              <a:avLst/>
            </a:prstGeom>
          </p:spPr>
          <p:txBody>
            <a:bodyPr anchor="t" rtlCol="false" tIns="0" lIns="0" bIns="0" rIns="0">
              <a:spAutoFit/>
            </a:bodyPr>
            <a:lstStyle/>
            <a:p>
              <a:pPr algn="ctr">
                <a:lnSpc>
                  <a:spcPts val="2800"/>
                </a:lnSpc>
              </a:pPr>
              <a:r>
                <a:rPr lang="en-US" sz="2000">
                  <a:solidFill>
                    <a:srgbClr val="FFFFFF"/>
                  </a:solidFill>
                  <a:latin typeface="Archivo Black"/>
                  <a:ea typeface="Archivo Black"/>
                  <a:cs typeface="Archivo Black"/>
                  <a:sym typeface="Archivo Black"/>
                </a:rPr>
                <a:t>6. Cola de prioridad para mensajes urgentes</a:t>
              </a:r>
            </a:p>
            <a:p>
              <a:pPr algn="ctr">
                <a:lnSpc>
                  <a:spcPts val="2800"/>
                </a:lnSpc>
              </a:pPr>
              <a:r>
                <a:rPr lang="en-US" sz="2000">
                  <a:solidFill>
                    <a:srgbClr val="FFFFFF"/>
                  </a:solidFill>
                  <a:latin typeface="Archivo Black"/>
                  <a:ea typeface="Archivo Black"/>
                  <a:cs typeface="Archivo Black"/>
                  <a:sym typeface="Archivo Black"/>
                </a:rPr>
                <a:t>Los mensajes marcados como prioritarios se almacenan en una ColaPrioridad.</a:t>
              </a:r>
            </a:p>
            <a:p>
              <a:pPr algn="ctr">
                <a:lnSpc>
                  <a:spcPts val="2800"/>
                </a:lnSpc>
                <a:spcBef>
                  <a:spcPct val="0"/>
                </a:spcBef>
              </a:pPr>
              <a:r>
                <a:rPr lang="en-US" sz="2000">
                  <a:solidFill>
                    <a:srgbClr val="FFFFFF"/>
                  </a:solidFill>
                  <a:latin typeface="Archivo Black"/>
                  <a:ea typeface="Archivo Black"/>
                  <a:cs typeface="Archivo Black"/>
                  <a:sym typeface="Archivo Black"/>
                </a:rPr>
                <a:t>El usuario puede procesar estos mensajes en orden FIFO.</a:t>
              </a:r>
            </a:p>
          </p:txBody>
        </p:sp>
      </p:grpSp>
      <p:grpSp>
        <p:nvGrpSpPr>
          <p:cNvPr name="Group 16" id="16"/>
          <p:cNvGrpSpPr/>
          <p:nvPr/>
        </p:nvGrpSpPr>
        <p:grpSpPr>
          <a:xfrm rot="0">
            <a:off x="1456102" y="2477171"/>
            <a:ext cx="7015604" cy="3224670"/>
            <a:chOff x="0" y="0"/>
            <a:chExt cx="549341" cy="252500"/>
          </a:xfrm>
        </p:grpSpPr>
        <p:sp>
          <p:nvSpPr>
            <p:cNvPr name="Freeform 17" id="17"/>
            <p:cNvSpPr/>
            <p:nvPr/>
          </p:nvSpPr>
          <p:spPr>
            <a:xfrm flipH="false" flipV="false" rot="0">
              <a:off x="0" y="0"/>
              <a:ext cx="549341" cy="252500"/>
            </a:xfrm>
            <a:custGeom>
              <a:avLst/>
              <a:gdLst/>
              <a:ahLst/>
              <a:cxnLst/>
              <a:rect r="r" b="b" t="t" l="l"/>
              <a:pathLst>
                <a:path h="252500" w="549341">
                  <a:moveTo>
                    <a:pt x="21553" y="0"/>
                  </a:moveTo>
                  <a:lnTo>
                    <a:pt x="527788" y="0"/>
                  </a:lnTo>
                  <a:cubicBezTo>
                    <a:pt x="539691" y="0"/>
                    <a:pt x="549341" y="9650"/>
                    <a:pt x="549341" y="21553"/>
                  </a:cubicBezTo>
                  <a:lnTo>
                    <a:pt x="549341" y="230947"/>
                  </a:lnTo>
                  <a:cubicBezTo>
                    <a:pt x="549341" y="242851"/>
                    <a:pt x="539691" y="252500"/>
                    <a:pt x="527788" y="252500"/>
                  </a:cubicBezTo>
                  <a:lnTo>
                    <a:pt x="21553" y="252500"/>
                  </a:lnTo>
                  <a:cubicBezTo>
                    <a:pt x="9650" y="252500"/>
                    <a:pt x="0" y="242851"/>
                    <a:pt x="0" y="23094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18" id="18"/>
            <p:cNvSpPr txBox="true"/>
            <p:nvPr/>
          </p:nvSpPr>
          <p:spPr>
            <a:xfrm>
              <a:off x="0" y="-47625"/>
              <a:ext cx="549341" cy="300125"/>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9048925" y="5626120"/>
            <a:ext cx="5156394" cy="2784051"/>
            <a:chOff x="0" y="0"/>
            <a:chExt cx="6875191" cy="3712068"/>
          </a:xfrm>
        </p:grpSpPr>
        <p:grpSp>
          <p:nvGrpSpPr>
            <p:cNvPr name="Group 20" id="20"/>
            <p:cNvGrpSpPr/>
            <p:nvPr/>
          </p:nvGrpSpPr>
          <p:grpSpPr>
            <a:xfrm rot="0">
              <a:off x="0" y="0"/>
              <a:ext cx="6875191" cy="3712068"/>
              <a:chOff x="0" y="0"/>
              <a:chExt cx="403760" cy="217999"/>
            </a:xfrm>
          </p:grpSpPr>
          <p:sp>
            <p:nvSpPr>
              <p:cNvPr name="Freeform 21" id="21"/>
              <p:cNvSpPr/>
              <p:nvPr/>
            </p:nvSpPr>
            <p:spPr>
              <a:xfrm flipH="false" flipV="false" rot="0">
                <a:off x="0" y="0"/>
                <a:ext cx="403760" cy="217999"/>
              </a:xfrm>
              <a:custGeom>
                <a:avLst/>
                <a:gdLst/>
                <a:ahLst/>
                <a:cxnLst/>
                <a:rect r="r" b="b" t="t" l="l"/>
                <a:pathLst>
                  <a:path h="217999" w="403760">
                    <a:moveTo>
                      <a:pt x="29325" y="0"/>
                    </a:moveTo>
                    <a:lnTo>
                      <a:pt x="374435" y="0"/>
                    </a:lnTo>
                    <a:cubicBezTo>
                      <a:pt x="382212" y="0"/>
                      <a:pt x="389671" y="3090"/>
                      <a:pt x="395171" y="8589"/>
                    </a:cubicBezTo>
                    <a:cubicBezTo>
                      <a:pt x="400670" y="14088"/>
                      <a:pt x="403760" y="21547"/>
                      <a:pt x="403760" y="29325"/>
                    </a:cubicBezTo>
                    <a:lnTo>
                      <a:pt x="403760" y="188674"/>
                    </a:lnTo>
                    <a:cubicBezTo>
                      <a:pt x="403760" y="196452"/>
                      <a:pt x="400670" y="203910"/>
                      <a:pt x="395171" y="209410"/>
                    </a:cubicBezTo>
                    <a:cubicBezTo>
                      <a:pt x="389671" y="214909"/>
                      <a:pt x="382212" y="217999"/>
                      <a:pt x="374435" y="217999"/>
                    </a:cubicBezTo>
                    <a:lnTo>
                      <a:pt x="29325" y="217999"/>
                    </a:lnTo>
                    <a:cubicBezTo>
                      <a:pt x="21547" y="217999"/>
                      <a:pt x="14088" y="214909"/>
                      <a:pt x="8589" y="209410"/>
                    </a:cubicBezTo>
                    <a:cubicBezTo>
                      <a:pt x="3090" y="203910"/>
                      <a:pt x="0" y="196452"/>
                      <a:pt x="0" y="188674"/>
                    </a:cubicBezTo>
                    <a:lnTo>
                      <a:pt x="0" y="29325"/>
                    </a:lnTo>
                    <a:cubicBezTo>
                      <a:pt x="0" y="21547"/>
                      <a:pt x="3090" y="14088"/>
                      <a:pt x="8589" y="8589"/>
                    </a:cubicBezTo>
                    <a:cubicBezTo>
                      <a:pt x="14088" y="3090"/>
                      <a:pt x="21547" y="0"/>
                      <a:pt x="29325" y="0"/>
                    </a:cubicBezTo>
                    <a:close/>
                  </a:path>
                </a:pathLst>
              </a:custGeom>
              <a:solidFill>
                <a:srgbClr val="5BB5DC"/>
              </a:solidFill>
              <a:ln w="133350" cap="rnd">
                <a:solidFill>
                  <a:srgbClr val="F8DCBF"/>
                </a:solidFill>
                <a:prstDash val="solid"/>
                <a:round/>
              </a:ln>
            </p:spPr>
          </p:sp>
          <p:sp>
            <p:nvSpPr>
              <p:cNvPr name="TextBox 22" id="22"/>
              <p:cNvSpPr txBox="true"/>
              <p:nvPr/>
            </p:nvSpPr>
            <p:spPr>
              <a:xfrm>
                <a:off x="0" y="-47625"/>
                <a:ext cx="403760" cy="265624"/>
              </a:xfrm>
              <a:prstGeom prst="rect">
                <a:avLst/>
              </a:prstGeom>
            </p:spPr>
            <p:txBody>
              <a:bodyPr anchor="ctr" rtlCol="false" tIns="50800" lIns="50800" bIns="50800" rIns="50800"/>
              <a:lstStyle/>
              <a:p>
                <a:pPr algn="ctr">
                  <a:lnSpc>
                    <a:spcPts val="2800"/>
                  </a:lnSpc>
                </a:pPr>
              </a:p>
            </p:txBody>
          </p:sp>
        </p:grpSp>
        <p:sp>
          <p:nvSpPr>
            <p:cNvPr name="TextBox 23" id="23"/>
            <p:cNvSpPr txBox="true"/>
            <p:nvPr/>
          </p:nvSpPr>
          <p:spPr>
            <a:xfrm rot="0">
              <a:off x="144140" y="197626"/>
              <a:ext cx="6586912" cy="3269192"/>
            </a:xfrm>
            <a:prstGeom prst="rect">
              <a:avLst/>
            </a:prstGeom>
          </p:spPr>
          <p:txBody>
            <a:bodyPr anchor="t" rtlCol="false" tIns="0" lIns="0" bIns="0" rIns="0">
              <a:spAutoFit/>
            </a:bodyPr>
            <a:lstStyle/>
            <a:p>
              <a:pPr algn="ctr">
                <a:lnSpc>
                  <a:spcPts val="2800"/>
                </a:lnSpc>
              </a:pPr>
              <a:r>
                <a:rPr lang="en-US" sz="2000">
                  <a:solidFill>
                    <a:srgbClr val="FFFFFF"/>
                  </a:solidFill>
                  <a:latin typeface="Archivo Black"/>
                  <a:ea typeface="Archivo Black"/>
                  <a:cs typeface="Archivo Black"/>
                  <a:sym typeface="Archivo Black"/>
                </a:rPr>
                <a:t>8. Interfaz de línea de comandos (Main)</a:t>
              </a:r>
            </a:p>
            <a:p>
              <a:pPr algn="ctr">
                <a:lnSpc>
                  <a:spcPts val="2800"/>
                </a:lnSpc>
              </a:pPr>
              <a:r>
                <a:rPr lang="en-US" sz="2000">
                  <a:solidFill>
                    <a:srgbClr val="FFFFFF"/>
                  </a:solidFill>
                  <a:latin typeface="Archivo Black"/>
                  <a:ea typeface="Archivo Black"/>
                  <a:cs typeface="Archivo Black"/>
                  <a:sym typeface="Archivo Black"/>
                </a:rPr>
                <a:t>Permite al usuario interactuar con todas las funcionalidades:</a:t>
              </a:r>
            </a:p>
            <a:p>
              <a:pPr algn="ctr">
                <a:lnSpc>
                  <a:spcPts val="2800"/>
                </a:lnSpc>
              </a:pPr>
              <a:r>
                <a:rPr lang="en-US" sz="2000">
                  <a:solidFill>
                    <a:srgbClr val="FFFFFF"/>
                  </a:solidFill>
                  <a:latin typeface="Archivo Black"/>
                  <a:ea typeface="Archivo Black"/>
                  <a:cs typeface="Archivo Black"/>
                  <a:sym typeface="Archivo Black"/>
                </a:rPr>
                <a:t>Menús.</a:t>
              </a:r>
            </a:p>
            <a:p>
              <a:pPr algn="ctr">
                <a:lnSpc>
                  <a:spcPts val="2800"/>
                </a:lnSpc>
              </a:pPr>
              <a:r>
                <a:rPr lang="en-US" sz="2000">
                  <a:solidFill>
                    <a:srgbClr val="FFFFFF"/>
                  </a:solidFill>
                  <a:latin typeface="Archivo Black"/>
                  <a:ea typeface="Archivo Black"/>
                  <a:cs typeface="Archivo Black"/>
                  <a:sym typeface="Archivo Black"/>
                </a:rPr>
                <a:t>Validación de permisos.</a:t>
              </a:r>
            </a:p>
            <a:p>
              <a:pPr algn="ctr">
                <a:lnSpc>
                  <a:spcPts val="2800"/>
                </a:lnSpc>
                <a:spcBef>
                  <a:spcPct val="0"/>
                </a:spcBef>
              </a:pPr>
              <a:r>
                <a:rPr lang="en-US" sz="2000">
                  <a:solidFill>
                    <a:srgbClr val="FFFFFF"/>
                  </a:solidFill>
                  <a:latin typeface="Archivo Black"/>
                  <a:ea typeface="Archivo Black"/>
                  <a:cs typeface="Archivo Black"/>
                  <a:sym typeface="Archivo Black"/>
                </a:rPr>
                <a:t>Operaciones del uso de correo.</a:t>
              </a:r>
            </a:p>
          </p:txBody>
        </p:sp>
      </p:grpSp>
      <p:grpSp>
        <p:nvGrpSpPr>
          <p:cNvPr name="Group 24" id="24"/>
          <p:cNvGrpSpPr/>
          <p:nvPr/>
        </p:nvGrpSpPr>
        <p:grpSpPr>
          <a:xfrm rot="0">
            <a:off x="1985875" y="5925067"/>
            <a:ext cx="6485830" cy="3736253"/>
            <a:chOff x="0" y="0"/>
            <a:chExt cx="8647774" cy="4981671"/>
          </a:xfrm>
        </p:grpSpPr>
        <p:grpSp>
          <p:nvGrpSpPr>
            <p:cNvPr name="Group 25" id="25"/>
            <p:cNvGrpSpPr/>
            <p:nvPr/>
          </p:nvGrpSpPr>
          <p:grpSpPr>
            <a:xfrm rot="0">
              <a:off x="0" y="0"/>
              <a:ext cx="8647774" cy="4981671"/>
              <a:chOff x="0" y="0"/>
              <a:chExt cx="507858" cy="292559"/>
            </a:xfrm>
          </p:grpSpPr>
          <p:sp>
            <p:nvSpPr>
              <p:cNvPr name="Freeform 26" id="26"/>
              <p:cNvSpPr/>
              <p:nvPr/>
            </p:nvSpPr>
            <p:spPr>
              <a:xfrm flipH="false" flipV="false" rot="0">
                <a:off x="0" y="0"/>
                <a:ext cx="507858" cy="292559"/>
              </a:xfrm>
              <a:custGeom>
                <a:avLst/>
                <a:gdLst/>
                <a:ahLst/>
                <a:cxnLst/>
                <a:rect r="r" b="b" t="t" l="l"/>
                <a:pathLst>
                  <a:path h="292559" w="507858">
                    <a:moveTo>
                      <a:pt x="23314" y="0"/>
                    </a:moveTo>
                    <a:lnTo>
                      <a:pt x="484544" y="0"/>
                    </a:lnTo>
                    <a:cubicBezTo>
                      <a:pt x="490728" y="0"/>
                      <a:pt x="496658" y="2456"/>
                      <a:pt x="501030" y="6828"/>
                    </a:cubicBezTo>
                    <a:cubicBezTo>
                      <a:pt x="505402" y="11201"/>
                      <a:pt x="507858" y="17131"/>
                      <a:pt x="507858" y="23314"/>
                    </a:cubicBezTo>
                    <a:lnTo>
                      <a:pt x="507858" y="269245"/>
                    </a:lnTo>
                    <a:cubicBezTo>
                      <a:pt x="507858" y="282121"/>
                      <a:pt x="497420" y="292559"/>
                      <a:pt x="484544" y="292559"/>
                    </a:cubicBezTo>
                    <a:lnTo>
                      <a:pt x="23314" y="292559"/>
                    </a:lnTo>
                    <a:cubicBezTo>
                      <a:pt x="10438" y="292559"/>
                      <a:pt x="0" y="282121"/>
                      <a:pt x="0" y="269245"/>
                    </a:cubicBezTo>
                    <a:lnTo>
                      <a:pt x="0" y="23314"/>
                    </a:lnTo>
                    <a:cubicBezTo>
                      <a:pt x="0" y="10438"/>
                      <a:pt x="10438" y="0"/>
                      <a:pt x="23314" y="0"/>
                    </a:cubicBezTo>
                    <a:close/>
                  </a:path>
                </a:pathLst>
              </a:custGeom>
              <a:solidFill>
                <a:srgbClr val="5BB5DC"/>
              </a:solidFill>
              <a:ln w="133350" cap="rnd">
                <a:solidFill>
                  <a:srgbClr val="F8DCBF"/>
                </a:solidFill>
                <a:prstDash val="solid"/>
                <a:round/>
              </a:ln>
            </p:spPr>
          </p:sp>
          <p:sp>
            <p:nvSpPr>
              <p:cNvPr name="TextBox 27" id="27"/>
              <p:cNvSpPr txBox="true"/>
              <p:nvPr/>
            </p:nvSpPr>
            <p:spPr>
              <a:xfrm>
                <a:off x="0" y="-47625"/>
                <a:ext cx="507858" cy="340184"/>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309395" y="302779"/>
              <a:ext cx="8028983" cy="4678892"/>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7. Envío de mensajes entre servidores (Grafo con busqueda BFS)</a:t>
              </a:r>
            </a:p>
            <a:p>
              <a:pPr algn="l">
                <a:lnSpc>
                  <a:spcPts val="2800"/>
                </a:lnSpc>
              </a:pPr>
              <a:r>
                <a:rPr lang="en-US" sz="2000">
                  <a:solidFill>
                    <a:srgbClr val="FFFFFF"/>
                  </a:solidFill>
                  <a:latin typeface="Archivo Black"/>
                  <a:ea typeface="Archivo Black"/>
                  <a:cs typeface="Archivo Black"/>
                  <a:sym typeface="Archivo Black"/>
                </a:rPr>
                <a:t>Los servidores pueden conectarse entre sí formando un grafo.</a:t>
              </a:r>
            </a:p>
            <a:p>
              <a:pPr algn="l">
                <a:lnSpc>
                  <a:spcPts val="2800"/>
                </a:lnSpc>
              </a:pPr>
              <a:r>
                <a:rPr lang="en-US" sz="2000">
                  <a:solidFill>
                    <a:srgbClr val="FFFFFF"/>
                  </a:solidFill>
                  <a:latin typeface="Archivo Black"/>
                  <a:ea typeface="Archivo Black"/>
                  <a:cs typeface="Archivo Black"/>
                  <a:sym typeface="Archivo Black"/>
                </a:rPr>
                <a:t>Se utiliza BFS para:</a:t>
              </a:r>
            </a:p>
            <a:p>
              <a:pPr algn="l">
                <a:lnSpc>
                  <a:spcPts val="2800"/>
                </a:lnSpc>
              </a:pPr>
              <a:r>
                <a:rPr lang="en-US" sz="2000">
                  <a:solidFill>
                    <a:srgbClr val="FFFFFF"/>
                  </a:solidFill>
                  <a:latin typeface="Archivo Black"/>
                  <a:ea typeface="Archivo Black"/>
                  <a:cs typeface="Archivo Black"/>
                  <a:sym typeface="Archivo Black"/>
                </a:rPr>
                <a:t>Buscar la ruta más corta entre servidores.</a:t>
              </a:r>
            </a:p>
            <a:p>
              <a:pPr algn="l">
                <a:lnSpc>
                  <a:spcPts val="2800"/>
                </a:lnSpc>
              </a:pPr>
              <a:r>
                <a:rPr lang="en-US" sz="2000">
                  <a:solidFill>
                    <a:srgbClr val="FFFFFF"/>
                  </a:solidFill>
                  <a:latin typeface="Archivo Black"/>
                  <a:ea typeface="Archivo Black"/>
                  <a:cs typeface="Archivo Black"/>
                  <a:sym typeface="Archivo Black"/>
                </a:rPr>
                <a:t>Enviar mensajes a usuarios que están en otros servidores.</a:t>
              </a:r>
            </a:p>
            <a:p>
              <a:pPr algn="l">
                <a:lnSpc>
                  <a:spcPts val="2800"/>
                </a:lnSpc>
              </a:pPr>
              <a:r>
                <a:rPr lang="en-US" sz="2000">
                  <a:solidFill>
                    <a:srgbClr val="FFFFFF"/>
                  </a:solidFill>
                  <a:latin typeface="Archivo Black"/>
                  <a:ea typeface="Archivo Black"/>
                  <a:cs typeface="Archivo Black"/>
                  <a:sym typeface="Archivo Black"/>
                </a:rPr>
                <a:t>Se muestra la ruta utilizada para el envío.</a:t>
              </a:r>
            </a:p>
            <a:p>
              <a:pPr algn="l">
                <a:lnSpc>
                  <a:spcPts val="2800"/>
                </a:lnSpc>
                <a:spcBef>
                  <a:spcPct val="0"/>
                </a:spcBef>
              </a:pPr>
            </a:p>
          </p:txBody>
        </p:sp>
      </p:grpSp>
      <p:sp>
        <p:nvSpPr>
          <p:cNvPr name="TextBox 29" id="29"/>
          <p:cNvSpPr txBox="true"/>
          <p:nvPr/>
        </p:nvSpPr>
        <p:spPr>
          <a:xfrm rot="0">
            <a:off x="686039" y="694594"/>
            <a:ext cx="12919297" cy="624518"/>
          </a:xfrm>
          <a:prstGeom prst="rect">
            <a:avLst/>
          </a:prstGeom>
        </p:spPr>
        <p:txBody>
          <a:bodyPr anchor="t" rtlCol="false" tIns="0" lIns="0" bIns="0" rIns="0">
            <a:spAutoFit/>
          </a:bodyPr>
          <a:lstStyle/>
          <a:p>
            <a:pPr algn="ctr">
              <a:lnSpc>
                <a:spcPts val="5051"/>
              </a:lnSpc>
            </a:pPr>
            <a:r>
              <a:rPr lang="en-US" sz="3608">
                <a:solidFill>
                  <a:srgbClr val="001F3D"/>
                </a:solidFill>
                <a:latin typeface="Archivo Black"/>
                <a:ea typeface="Archivo Black"/>
                <a:cs typeface="Archivo Black"/>
                <a:sym typeface="Archivo Black"/>
              </a:rPr>
              <a:t>FUNCIONALIDADES PRINCIPALES DEL PROGRAMA</a:t>
            </a:r>
          </a:p>
        </p:txBody>
      </p:sp>
      <p:sp>
        <p:nvSpPr>
          <p:cNvPr name="TextBox 30" id="30"/>
          <p:cNvSpPr txBox="true"/>
          <p:nvPr/>
        </p:nvSpPr>
        <p:spPr>
          <a:xfrm rot="0">
            <a:off x="13077678" y="186307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
        <p:nvSpPr>
          <p:cNvPr name="TextBox 31" id="31"/>
          <p:cNvSpPr txBox="true"/>
          <p:nvPr/>
        </p:nvSpPr>
        <p:spPr>
          <a:xfrm rot="0">
            <a:off x="1648979" y="2657581"/>
            <a:ext cx="6635614" cy="2816225"/>
          </a:xfrm>
          <a:prstGeom prst="rect">
            <a:avLst/>
          </a:prstGeom>
        </p:spPr>
        <p:txBody>
          <a:bodyPr anchor="t" rtlCol="false" tIns="0" lIns="0" bIns="0" rIns="0">
            <a:spAutoFit/>
          </a:bodyPr>
          <a:lstStyle/>
          <a:p>
            <a:pPr algn="just">
              <a:lnSpc>
                <a:spcPts val="2800"/>
              </a:lnSpc>
            </a:pPr>
            <a:r>
              <a:rPr lang="en-US" sz="2000">
                <a:solidFill>
                  <a:srgbClr val="FFFFFF"/>
                </a:solidFill>
                <a:latin typeface="Archivo Black"/>
                <a:ea typeface="Archivo Black"/>
                <a:cs typeface="Archivo Black"/>
                <a:sym typeface="Archivo Black"/>
              </a:rPr>
              <a:t>5. Filtros automáticos</a:t>
            </a:r>
          </a:p>
          <a:p>
            <a:pPr algn="just">
              <a:lnSpc>
                <a:spcPts val="2800"/>
              </a:lnSpc>
            </a:pPr>
            <a:r>
              <a:rPr lang="en-US" sz="2000">
                <a:solidFill>
                  <a:srgbClr val="FFFFFF"/>
                </a:solidFill>
                <a:latin typeface="Archivo Black"/>
                <a:ea typeface="Archivo Black"/>
                <a:cs typeface="Archivo Black"/>
                <a:sym typeface="Archivo Black"/>
              </a:rPr>
              <a:t>El usuario puede definir reglas de filtrado:</a:t>
            </a:r>
          </a:p>
          <a:p>
            <a:pPr algn="just">
              <a:lnSpc>
                <a:spcPts val="2800"/>
              </a:lnSpc>
            </a:pPr>
            <a:r>
              <a:rPr lang="en-US" sz="2000">
                <a:solidFill>
                  <a:srgbClr val="FFFFFF"/>
                </a:solidFill>
                <a:latin typeface="Archivo Black"/>
                <a:ea typeface="Archivo Black"/>
                <a:cs typeface="Archivo Black"/>
                <a:sym typeface="Archivo Black"/>
              </a:rPr>
              <a:t>Por palabra clave.</a:t>
            </a:r>
          </a:p>
          <a:p>
            <a:pPr algn="just">
              <a:lnSpc>
                <a:spcPts val="2800"/>
              </a:lnSpc>
            </a:pPr>
            <a:r>
              <a:rPr lang="en-US" sz="2000">
                <a:solidFill>
                  <a:srgbClr val="FFFFFF"/>
                </a:solidFill>
                <a:latin typeface="Archivo Black"/>
                <a:ea typeface="Archivo Black"/>
                <a:cs typeface="Archivo Black"/>
                <a:sym typeface="Archivo Black"/>
              </a:rPr>
              <a:t>Por carpeta destino.</a:t>
            </a:r>
          </a:p>
          <a:p>
            <a:pPr algn="just">
              <a:lnSpc>
                <a:spcPts val="2800"/>
              </a:lnSpc>
            </a:pPr>
            <a:r>
              <a:rPr lang="en-US" sz="2000">
                <a:solidFill>
                  <a:srgbClr val="FFFFFF"/>
                </a:solidFill>
                <a:latin typeface="Archivo Black"/>
                <a:ea typeface="Archivo Black"/>
                <a:cs typeface="Archivo Black"/>
                <a:sym typeface="Archivo Black"/>
              </a:rPr>
              <a:t>Los filtros se aplican automáticamente al recibir mensajes.</a:t>
            </a:r>
          </a:p>
          <a:p>
            <a:pPr algn="just">
              <a:lnSpc>
                <a:spcPts val="2800"/>
              </a:lnSpc>
              <a:spcBef>
                <a:spcPct val="0"/>
              </a:spcBef>
            </a:pPr>
            <a:r>
              <a:rPr lang="en-US" sz="2000">
                <a:solidFill>
                  <a:srgbClr val="FFFFFF"/>
                </a:solidFill>
                <a:latin typeface="Archivo Black"/>
                <a:ea typeface="Archivo Black"/>
                <a:cs typeface="Archivo Black"/>
                <a:sym typeface="Archivo Black"/>
              </a:rPr>
              <a:t>Se pueden aplicar también manualmente a todos los mensajes existentes.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8101820"/>
            <a:ext cx="17259300" cy="2185180"/>
            <a:chOff x="0" y="0"/>
            <a:chExt cx="3338219" cy="422648"/>
          </a:xfrm>
        </p:grpSpPr>
        <p:sp>
          <p:nvSpPr>
            <p:cNvPr name="Freeform 3" id="3"/>
            <p:cNvSpPr/>
            <p:nvPr/>
          </p:nvSpPr>
          <p:spPr>
            <a:xfrm flipH="false" flipV="false" rot="0">
              <a:off x="0" y="0"/>
              <a:ext cx="3338218" cy="422648"/>
            </a:xfrm>
            <a:custGeom>
              <a:avLst/>
              <a:gdLst/>
              <a:ahLst/>
              <a:cxnLst/>
              <a:rect r="r" b="b" t="t" l="l"/>
              <a:pathLst>
                <a:path h="422648" w="3338218">
                  <a:moveTo>
                    <a:pt x="3338218" y="422648"/>
                  </a:moveTo>
                  <a:lnTo>
                    <a:pt x="0" y="422648"/>
                  </a:lnTo>
                  <a:lnTo>
                    <a:pt x="0" y="0"/>
                  </a:lnTo>
                  <a:lnTo>
                    <a:pt x="3338218" y="422648"/>
                  </a:lnTo>
                  <a:close/>
                </a:path>
              </a:pathLst>
            </a:custGeom>
            <a:solidFill>
              <a:srgbClr val="DC8651"/>
            </a:solidFill>
          </p:spPr>
        </p:sp>
        <p:sp>
          <p:nvSpPr>
            <p:cNvPr name="TextBox 4" id="4"/>
            <p:cNvSpPr txBox="true"/>
            <p:nvPr/>
          </p:nvSpPr>
          <p:spPr>
            <a:xfrm>
              <a:off x="0" y="173224"/>
              <a:ext cx="1669109" cy="24852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596739" y="0"/>
            <a:ext cx="5691261" cy="10287000"/>
            <a:chOff x="0" y="0"/>
            <a:chExt cx="1498933" cy="2709333"/>
          </a:xfrm>
        </p:grpSpPr>
        <p:sp>
          <p:nvSpPr>
            <p:cNvPr name="Freeform 6" id="6"/>
            <p:cNvSpPr/>
            <p:nvPr/>
          </p:nvSpPr>
          <p:spPr>
            <a:xfrm flipH="false" flipV="false" rot="0">
              <a:off x="0" y="0"/>
              <a:ext cx="1498933" cy="2709333"/>
            </a:xfrm>
            <a:custGeom>
              <a:avLst/>
              <a:gdLst/>
              <a:ahLst/>
              <a:cxnLst/>
              <a:rect r="r" b="b" t="t" l="l"/>
              <a:pathLst>
                <a:path h="2709333" w="1498933">
                  <a:moveTo>
                    <a:pt x="0" y="0"/>
                  </a:moveTo>
                  <a:lnTo>
                    <a:pt x="1498933" y="0"/>
                  </a:lnTo>
                  <a:lnTo>
                    <a:pt x="1498933" y="2709333"/>
                  </a:lnTo>
                  <a:lnTo>
                    <a:pt x="0" y="2709333"/>
                  </a:lnTo>
                  <a:close/>
                </a:path>
              </a:pathLst>
            </a:custGeom>
            <a:solidFill>
              <a:srgbClr val="DC8651"/>
            </a:solidFill>
          </p:spPr>
        </p:sp>
        <p:sp>
          <p:nvSpPr>
            <p:cNvPr name="TextBox 7" id="7"/>
            <p:cNvSpPr txBox="true"/>
            <p:nvPr/>
          </p:nvSpPr>
          <p:spPr>
            <a:xfrm>
              <a:off x="0" y="-38100"/>
              <a:ext cx="1498933" cy="27474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112029" y="353501"/>
            <a:ext cx="3086100" cy="9933499"/>
            <a:chOff x="0" y="0"/>
            <a:chExt cx="812800" cy="2616230"/>
          </a:xfrm>
        </p:grpSpPr>
        <p:sp>
          <p:nvSpPr>
            <p:cNvPr name="Freeform 9" id="9"/>
            <p:cNvSpPr/>
            <p:nvPr/>
          </p:nvSpPr>
          <p:spPr>
            <a:xfrm flipH="false" flipV="false" rot="0">
              <a:off x="0" y="0"/>
              <a:ext cx="812800" cy="2616230"/>
            </a:xfrm>
            <a:custGeom>
              <a:avLst/>
              <a:gdLst/>
              <a:ahLst/>
              <a:cxnLst/>
              <a:rect r="r" b="b" t="t" l="l"/>
              <a:pathLst>
                <a:path h="2616230" w="812800">
                  <a:moveTo>
                    <a:pt x="406400" y="0"/>
                  </a:moveTo>
                  <a:lnTo>
                    <a:pt x="812800" y="2616230"/>
                  </a:lnTo>
                  <a:lnTo>
                    <a:pt x="0" y="2616230"/>
                  </a:lnTo>
                  <a:lnTo>
                    <a:pt x="406400" y="0"/>
                  </a:lnTo>
                  <a:close/>
                </a:path>
              </a:pathLst>
            </a:custGeom>
            <a:solidFill>
              <a:srgbClr val="F1A372"/>
            </a:solidFill>
          </p:spPr>
        </p:sp>
        <p:sp>
          <p:nvSpPr>
            <p:cNvPr name="TextBox 10" id="10"/>
            <p:cNvSpPr txBox="true"/>
            <p:nvPr/>
          </p:nvSpPr>
          <p:spPr>
            <a:xfrm>
              <a:off x="127000" y="1176578"/>
              <a:ext cx="558800" cy="125277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184090"/>
            <a:ext cx="18288000" cy="1736131"/>
            <a:chOff x="0" y="0"/>
            <a:chExt cx="7742310" cy="734999"/>
          </a:xfrm>
        </p:grpSpPr>
        <p:sp>
          <p:nvSpPr>
            <p:cNvPr name="Freeform 12" id="12"/>
            <p:cNvSpPr/>
            <p:nvPr/>
          </p:nvSpPr>
          <p:spPr>
            <a:xfrm flipH="false" flipV="false" rot="0">
              <a:off x="0" y="0"/>
              <a:ext cx="7742310" cy="734999"/>
            </a:xfrm>
            <a:custGeom>
              <a:avLst/>
              <a:gdLst/>
              <a:ahLst/>
              <a:cxnLst/>
              <a:rect r="r" b="b" t="t" l="l"/>
              <a:pathLst>
                <a:path h="734999" w="7742310">
                  <a:moveTo>
                    <a:pt x="0" y="0"/>
                  </a:moveTo>
                  <a:lnTo>
                    <a:pt x="7742310" y="0"/>
                  </a:lnTo>
                  <a:lnTo>
                    <a:pt x="7742310" y="734999"/>
                  </a:lnTo>
                  <a:lnTo>
                    <a:pt x="0" y="734999"/>
                  </a:lnTo>
                  <a:close/>
                </a:path>
              </a:pathLst>
            </a:custGeom>
            <a:solidFill>
              <a:srgbClr val="F8DCBF"/>
            </a:solidFill>
          </p:spPr>
        </p:sp>
        <p:sp>
          <p:nvSpPr>
            <p:cNvPr name="TextBox 13" id="13"/>
            <p:cNvSpPr txBox="true"/>
            <p:nvPr/>
          </p:nvSpPr>
          <p:spPr>
            <a:xfrm>
              <a:off x="0" y="-38100"/>
              <a:ext cx="7742310" cy="773099"/>
            </a:xfrm>
            <a:prstGeom prst="rect">
              <a:avLst/>
            </a:prstGeom>
          </p:spPr>
          <p:txBody>
            <a:bodyPr anchor="ctr" rtlCol="false" tIns="41176" lIns="41176" bIns="41176" rIns="41176"/>
            <a:lstStyle/>
            <a:p>
              <a:pPr algn="ctr">
                <a:lnSpc>
                  <a:spcPts val="2659"/>
                </a:lnSpc>
              </a:pPr>
            </a:p>
          </p:txBody>
        </p:sp>
      </p:grpSp>
      <p:grpSp>
        <p:nvGrpSpPr>
          <p:cNvPr name="Group 14" id="14"/>
          <p:cNvGrpSpPr/>
          <p:nvPr/>
        </p:nvGrpSpPr>
        <p:grpSpPr>
          <a:xfrm rot="0">
            <a:off x="5798753" y="353501"/>
            <a:ext cx="6690495" cy="1382905"/>
            <a:chOff x="0" y="0"/>
            <a:chExt cx="3256697" cy="673149"/>
          </a:xfrm>
        </p:grpSpPr>
        <p:sp>
          <p:nvSpPr>
            <p:cNvPr name="Freeform 15" id="15"/>
            <p:cNvSpPr/>
            <p:nvPr/>
          </p:nvSpPr>
          <p:spPr>
            <a:xfrm flipH="false" flipV="false" rot="0">
              <a:off x="0" y="0"/>
              <a:ext cx="3256697" cy="673149"/>
            </a:xfrm>
            <a:custGeom>
              <a:avLst/>
              <a:gdLst/>
              <a:ahLst/>
              <a:cxnLst/>
              <a:rect r="r" b="b" t="t" l="l"/>
              <a:pathLst>
                <a:path h="673149" w="3256697">
                  <a:moveTo>
                    <a:pt x="3177279" y="0"/>
                  </a:moveTo>
                  <a:lnTo>
                    <a:pt x="79418" y="0"/>
                  </a:lnTo>
                  <a:cubicBezTo>
                    <a:pt x="79418" y="43699"/>
                    <a:pt x="44079" y="79418"/>
                    <a:pt x="0" y="79418"/>
                  </a:cubicBezTo>
                  <a:lnTo>
                    <a:pt x="0" y="593731"/>
                  </a:lnTo>
                  <a:cubicBezTo>
                    <a:pt x="43699" y="593731"/>
                    <a:pt x="79418" y="629070"/>
                    <a:pt x="79418" y="673149"/>
                  </a:cubicBezTo>
                  <a:lnTo>
                    <a:pt x="3177279" y="673149"/>
                  </a:lnTo>
                  <a:cubicBezTo>
                    <a:pt x="3177279" y="629450"/>
                    <a:pt x="3212618" y="593731"/>
                    <a:pt x="3256697" y="593731"/>
                  </a:cubicBezTo>
                  <a:lnTo>
                    <a:pt x="3256697" y="79418"/>
                  </a:lnTo>
                  <a:cubicBezTo>
                    <a:pt x="3212997" y="79418"/>
                    <a:pt x="3177279" y="44079"/>
                    <a:pt x="3177279" y="0"/>
                  </a:cubicBezTo>
                  <a:close/>
                </a:path>
              </a:pathLst>
            </a:custGeom>
            <a:solidFill>
              <a:srgbClr val="DC8651"/>
            </a:solidFill>
            <a:ln w="323850" cap="sq">
              <a:solidFill>
                <a:srgbClr val="F1A372"/>
              </a:solidFill>
              <a:prstDash val="solid"/>
              <a:miter/>
            </a:ln>
          </p:spPr>
        </p:sp>
        <p:sp>
          <p:nvSpPr>
            <p:cNvPr name="TextBox 16" id="16"/>
            <p:cNvSpPr txBox="true"/>
            <p:nvPr/>
          </p:nvSpPr>
          <p:spPr>
            <a:xfrm>
              <a:off x="38100" y="0"/>
              <a:ext cx="3180497" cy="635049"/>
            </a:xfrm>
            <a:prstGeom prst="rect">
              <a:avLst/>
            </a:prstGeom>
          </p:spPr>
          <p:txBody>
            <a:bodyPr anchor="ctr" rtlCol="false" tIns="41176" lIns="41176" bIns="41176" rIns="41176"/>
            <a:lstStyle/>
            <a:p>
              <a:pPr algn="ctr">
                <a:lnSpc>
                  <a:spcPts val="2659"/>
                </a:lnSpc>
              </a:pPr>
            </a:p>
          </p:txBody>
        </p:sp>
      </p:grpSp>
      <p:grpSp>
        <p:nvGrpSpPr>
          <p:cNvPr name="Group 17" id="17"/>
          <p:cNvGrpSpPr/>
          <p:nvPr/>
        </p:nvGrpSpPr>
        <p:grpSpPr>
          <a:xfrm rot="0">
            <a:off x="10081043" y="4424020"/>
            <a:ext cx="5148073" cy="2361248"/>
            <a:chOff x="0" y="0"/>
            <a:chExt cx="403108" cy="184892"/>
          </a:xfrm>
        </p:grpSpPr>
        <p:sp>
          <p:nvSpPr>
            <p:cNvPr name="Freeform 18" id="18"/>
            <p:cNvSpPr/>
            <p:nvPr/>
          </p:nvSpPr>
          <p:spPr>
            <a:xfrm flipH="false" flipV="false" rot="0">
              <a:off x="0" y="0"/>
              <a:ext cx="403108" cy="184892"/>
            </a:xfrm>
            <a:custGeom>
              <a:avLst/>
              <a:gdLst/>
              <a:ahLst/>
              <a:cxnLst/>
              <a:rect r="r" b="b" t="t" l="l"/>
              <a:pathLst>
                <a:path h="184892" w="403108">
                  <a:moveTo>
                    <a:pt x="29372" y="0"/>
                  </a:moveTo>
                  <a:lnTo>
                    <a:pt x="373736" y="0"/>
                  </a:lnTo>
                  <a:cubicBezTo>
                    <a:pt x="389958" y="0"/>
                    <a:pt x="403108" y="13150"/>
                    <a:pt x="403108" y="29372"/>
                  </a:cubicBezTo>
                  <a:lnTo>
                    <a:pt x="403108" y="155520"/>
                  </a:lnTo>
                  <a:cubicBezTo>
                    <a:pt x="403108" y="171742"/>
                    <a:pt x="389958" y="184892"/>
                    <a:pt x="373736" y="184892"/>
                  </a:cubicBezTo>
                  <a:lnTo>
                    <a:pt x="29372" y="184892"/>
                  </a:lnTo>
                  <a:cubicBezTo>
                    <a:pt x="21582" y="184892"/>
                    <a:pt x="14111" y="181798"/>
                    <a:pt x="8603" y="176289"/>
                  </a:cubicBezTo>
                  <a:cubicBezTo>
                    <a:pt x="3095" y="170781"/>
                    <a:pt x="0" y="163310"/>
                    <a:pt x="0" y="155520"/>
                  </a:cubicBezTo>
                  <a:lnTo>
                    <a:pt x="0" y="29372"/>
                  </a:lnTo>
                  <a:cubicBezTo>
                    <a:pt x="0" y="13150"/>
                    <a:pt x="13150" y="0"/>
                    <a:pt x="29372" y="0"/>
                  </a:cubicBezTo>
                  <a:close/>
                </a:path>
              </a:pathLst>
            </a:custGeom>
            <a:solidFill>
              <a:srgbClr val="5BB5DC"/>
            </a:solidFill>
            <a:ln w="133350" cap="rnd">
              <a:solidFill>
                <a:srgbClr val="F8DCBF"/>
              </a:solidFill>
              <a:prstDash val="solid"/>
              <a:round/>
            </a:ln>
          </p:spPr>
        </p:sp>
        <p:sp>
          <p:nvSpPr>
            <p:cNvPr name="TextBox 19" id="19"/>
            <p:cNvSpPr txBox="true"/>
            <p:nvPr/>
          </p:nvSpPr>
          <p:spPr>
            <a:xfrm>
              <a:off x="0" y="-47625"/>
              <a:ext cx="403108" cy="232517"/>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487647" y="3286398"/>
            <a:ext cx="7750592" cy="6344307"/>
            <a:chOff x="0" y="0"/>
            <a:chExt cx="735079" cy="601705"/>
          </a:xfrm>
        </p:grpSpPr>
        <p:sp>
          <p:nvSpPr>
            <p:cNvPr name="Freeform 21" id="21"/>
            <p:cNvSpPr/>
            <p:nvPr/>
          </p:nvSpPr>
          <p:spPr>
            <a:xfrm flipH="false" flipV="false" rot="0">
              <a:off x="0" y="0"/>
              <a:ext cx="735079" cy="601705"/>
            </a:xfrm>
            <a:custGeom>
              <a:avLst/>
              <a:gdLst/>
              <a:ahLst/>
              <a:cxnLst/>
              <a:rect r="r" b="b" t="t" l="l"/>
              <a:pathLst>
                <a:path h="601705" w="735079">
                  <a:moveTo>
                    <a:pt x="19509" y="0"/>
                  </a:moveTo>
                  <a:lnTo>
                    <a:pt x="715570" y="0"/>
                  </a:lnTo>
                  <a:cubicBezTo>
                    <a:pt x="726344" y="0"/>
                    <a:pt x="735079" y="8735"/>
                    <a:pt x="735079" y="19509"/>
                  </a:cubicBezTo>
                  <a:lnTo>
                    <a:pt x="735079" y="582195"/>
                  </a:lnTo>
                  <a:cubicBezTo>
                    <a:pt x="735079" y="592970"/>
                    <a:pt x="726344" y="601705"/>
                    <a:pt x="715570" y="601705"/>
                  </a:cubicBezTo>
                  <a:lnTo>
                    <a:pt x="19509" y="601705"/>
                  </a:lnTo>
                  <a:cubicBezTo>
                    <a:pt x="8735" y="601705"/>
                    <a:pt x="0" y="592970"/>
                    <a:pt x="0" y="582195"/>
                  </a:cubicBezTo>
                  <a:lnTo>
                    <a:pt x="0" y="19509"/>
                  </a:lnTo>
                  <a:cubicBezTo>
                    <a:pt x="0" y="8735"/>
                    <a:pt x="8735" y="0"/>
                    <a:pt x="19509" y="0"/>
                  </a:cubicBezTo>
                  <a:close/>
                </a:path>
              </a:pathLst>
            </a:custGeom>
            <a:solidFill>
              <a:srgbClr val="5BB5DC"/>
            </a:solidFill>
            <a:ln w="133350" cap="rnd">
              <a:solidFill>
                <a:srgbClr val="F8DCBF"/>
              </a:solidFill>
              <a:prstDash val="solid"/>
              <a:round/>
            </a:ln>
          </p:spPr>
        </p:sp>
        <p:sp>
          <p:nvSpPr>
            <p:cNvPr name="TextBox 22" id="22"/>
            <p:cNvSpPr txBox="true"/>
            <p:nvPr/>
          </p:nvSpPr>
          <p:spPr>
            <a:xfrm>
              <a:off x="0" y="-66675"/>
              <a:ext cx="735079" cy="668380"/>
            </a:xfrm>
            <a:prstGeom prst="rect">
              <a:avLst/>
            </a:prstGeom>
          </p:spPr>
          <p:txBody>
            <a:bodyPr anchor="ctr" rtlCol="false" tIns="41176" lIns="41176" bIns="41176" rIns="41176"/>
            <a:lstStyle/>
            <a:p>
              <a:pPr algn="ctr">
                <a:lnSpc>
                  <a:spcPts val="3919"/>
                </a:lnSpc>
              </a:pPr>
            </a:p>
          </p:txBody>
        </p:sp>
      </p:grpSp>
      <p:grpSp>
        <p:nvGrpSpPr>
          <p:cNvPr name="Group 23" id="23"/>
          <p:cNvGrpSpPr/>
          <p:nvPr/>
        </p:nvGrpSpPr>
        <p:grpSpPr>
          <a:xfrm rot="5400000">
            <a:off x="65662" y="-65662"/>
            <a:ext cx="2954777" cy="3086100"/>
            <a:chOff x="0" y="0"/>
            <a:chExt cx="571500" cy="596900"/>
          </a:xfrm>
        </p:grpSpPr>
        <p:sp>
          <p:nvSpPr>
            <p:cNvPr name="Freeform 24" id="24"/>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DC8651"/>
            </a:solidFill>
          </p:spPr>
        </p:sp>
        <p:sp>
          <p:nvSpPr>
            <p:cNvPr name="TextBox 25" id="25"/>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13441744" y="5413528"/>
            <a:ext cx="6660844" cy="3086100"/>
            <a:chOff x="0" y="0"/>
            <a:chExt cx="1288311" cy="596900"/>
          </a:xfrm>
        </p:grpSpPr>
        <p:sp>
          <p:nvSpPr>
            <p:cNvPr name="Freeform 27" id="27"/>
            <p:cNvSpPr/>
            <p:nvPr/>
          </p:nvSpPr>
          <p:spPr>
            <a:xfrm flipH="false" flipV="false" rot="0">
              <a:off x="0" y="0"/>
              <a:ext cx="1288311" cy="596900"/>
            </a:xfrm>
            <a:custGeom>
              <a:avLst/>
              <a:gdLst/>
              <a:ahLst/>
              <a:cxnLst/>
              <a:rect r="r" b="b" t="t" l="l"/>
              <a:pathLst>
                <a:path h="596900" w="1288311">
                  <a:moveTo>
                    <a:pt x="1288311" y="596900"/>
                  </a:moveTo>
                  <a:lnTo>
                    <a:pt x="0" y="596900"/>
                  </a:lnTo>
                  <a:lnTo>
                    <a:pt x="0" y="0"/>
                  </a:lnTo>
                  <a:lnTo>
                    <a:pt x="1288311" y="596900"/>
                  </a:lnTo>
                  <a:close/>
                </a:path>
              </a:pathLst>
            </a:custGeom>
            <a:solidFill>
              <a:srgbClr val="5BB5DC"/>
            </a:solidFill>
          </p:spPr>
        </p:sp>
        <p:sp>
          <p:nvSpPr>
            <p:cNvPr name="TextBox 28" id="28"/>
            <p:cNvSpPr txBox="true"/>
            <p:nvPr/>
          </p:nvSpPr>
          <p:spPr>
            <a:xfrm>
              <a:off x="0" y="260350"/>
              <a:ext cx="644156" cy="33528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0130219" y="4701357"/>
            <a:ext cx="5063380" cy="1758950"/>
          </a:xfrm>
          <a:prstGeom prst="rect">
            <a:avLst/>
          </a:prstGeom>
        </p:spPr>
        <p:txBody>
          <a:bodyPr anchor="t" rtlCol="false" tIns="0" lIns="0" bIns="0" rIns="0">
            <a:spAutoFit/>
          </a:bodyPr>
          <a:lstStyle/>
          <a:p>
            <a:pPr algn="ctr">
              <a:lnSpc>
                <a:spcPts val="2800"/>
              </a:lnSpc>
            </a:pPr>
            <a:r>
              <a:rPr lang="en-US" sz="2000">
                <a:solidFill>
                  <a:srgbClr val="FFFFFF"/>
                </a:solidFill>
                <a:latin typeface="Archivo Black"/>
                <a:ea typeface="Archivo Black"/>
                <a:cs typeface="Archivo Black"/>
                <a:sym typeface="Archivo Black"/>
              </a:rPr>
              <a:t>O(1) → tiempo constante</a:t>
            </a:r>
          </a:p>
          <a:p>
            <a:pPr algn="ctr">
              <a:lnSpc>
                <a:spcPts val="2800"/>
              </a:lnSpc>
            </a:pPr>
            <a:r>
              <a:rPr lang="en-US" sz="2000">
                <a:solidFill>
                  <a:srgbClr val="FFFFFF"/>
                </a:solidFill>
                <a:latin typeface="Archivo Black"/>
                <a:ea typeface="Archivo Black"/>
                <a:cs typeface="Archivo Black"/>
                <a:sym typeface="Archivo Black"/>
              </a:rPr>
              <a:t>O(n) → tiempo lineal </a:t>
            </a:r>
          </a:p>
          <a:p>
            <a:pPr algn="ctr">
              <a:lnSpc>
                <a:spcPts val="2800"/>
              </a:lnSpc>
            </a:pPr>
            <a:r>
              <a:rPr lang="en-US" sz="2000">
                <a:solidFill>
                  <a:srgbClr val="FFFFFF"/>
                </a:solidFill>
                <a:latin typeface="Archivo Black"/>
                <a:ea typeface="Archivo Black"/>
                <a:cs typeface="Archivo Black"/>
                <a:sym typeface="Archivo Black"/>
              </a:rPr>
              <a:t>O(n²) → tiempo cuadrático </a:t>
            </a:r>
          </a:p>
          <a:p>
            <a:pPr algn="ctr">
              <a:lnSpc>
                <a:spcPts val="2800"/>
              </a:lnSpc>
            </a:pPr>
            <a:r>
              <a:rPr lang="en-US" sz="2000">
                <a:solidFill>
                  <a:srgbClr val="FFFFFF"/>
                </a:solidFill>
                <a:latin typeface="Archivo Black"/>
                <a:ea typeface="Archivo Black"/>
                <a:cs typeface="Archivo Black"/>
                <a:sym typeface="Archivo Black"/>
              </a:rPr>
              <a:t>O(log n) → tiempo logarítmico</a:t>
            </a:r>
          </a:p>
          <a:p>
            <a:pPr algn="ctr">
              <a:lnSpc>
                <a:spcPts val="2800"/>
              </a:lnSpc>
              <a:spcBef>
                <a:spcPct val="0"/>
              </a:spcBef>
            </a:pPr>
            <a:r>
              <a:rPr lang="en-US" sz="2000">
                <a:solidFill>
                  <a:srgbClr val="FFFFFF"/>
                </a:solidFill>
                <a:latin typeface="Archivo Black"/>
                <a:ea typeface="Archivo Black"/>
                <a:cs typeface="Archivo Black"/>
                <a:sym typeface="Archivo Black"/>
              </a:rPr>
              <a:t>O(n log n) → tiempo cuasi lineal</a:t>
            </a:r>
          </a:p>
        </p:txBody>
      </p:sp>
      <p:sp>
        <p:nvSpPr>
          <p:cNvPr name="TextBox 30" id="30"/>
          <p:cNvSpPr txBox="true"/>
          <p:nvPr/>
        </p:nvSpPr>
        <p:spPr>
          <a:xfrm rot="0">
            <a:off x="9634149" y="6871027"/>
            <a:ext cx="6055520" cy="577215"/>
          </a:xfrm>
          <a:prstGeom prst="rect">
            <a:avLst/>
          </a:prstGeom>
        </p:spPr>
        <p:txBody>
          <a:bodyPr anchor="t" rtlCol="false" tIns="0" lIns="0" bIns="0" rIns="0">
            <a:spAutoFit/>
          </a:bodyPr>
          <a:lstStyle/>
          <a:p>
            <a:pPr algn="ctr">
              <a:lnSpc>
                <a:spcPts val="2310"/>
              </a:lnSpc>
              <a:spcBef>
                <a:spcPct val="0"/>
              </a:spcBef>
            </a:pPr>
            <a:r>
              <a:rPr lang="en-US" sz="1650">
                <a:solidFill>
                  <a:srgbClr val="FFFFFF"/>
                </a:solidFill>
                <a:latin typeface="Archivo Black"/>
                <a:ea typeface="Archivo Black"/>
                <a:cs typeface="Archivo Black"/>
                <a:sym typeface="Archivo Black"/>
              </a:rPr>
              <a:t>LA O ES  "EL ORDEN DE CRECIMIENTO DEL TIEMPO DE EJECUCIÓN DE UNA TAREA"</a:t>
            </a:r>
          </a:p>
        </p:txBody>
      </p:sp>
      <p:sp>
        <p:nvSpPr>
          <p:cNvPr name="TextBox 31" id="31"/>
          <p:cNvSpPr txBox="true"/>
          <p:nvPr/>
        </p:nvSpPr>
        <p:spPr>
          <a:xfrm rot="0">
            <a:off x="5989285" y="694594"/>
            <a:ext cx="6329105" cy="624518"/>
          </a:xfrm>
          <a:prstGeom prst="rect">
            <a:avLst/>
          </a:prstGeom>
        </p:spPr>
        <p:txBody>
          <a:bodyPr anchor="t" rtlCol="false" tIns="0" lIns="0" bIns="0" rIns="0">
            <a:spAutoFit/>
          </a:bodyPr>
          <a:lstStyle/>
          <a:p>
            <a:pPr algn="ctr">
              <a:lnSpc>
                <a:spcPts val="5051"/>
              </a:lnSpc>
            </a:pPr>
          </a:p>
        </p:txBody>
      </p:sp>
      <p:sp>
        <p:nvSpPr>
          <p:cNvPr name="TextBox 32" id="32"/>
          <p:cNvSpPr txBox="true"/>
          <p:nvPr/>
        </p:nvSpPr>
        <p:spPr>
          <a:xfrm rot="0">
            <a:off x="5989285" y="701796"/>
            <a:ext cx="6329105" cy="624518"/>
          </a:xfrm>
          <a:prstGeom prst="rect">
            <a:avLst/>
          </a:prstGeom>
        </p:spPr>
        <p:txBody>
          <a:bodyPr anchor="t" rtlCol="false" tIns="0" lIns="0" bIns="0" rIns="0">
            <a:spAutoFit/>
          </a:bodyPr>
          <a:lstStyle/>
          <a:p>
            <a:pPr algn="ctr">
              <a:lnSpc>
                <a:spcPts val="5051"/>
              </a:lnSpc>
            </a:pPr>
            <a:r>
              <a:rPr lang="en-US" sz="3608">
                <a:solidFill>
                  <a:srgbClr val="103E6A"/>
                </a:solidFill>
                <a:latin typeface="Archivo Black"/>
                <a:ea typeface="Archivo Black"/>
                <a:cs typeface="Archivo Black"/>
                <a:sym typeface="Archivo Black"/>
              </a:rPr>
              <a:t>Analisis de complejidad</a:t>
            </a:r>
          </a:p>
        </p:txBody>
      </p:sp>
      <p:sp>
        <p:nvSpPr>
          <p:cNvPr name="TextBox 33" id="33"/>
          <p:cNvSpPr txBox="true"/>
          <p:nvPr/>
        </p:nvSpPr>
        <p:spPr>
          <a:xfrm rot="0">
            <a:off x="678179" y="3385942"/>
            <a:ext cx="7531477" cy="5988050"/>
          </a:xfrm>
          <a:prstGeom prst="rect">
            <a:avLst/>
          </a:prstGeom>
        </p:spPr>
        <p:txBody>
          <a:bodyPr anchor="t" rtlCol="false" tIns="0" lIns="0" bIns="0" rIns="0">
            <a:spAutoFit/>
          </a:bodyPr>
          <a:lstStyle/>
          <a:p>
            <a:pPr algn="l">
              <a:lnSpc>
                <a:spcPts val="2800"/>
              </a:lnSpc>
            </a:pPr>
            <a:r>
              <a:rPr lang="en-US" sz="2000">
                <a:solidFill>
                  <a:srgbClr val="FFFFFF"/>
                </a:solidFill>
                <a:latin typeface="Archivo Black"/>
                <a:ea typeface="Archivo Black"/>
                <a:cs typeface="Archivo Black"/>
                <a:sym typeface="Archivo Black"/>
              </a:rPr>
              <a:t>1)Lista enlazada</a:t>
            </a:r>
          </a:p>
          <a:p>
            <a:pPr algn="l">
              <a:lnSpc>
                <a:spcPts val="2800"/>
              </a:lnSpc>
            </a:pPr>
            <a:r>
              <a:rPr lang="en-US" sz="2000">
                <a:solidFill>
                  <a:srgbClr val="FFFFFF"/>
                </a:solidFill>
                <a:latin typeface="Archivo Black"/>
                <a:ea typeface="Archivo Black"/>
                <a:cs typeface="Archivo Black"/>
                <a:sym typeface="Archivo Black"/>
              </a:rPr>
              <a:t>- Insertar: O(1)</a:t>
            </a:r>
          </a:p>
          <a:p>
            <a:pPr algn="l">
              <a:lnSpc>
                <a:spcPts val="2800"/>
              </a:lnSpc>
            </a:pPr>
            <a:r>
              <a:rPr lang="en-US" sz="2000">
                <a:solidFill>
                  <a:srgbClr val="FFFFFF"/>
                </a:solidFill>
                <a:latin typeface="Archivo Black"/>
                <a:ea typeface="Archivo Black"/>
                <a:cs typeface="Archivo Black"/>
                <a:sym typeface="Archivo Black"/>
              </a:rPr>
              <a:t>- Eliminar: O(n)</a:t>
            </a:r>
          </a:p>
          <a:p>
            <a:pPr algn="l">
              <a:lnSpc>
                <a:spcPts val="2800"/>
              </a:lnSpc>
            </a:pPr>
            <a:r>
              <a:rPr lang="en-US" sz="2000">
                <a:solidFill>
                  <a:srgbClr val="FFFFFF"/>
                </a:solidFill>
                <a:latin typeface="Archivo Black"/>
                <a:ea typeface="Archivo Black"/>
                <a:cs typeface="Archivo Black"/>
                <a:sym typeface="Archivo Black"/>
              </a:rPr>
              <a:t>- Busqueda: O(n)</a:t>
            </a:r>
          </a:p>
          <a:p>
            <a:pPr algn="l">
              <a:lnSpc>
                <a:spcPts val="2800"/>
              </a:lnSpc>
            </a:pPr>
          </a:p>
          <a:p>
            <a:pPr algn="l">
              <a:lnSpc>
                <a:spcPts val="2800"/>
              </a:lnSpc>
            </a:pPr>
            <a:r>
              <a:rPr lang="en-US" sz="2000">
                <a:solidFill>
                  <a:srgbClr val="FFFFFF"/>
                </a:solidFill>
                <a:latin typeface="Archivo Black"/>
                <a:ea typeface="Archivo Black"/>
                <a:cs typeface="Archivo Black"/>
                <a:sym typeface="Archivo Black"/>
              </a:rPr>
              <a:t>2)Pila:</a:t>
            </a:r>
          </a:p>
          <a:p>
            <a:pPr algn="l">
              <a:lnSpc>
                <a:spcPts val="2800"/>
              </a:lnSpc>
            </a:pPr>
            <a:r>
              <a:rPr lang="en-US" sz="2000">
                <a:solidFill>
                  <a:srgbClr val="FFFFFF"/>
                </a:solidFill>
                <a:latin typeface="Archivo Black"/>
                <a:ea typeface="Archivo Black"/>
                <a:cs typeface="Archivo Black"/>
                <a:sym typeface="Archivo Black"/>
              </a:rPr>
              <a:t>- Apilar/desapilar: O(n)</a:t>
            </a:r>
          </a:p>
          <a:p>
            <a:pPr algn="l">
              <a:lnSpc>
                <a:spcPts val="2800"/>
              </a:lnSpc>
            </a:pPr>
          </a:p>
          <a:p>
            <a:pPr algn="l">
              <a:lnSpc>
                <a:spcPts val="2800"/>
              </a:lnSpc>
            </a:pPr>
            <a:r>
              <a:rPr lang="en-US" sz="2000">
                <a:solidFill>
                  <a:srgbClr val="FFFFFF"/>
                </a:solidFill>
                <a:latin typeface="Archivo Black"/>
                <a:ea typeface="Archivo Black"/>
                <a:cs typeface="Archivo Black"/>
                <a:sym typeface="Archivo Black"/>
              </a:rPr>
              <a:t>3) Arbol General:</a:t>
            </a:r>
          </a:p>
          <a:p>
            <a:pPr algn="l">
              <a:lnSpc>
                <a:spcPts val="2800"/>
              </a:lnSpc>
            </a:pPr>
            <a:r>
              <a:rPr lang="en-US" sz="2000">
                <a:solidFill>
                  <a:srgbClr val="FFFFFF"/>
                </a:solidFill>
                <a:latin typeface="Archivo Black"/>
                <a:ea typeface="Archivo Black"/>
                <a:cs typeface="Archivo Black"/>
                <a:sym typeface="Archivo Black"/>
              </a:rPr>
              <a:t>- Buscar subcarpeta: O(n)</a:t>
            </a:r>
          </a:p>
          <a:p>
            <a:pPr algn="l">
              <a:lnSpc>
                <a:spcPts val="2800"/>
              </a:lnSpc>
            </a:pPr>
            <a:r>
              <a:rPr lang="en-US" sz="2000">
                <a:solidFill>
                  <a:srgbClr val="FFFFFF"/>
                </a:solidFill>
                <a:latin typeface="Archivo Black"/>
                <a:ea typeface="Archivo Black"/>
                <a:cs typeface="Archivo Black"/>
                <a:sym typeface="Archivo Black"/>
              </a:rPr>
              <a:t>- Listar contenidos recursivos: O(n)</a:t>
            </a:r>
          </a:p>
          <a:p>
            <a:pPr algn="l">
              <a:lnSpc>
                <a:spcPts val="2800"/>
              </a:lnSpc>
            </a:pPr>
            <a:r>
              <a:rPr lang="en-US" sz="2000">
                <a:solidFill>
                  <a:srgbClr val="FFFFFF"/>
                </a:solidFill>
                <a:latin typeface="Archivo Black"/>
                <a:ea typeface="Archivo Black"/>
                <a:cs typeface="Archivo Black"/>
                <a:sym typeface="Archivo Black"/>
              </a:rPr>
              <a:t>- Buscar mensajes por asunto: O(c*m)       </a:t>
            </a:r>
          </a:p>
          <a:p>
            <a:pPr algn="l">
              <a:lnSpc>
                <a:spcPts val="2800"/>
              </a:lnSpc>
            </a:pPr>
            <a:r>
              <a:rPr lang="en-US" sz="2000">
                <a:solidFill>
                  <a:srgbClr val="FFFFFF"/>
                </a:solidFill>
                <a:latin typeface="Archivo Black"/>
                <a:ea typeface="Archivo Black"/>
                <a:cs typeface="Archivo Black"/>
                <a:sym typeface="Archivo Black"/>
              </a:rPr>
              <a:t>donde       c: carpetas.       m: mensajes por carpetas</a:t>
            </a:r>
          </a:p>
          <a:p>
            <a:pPr algn="l">
              <a:lnSpc>
                <a:spcPts val="2800"/>
              </a:lnSpc>
            </a:pPr>
          </a:p>
          <a:p>
            <a:pPr algn="l">
              <a:lnSpc>
                <a:spcPts val="2800"/>
              </a:lnSpc>
            </a:pPr>
            <a:r>
              <a:rPr lang="en-US" sz="2000">
                <a:solidFill>
                  <a:srgbClr val="FFFFFF"/>
                </a:solidFill>
                <a:latin typeface="Archivo Black"/>
                <a:ea typeface="Archivo Black"/>
                <a:cs typeface="Archivo Black"/>
                <a:sym typeface="Archivo Black"/>
              </a:rPr>
              <a:t>4) Movimientos de mensajes:</a:t>
            </a:r>
          </a:p>
          <a:p>
            <a:pPr algn="l">
              <a:lnSpc>
                <a:spcPts val="2800"/>
              </a:lnSpc>
            </a:pPr>
            <a:r>
              <a:rPr lang="en-US" sz="2000">
                <a:solidFill>
                  <a:srgbClr val="FFFFFF"/>
                </a:solidFill>
                <a:latin typeface="Archivo Black"/>
                <a:ea typeface="Archivo Black"/>
                <a:cs typeface="Archivo Black"/>
                <a:sym typeface="Archivo Black"/>
              </a:rPr>
              <a:t>- Eliminar: O(n)</a:t>
            </a:r>
          </a:p>
          <a:p>
            <a:pPr algn="l">
              <a:lnSpc>
                <a:spcPts val="2800"/>
              </a:lnSpc>
              <a:spcBef>
                <a:spcPct val="0"/>
              </a:spcBef>
            </a:pPr>
            <a:r>
              <a:rPr lang="en-US" sz="2000">
                <a:solidFill>
                  <a:srgbClr val="FFFFFF"/>
                </a:solidFill>
                <a:latin typeface="Archivo Black"/>
                <a:ea typeface="Archivo Black"/>
                <a:cs typeface="Archivo Black"/>
                <a:sym typeface="Archivo Black"/>
              </a:rPr>
              <a:t>- Insertar: O(1)</a:t>
            </a:r>
          </a:p>
        </p:txBody>
      </p:sp>
      <p:sp>
        <p:nvSpPr>
          <p:cNvPr name="TextBox 34" id="34"/>
          <p:cNvSpPr txBox="true"/>
          <p:nvPr/>
        </p:nvSpPr>
        <p:spPr>
          <a:xfrm rot="0">
            <a:off x="13077678" y="1863071"/>
            <a:ext cx="5210322" cy="504825"/>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Archivo Black"/>
                <a:ea typeface="Archivo Black"/>
                <a:cs typeface="Archivo Black"/>
                <a:sym typeface="Archivo Black"/>
              </a:rPr>
              <a:t>ESTRUCTURA DE DATOS</a:t>
            </a:r>
          </a:p>
        </p:txBody>
      </p:sp>
      <p:sp>
        <p:nvSpPr>
          <p:cNvPr name="TextBox 35" id="35"/>
          <p:cNvSpPr txBox="true"/>
          <p:nvPr/>
        </p:nvSpPr>
        <p:spPr>
          <a:xfrm rot="0">
            <a:off x="487647" y="2795543"/>
            <a:ext cx="3829057" cy="490855"/>
          </a:xfrm>
          <a:prstGeom prst="rect">
            <a:avLst/>
          </a:prstGeom>
        </p:spPr>
        <p:txBody>
          <a:bodyPr anchor="t" rtlCol="false" tIns="0" lIns="0" bIns="0" rIns="0">
            <a:spAutoFit/>
          </a:bodyPr>
          <a:lstStyle/>
          <a:p>
            <a:pPr algn="l">
              <a:lnSpc>
                <a:spcPts val="3919"/>
              </a:lnSpc>
              <a:spcBef>
                <a:spcPct val="0"/>
              </a:spcBef>
            </a:pPr>
            <a:r>
              <a:rPr lang="en-US" sz="2799">
                <a:solidFill>
                  <a:srgbClr val="F8DCBF"/>
                </a:solidFill>
                <a:latin typeface="Archivo Black"/>
                <a:ea typeface="Archivo Black"/>
                <a:cs typeface="Archivo Black"/>
                <a:sym typeface="Archivo Black"/>
              </a:rPr>
              <a:t>EN EL PROGRAMA:</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103E6A"/>
        </a:solidFill>
      </p:bgPr>
    </p:bg>
    <p:spTree>
      <p:nvGrpSpPr>
        <p:cNvPr id="1" name=""/>
        <p:cNvGrpSpPr/>
        <p:nvPr/>
      </p:nvGrpSpPr>
      <p:grpSpPr>
        <a:xfrm>
          <a:off x="0" y="0"/>
          <a:ext cx="0" cy="0"/>
          <a:chOff x="0" y="0"/>
          <a:chExt cx="0" cy="0"/>
        </a:xfrm>
      </p:grpSpPr>
      <p:grpSp>
        <p:nvGrpSpPr>
          <p:cNvPr name="Group 2" id="2"/>
          <p:cNvGrpSpPr/>
          <p:nvPr/>
        </p:nvGrpSpPr>
        <p:grpSpPr>
          <a:xfrm rot="0">
            <a:off x="0" y="-205054"/>
            <a:ext cx="18288000" cy="1300781"/>
            <a:chOff x="0" y="0"/>
            <a:chExt cx="4816593" cy="342592"/>
          </a:xfrm>
        </p:grpSpPr>
        <p:sp>
          <p:nvSpPr>
            <p:cNvPr name="Freeform 3" id="3"/>
            <p:cNvSpPr/>
            <p:nvPr/>
          </p:nvSpPr>
          <p:spPr>
            <a:xfrm flipH="false" flipV="false" rot="0">
              <a:off x="0" y="0"/>
              <a:ext cx="4816592" cy="342592"/>
            </a:xfrm>
            <a:custGeom>
              <a:avLst/>
              <a:gdLst/>
              <a:ahLst/>
              <a:cxnLst/>
              <a:rect r="r" b="b" t="t" l="l"/>
              <a:pathLst>
                <a:path h="342592" w="4816592">
                  <a:moveTo>
                    <a:pt x="0" y="0"/>
                  </a:moveTo>
                  <a:lnTo>
                    <a:pt x="4816592" y="0"/>
                  </a:lnTo>
                  <a:lnTo>
                    <a:pt x="4816592" y="342592"/>
                  </a:lnTo>
                  <a:lnTo>
                    <a:pt x="0" y="342592"/>
                  </a:lnTo>
                  <a:close/>
                </a:path>
              </a:pathLst>
            </a:custGeom>
            <a:solidFill>
              <a:srgbClr val="F8DCBF"/>
            </a:solidFill>
          </p:spPr>
        </p:sp>
        <p:sp>
          <p:nvSpPr>
            <p:cNvPr name="TextBox 4" id="4"/>
            <p:cNvSpPr txBox="true"/>
            <p:nvPr/>
          </p:nvSpPr>
          <p:spPr>
            <a:xfrm>
              <a:off x="0" y="-38100"/>
              <a:ext cx="4816593" cy="38069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5610431"/>
            <a:ext cx="12126576" cy="4719460"/>
            <a:chOff x="0" y="0"/>
            <a:chExt cx="2345469" cy="912817"/>
          </a:xfrm>
        </p:grpSpPr>
        <p:sp>
          <p:nvSpPr>
            <p:cNvPr name="Freeform 6" id="6"/>
            <p:cNvSpPr/>
            <p:nvPr/>
          </p:nvSpPr>
          <p:spPr>
            <a:xfrm flipH="false" flipV="false" rot="0">
              <a:off x="0" y="0"/>
              <a:ext cx="2345469" cy="912817"/>
            </a:xfrm>
            <a:custGeom>
              <a:avLst/>
              <a:gdLst/>
              <a:ahLst/>
              <a:cxnLst/>
              <a:rect r="r" b="b" t="t" l="l"/>
              <a:pathLst>
                <a:path h="912817" w="2345469">
                  <a:moveTo>
                    <a:pt x="2345469" y="912817"/>
                  </a:moveTo>
                  <a:lnTo>
                    <a:pt x="0" y="912817"/>
                  </a:lnTo>
                  <a:lnTo>
                    <a:pt x="0" y="0"/>
                  </a:lnTo>
                  <a:lnTo>
                    <a:pt x="2345469" y="912817"/>
                  </a:lnTo>
                  <a:close/>
                </a:path>
              </a:pathLst>
            </a:custGeom>
            <a:solidFill>
              <a:srgbClr val="DC8651"/>
            </a:solidFill>
            <a:ln w="38100" cap="sq">
              <a:solidFill>
                <a:srgbClr val="FFFFFF"/>
              </a:solidFill>
              <a:prstDash val="solid"/>
              <a:miter/>
            </a:ln>
          </p:spPr>
        </p:sp>
        <p:sp>
          <p:nvSpPr>
            <p:cNvPr name="TextBox 7" id="7"/>
            <p:cNvSpPr txBox="true"/>
            <p:nvPr/>
          </p:nvSpPr>
          <p:spPr>
            <a:xfrm>
              <a:off x="0" y="418309"/>
              <a:ext cx="1172735" cy="49256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429291" y="128972"/>
            <a:ext cx="1429418" cy="2100440"/>
            <a:chOff x="0" y="0"/>
            <a:chExt cx="376472" cy="553202"/>
          </a:xfrm>
        </p:grpSpPr>
        <p:sp>
          <p:nvSpPr>
            <p:cNvPr name="Freeform 9" id="9"/>
            <p:cNvSpPr/>
            <p:nvPr/>
          </p:nvSpPr>
          <p:spPr>
            <a:xfrm flipH="false" flipV="false" rot="0">
              <a:off x="0" y="0"/>
              <a:ext cx="376472" cy="553202"/>
            </a:xfrm>
            <a:custGeom>
              <a:avLst/>
              <a:gdLst/>
              <a:ahLst/>
              <a:cxnLst/>
              <a:rect r="r" b="b" t="t" l="l"/>
              <a:pathLst>
                <a:path h="553202" w="376472">
                  <a:moveTo>
                    <a:pt x="376472" y="0"/>
                  </a:moveTo>
                  <a:lnTo>
                    <a:pt x="376472" y="438902"/>
                  </a:lnTo>
                  <a:lnTo>
                    <a:pt x="188236" y="553202"/>
                  </a:lnTo>
                  <a:lnTo>
                    <a:pt x="0" y="438902"/>
                  </a:lnTo>
                  <a:lnTo>
                    <a:pt x="0" y="0"/>
                  </a:lnTo>
                  <a:lnTo>
                    <a:pt x="376472" y="0"/>
                  </a:lnTo>
                  <a:close/>
                </a:path>
              </a:pathLst>
            </a:custGeom>
            <a:solidFill>
              <a:srgbClr val="F8DCBF"/>
            </a:solidFill>
          </p:spPr>
        </p:sp>
        <p:sp>
          <p:nvSpPr>
            <p:cNvPr name="TextBox 10" id="10"/>
            <p:cNvSpPr txBox="true"/>
            <p:nvPr/>
          </p:nvSpPr>
          <p:spPr>
            <a:xfrm>
              <a:off x="0" y="-38100"/>
              <a:ext cx="376472" cy="47700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90463" y="0"/>
            <a:ext cx="16507075" cy="1105398"/>
            <a:chOff x="0" y="0"/>
            <a:chExt cx="4347542" cy="291134"/>
          </a:xfrm>
        </p:grpSpPr>
        <p:sp>
          <p:nvSpPr>
            <p:cNvPr name="Freeform 12" id="12"/>
            <p:cNvSpPr/>
            <p:nvPr/>
          </p:nvSpPr>
          <p:spPr>
            <a:xfrm flipH="false" flipV="false" rot="0">
              <a:off x="0" y="0"/>
              <a:ext cx="4347542" cy="291134"/>
            </a:xfrm>
            <a:custGeom>
              <a:avLst/>
              <a:gdLst/>
              <a:ahLst/>
              <a:cxnLst/>
              <a:rect r="r" b="b" t="t" l="l"/>
              <a:pathLst>
                <a:path h="291134" w="4347542">
                  <a:moveTo>
                    <a:pt x="4347542" y="0"/>
                  </a:moveTo>
                  <a:lnTo>
                    <a:pt x="0" y="0"/>
                  </a:lnTo>
                  <a:lnTo>
                    <a:pt x="101600" y="145567"/>
                  </a:lnTo>
                  <a:lnTo>
                    <a:pt x="0" y="291134"/>
                  </a:lnTo>
                  <a:lnTo>
                    <a:pt x="4347542" y="291134"/>
                  </a:lnTo>
                  <a:lnTo>
                    <a:pt x="4245942" y="145567"/>
                  </a:lnTo>
                  <a:lnTo>
                    <a:pt x="4347542" y="0"/>
                  </a:lnTo>
                  <a:close/>
                </a:path>
              </a:pathLst>
            </a:custGeom>
            <a:solidFill>
              <a:srgbClr val="F1A372"/>
            </a:solidFill>
            <a:ln w="133350" cap="sq">
              <a:solidFill>
                <a:srgbClr val="DC8651"/>
              </a:solidFill>
              <a:prstDash val="solid"/>
              <a:miter/>
            </a:ln>
          </p:spPr>
        </p:sp>
        <p:sp>
          <p:nvSpPr>
            <p:cNvPr name="TextBox 13" id="13"/>
            <p:cNvSpPr txBox="true"/>
            <p:nvPr/>
          </p:nvSpPr>
          <p:spPr>
            <a:xfrm>
              <a:off x="88900" y="-38100"/>
              <a:ext cx="4169742" cy="329234"/>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603728" y="1705900"/>
            <a:ext cx="9021696" cy="8684272"/>
            <a:chOff x="0" y="0"/>
            <a:chExt cx="580512" cy="558800"/>
          </a:xfrm>
        </p:grpSpPr>
        <p:sp>
          <p:nvSpPr>
            <p:cNvPr name="Freeform 15" id="15"/>
            <p:cNvSpPr/>
            <p:nvPr/>
          </p:nvSpPr>
          <p:spPr>
            <a:xfrm flipH="false" flipV="false" rot="0">
              <a:off x="0" y="0"/>
              <a:ext cx="580512" cy="558800"/>
            </a:xfrm>
            <a:custGeom>
              <a:avLst/>
              <a:gdLst/>
              <a:ahLst/>
              <a:cxnLst/>
              <a:rect r="r" b="b" t="t" l="l"/>
              <a:pathLst>
                <a:path h="558800" w="580512">
                  <a:moveTo>
                    <a:pt x="0" y="558800"/>
                  </a:moveTo>
                  <a:cubicBezTo>
                    <a:pt x="0" y="411634"/>
                    <a:pt x="61922" y="267731"/>
                    <a:pt x="170028" y="163669"/>
                  </a:cubicBezTo>
                  <a:cubicBezTo>
                    <a:pt x="278134" y="59606"/>
                    <a:pt x="427628" y="0"/>
                    <a:pt x="580512" y="0"/>
                  </a:cubicBezTo>
                  <a:lnTo>
                    <a:pt x="580512" y="558800"/>
                  </a:lnTo>
                  <a:lnTo>
                    <a:pt x="0" y="558800"/>
                  </a:lnTo>
                  <a:close/>
                </a:path>
              </a:pathLst>
            </a:custGeom>
            <a:solidFill>
              <a:srgbClr val="F1A372"/>
            </a:solidFill>
            <a:ln w="66675" cap="sq">
              <a:solidFill>
                <a:srgbClr val="F8DCBF"/>
              </a:solidFill>
              <a:prstDash val="dash"/>
              <a:miter/>
            </a:ln>
          </p:spPr>
        </p:sp>
        <p:sp>
          <p:nvSpPr>
            <p:cNvPr name="TextBox 16" id="16"/>
            <p:cNvSpPr txBox="true"/>
            <p:nvPr/>
          </p:nvSpPr>
          <p:spPr>
            <a:xfrm>
              <a:off x="171515" y="127000"/>
              <a:ext cx="408997" cy="4318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891313" y="1355945"/>
            <a:ext cx="7015604" cy="699910"/>
            <a:chOff x="0" y="0"/>
            <a:chExt cx="9354138" cy="933213"/>
          </a:xfrm>
        </p:grpSpPr>
        <p:grpSp>
          <p:nvGrpSpPr>
            <p:cNvPr name="Group 18" id="18"/>
            <p:cNvGrpSpPr/>
            <p:nvPr/>
          </p:nvGrpSpPr>
          <p:grpSpPr>
            <a:xfrm rot="0">
              <a:off x="0" y="0"/>
              <a:ext cx="9354138" cy="933213"/>
              <a:chOff x="0" y="0"/>
              <a:chExt cx="549341" cy="54805"/>
            </a:xfrm>
          </p:grpSpPr>
          <p:sp>
            <p:nvSpPr>
              <p:cNvPr name="Freeform 19" id="19"/>
              <p:cNvSpPr/>
              <p:nvPr/>
            </p:nvSpPr>
            <p:spPr>
              <a:xfrm flipH="false" flipV="false" rot="0">
                <a:off x="0" y="0"/>
                <a:ext cx="549341" cy="54805"/>
              </a:xfrm>
              <a:custGeom>
                <a:avLst/>
                <a:gdLst/>
                <a:ahLst/>
                <a:cxnLst/>
                <a:rect r="r" b="b" t="t" l="l"/>
                <a:pathLst>
                  <a:path h="54805" w="549341">
                    <a:moveTo>
                      <a:pt x="21553" y="0"/>
                    </a:moveTo>
                    <a:lnTo>
                      <a:pt x="527788" y="0"/>
                    </a:lnTo>
                    <a:cubicBezTo>
                      <a:pt x="539691" y="0"/>
                      <a:pt x="549341" y="9650"/>
                      <a:pt x="549341" y="21553"/>
                    </a:cubicBezTo>
                    <a:lnTo>
                      <a:pt x="549341" y="33252"/>
                    </a:lnTo>
                    <a:cubicBezTo>
                      <a:pt x="549341" y="45155"/>
                      <a:pt x="539691" y="54805"/>
                      <a:pt x="527788" y="54805"/>
                    </a:cubicBezTo>
                    <a:lnTo>
                      <a:pt x="21553" y="54805"/>
                    </a:lnTo>
                    <a:cubicBezTo>
                      <a:pt x="9650" y="54805"/>
                      <a:pt x="0" y="45155"/>
                      <a:pt x="0" y="33252"/>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20" id="20"/>
              <p:cNvSpPr txBox="true"/>
              <p:nvPr/>
            </p:nvSpPr>
            <p:spPr>
              <a:xfrm>
                <a:off x="0" y="-47625"/>
                <a:ext cx="549341" cy="102430"/>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257170" y="256422"/>
              <a:ext cx="8847485" cy="372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Aprendizaje del manejo de Github, VisualCode, Draw Io</a:t>
              </a:r>
            </a:p>
          </p:txBody>
        </p:sp>
      </p:grpSp>
      <p:grpSp>
        <p:nvGrpSpPr>
          <p:cNvPr name="Group 22" id="22"/>
          <p:cNvGrpSpPr/>
          <p:nvPr/>
        </p:nvGrpSpPr>
        <p:grpSpPr>
          <a:xfrm rot="0">
            <a:off x="544799" y="4543631"/>
            <a:ext cx="7708631" cy="4128910"/>
            <a:chOff x="0" y="0"/>
            <a:chExt cx="10278174" cy="5505213"/>
          </a:xfrm>
        </p:grpSpPr>
        <p:grpSp>
          <p:nvGrpSpPr>
            <p:cNvPr name="Group 23" id="23"/>
            <p:cNvGrpSpPr/>
            <p:nvPr/>
          </p:nvGrpSpPr>
          <p:grpSpPr>
            <a:xfrm rot="0">
              <a:off x="0" y="0"/>
              <a:ext cx="10278174" cy="5505213"/>
              <a:chOff x="0" y="0"/>
              <a:chExt cx="603607" cy="323305"/>
            </a:xfrm>
          </p:grpSpPr>
          <p:sp>
            <p:nvSpPr>
              <p:cNvPr name="Freeform 24" id="24"/>
              <p:cNvSpPr/>
              <p:nvPr/>
            </p:nvSpPr>
            <p:spPr>
              <a:xfrm flipH="false" flipV="false" rot="0">
                <a:off x="0" y="0"/>
                <a:ext cx="603607" cy="323305"/>
              </a:xfrm>
              <a:custGeom>
                <a:avLst/>
                <a:gdLst/>
                <a:ahLst/>
                <a:cxnLst/>
                <a:rect r="r" b="b" t="t" l="l"/>
                <a:pathLst>
                  <a:path h="323305" w="603607">
                    <a:moveTo>
                      <a:pt x="19616" y="0"/>
                    </a:moveTo>
                    <a:lnTo>
                      <a:pt x="583991" y="0"/>
                    </a:lnTo>
                    <a:cubicBezTo>
                      <a:pt x="589194" y="0"/>
                      <a:pt x="594183" y="2067"/>
                      <a:pt x="597862" y="5745"/>
                    </a:cubicBezTo>
                    <a:cubicBezTo>
                      <a:pt x="601540" y="9424"/>
                      <a:pt x="603607" y="14413"/>
                      <a:pt x="603607" y="19616"/>
                    </a:cubicBezTo>
                    <a:lnTo>
                      <a:pt x="603607" y="303689"/>
                    </a:lnTo>
                    <a:cubicBezTo>
                      <a:pt x="603607" y="308892"/>
                      <a:pt x="601540" y="313881"/>
                      <a:pt x="597862" y="317560"/>
                    </a:cubicBezTo>
                    <a:cubicBezTo>
                      <a:pt x="594183" y="321238"/>
                      <a:pt x="589194" y="323305"/>
                      <a:pt x="583991" y="323305"/>
                    </a:cubicBezTo>
                    <a:lnTo>
                      <a:pt x="19616" y="323305"/>
                    </a:lnTo>
                    <a:cubicBezTo>
                      <a:pt x="14413" y="323305"/>
                      <a:pt x="9424" y="321238"/>
                      <a:pt x="5745" y="317560"/>
                    </a:cubicBezTo>
                    <a:cubicBezTo>
                      <a:pt x="2067" y="313881"/>
                      <a:pt x="0" y="308892"/>
                      <a:pt x="0" y="303689"/>
                    </a:cubicBezTo>
                    <a:lnTo>
                      <a:pt x="0" y="19616"/>
                    </a:lnTo>
                    <a:cubicBezTo>
                      <a:pt x="0" y="14413"/>
                      <a:pt x="2067" y="9424"/>
                      <a:pt x="5745" y="5745"/>
                    </a:cubicBezTo>
                    <a:cubicBezTo>
                      <a:pt x="9424" y="2067"/>
                      <a:pt x="14413" y="0"/>
                      <a:pt x="19616" y="0"/>
                    </a:cubicBezTo>
                    <a:close/>
                  </a:path>
                </a:pathLst>
              </a:custGeom>
              <a:solidFill>
                <a:srgbClr val="5BB5DC"/>
              </a:solidFill>
              <a:ln w="133350" cap="rnd">
                <a:solidFill>
                  <a:srgbClr val="F8DCBF"/>
                </a:solidFill>
                <a:prstDash val="solid"/>
                <a:round/>
              </a:ln>
            </p:spPr>
          </p:sp>
          <p:sp>
            <p:nvSpPr>
              <p:cNvPr name="TextBox 25" id="25"/>
              <p:cNvSpPr txBox="true"/>
              <p:nvPr/>
            </p:nvSpPr>
            <p:spPr>
              <a:xfrm>
                <a:off x="0" y="-47625"/>
                <a:ext cx="603607" cy="370930"/>
              </a:xfrm>
              <a:prstGeom prst="rect">
                <a:avLst/>
              </a:prstGeom>
            </p:spPr>
            <p:txBody>
              <a:bodyPr anchor="ctr" rtlCol="false" tIns="50800" lIns="50800" bIns="50800" rIns="50800"/>
              <a:lstStyle/>
              <a:p>
                <a:pPr algn="ctr">
                  <a:lnSpc>
                    <a:spcPts val="2800"/>
                  </a:lnSpc>
                </a:pPr>
              </a:p>
            </p:txBody>
          </p:sp>
        </p:grpSp>
        <p:sp>
          <p:nvSpPr>
            <p:cNvPr name="TextBox 26" id="26"/>
            <p:cNvSpPr txBox="true"/>
            <p:nvPr/>
          </p:nvSpPr>
          <p:spPr>
            <a:xfrm rot="0">
              <a:off x="282575" y="256422"/>
              <a:ext cx="9721472" cy="4944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Manejo de recuperación de contraseña: En primer lugar se había pensado en código aleatorio de recuperación de contraseña, pero no lo pudimos llevar a cabo, en su lugar se desarrolló una pregunta de seguridad. En este aspecto también surgió al duda donde alojar esa información, se decidió que el servidor no guardara la contraseña, sino que sea el usuario quien las almacene, y el servidor de ser necesario hacia una llamada a la información alojada en Usuario, para mantener la privacidad de los datos de cada usuario. Sin embargo, queda pendiente, la resolución de un segundo problema, ya que si el usuario se olvida la respuesta exacta de la pregunta de seguridad, no hay forma de recuperación, y quedaría bloqueado.</a:t>
              </a:r>
            </a:p>
          </p:txBody>
        </p:sp>
      </p:grpSp>
      <p:grpSp>
        <p:nvGrpSpPr>
          <p:cNvPr name="Group 27" id="27"/>
          <p:cNvGrpSpPr/>
          <p:nvPr/>
        </p:nvGrpSpPr>
        <p:grpSpPr>
          <a:xfrm rot="0">
            <a:off x="10404691" y="1355945"/>
            <a:ext cx="7015604" cy="1557160"/>
            <a:chOff x="0" y="0"/>
            <a:chExt cx="9354138" cy="2076213"/>
          </a:xfrm>
        </p:grpSpPr>
        <p:grpSp>
          <p:nvGrpSpPr>
            <p:cNvPr name="Group 28" id="28"/>
            <p:cNvGrpSpPr/>
            <p:nvPr/>
          </p:nvGrpSpPr>
          <p:grpSpPr>
            <a:xfrm rot="0">
              <a:off x="0" y="0"/>
              <a:ext cx="9354138" cy="2076213"/>
              <a:chOff x="0" y="0"/>
              <a:chExt cx="549341" cy="121930"/>
            </a:xfrm>
          </p:grpSpPr>
          <p:sp>
            <p:nvSpPr>
              <p:cNvPr name="Freeform 29" id="29"/>
              <p:cNvSpPr/>
              <p:nvPr/>
            </p:nvSpPr>
            <p:spPr>
              <a:xfrm flipH="false" flipV="false" rot="0">
                <a:off x="0" y="0"/>
                <a:ext cx="549341" cy="121930"/>
              </a:xfrm>
              <a:custGeom>
                <a:avLst/>
                <a:gdLst/>
                <a:ahLst/>
                <a:cxnLst/>
                <a:rect r="r" b="b" t="t" l="l"/>
                <a:pathLst>
                  <a:path h="121930" w="549341">
                    <a:moveTo>
                      <a:pt x="21553" y="0"/>
                    </a:moveTo>
                    <a:lnTo>
                      <a:pt x="527788" y="0"/>
                    </a:lnTo>
                    <a:cubicBezTo>
                      <a:pt x="539691" y="0"/>
                      <a:pt x="549341" y="9650"/>
                      <a:pt x="549341" y="21553"/>
                    </a:cubicBezTo>
                    <a:lnTo>
                      <a:pt x="549341" y="100377"/>
                    </a:lnTo>
                    <a:cubicBezTo>
                      <a:pt x="549341" y="112280"/>
                      <a:pt x="539691" y="121930"/>
                      <a:pt x="527788" y="121930"/>
                    </a:cubicBezTo>
                    <a:lnTo>
                      <a:pt x="21553" y="121930"/>
                    </a:lnTo>
                    <a:cubicBezTo>
                      <a:pt x="9650" y="121930"/>
                      <a:pt x="0" y="112280"/>
                      <a:pt x="0" y="10037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30" id="30"/>
              <p:cNvSpPr txBox="true"/>
              <p:nvPr/>
            </p:nvSpPr>
            <p:spPr>
              <a:xfrm>
                <a:off x="0" y="-47625"/>
                <a:ext cx="549341" cy="169555"/>
              </a:xfrm>
              <a:prstGeom prst="rect">
                <a:avLst/>
              </a:prstGeom>
            </p:spPr>
            <p:txBody>
              <a:bodyPr anchor="ctr" rtlCol="false" tIns="50800" lIns="50800" bIns="50800" rIns="50800"/>
              <a:lstStyle/>
              <a:p>
                <a:pPr algn="ctr">
                  <a:lnSpc>
                    <a:spcPts val="2800"/>
                  </a:lnSpc>
                </a:pPr>
              </a:p>
            </p:txBody>
          </p:sp>
        </p:grpSp>
        <p:sp>
          <p:nvSpPr>
            <p:cNvPr name="TextBox 31" id="31"/>
            <p:cNvSpPr txBox="true"/>
            <p:nvPr/>
          </p:nvSpPr>
          <p:spPr>
            <a:xfrm rot="0">
              <a:off x="257170" y="256422"/>
              <a:ext cx="8847485" cy="1515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Implementación del grafo. La forma de escritura para hacerlo. Es difícil visualizar los protocolos de conexión entre servidores, sobre todo cuando el externo no se rige por las mismas construcciones que el servidor tuyo. </a:t>
              </a:r>
            </a:p>
          </p:txBody>
        </p:sp>
      </p:grpSp>
      <p:grpSp>
        <p:nvGrpSpPr>
          <p:cNvPr name="Group 32" id="32"/>
          <p:cNvGrpSpPr/>
          <p:nvPr/>
        </p:nvGrpSpPr>
        <p:grpSpPr>
          <a:xfrm rot="0">
            <a:off x="10404691" y="3050676"/>
            <a:ext cx="7015604" cy="2985910"/>
            <a:chOff x="0" y="0"/>
            <a:chExt cx="9354138" cy="3981213"/>
          </a:xfrm>
        </p:grpSpPr>
        <p:grpSp>
          <p:nvGrpSpPr>
            <p:cNvPr name="Group 33" id="33"/>
            <p:cNvGrpSpPr/>
            <p:nvPr/>
          </p:nvGrpSpPr>
          <p:grpSpPr>
            <a:xfrm rot="0">
              <a:off x="0" y="0"/>
              <a:ext cx="9354138" cy="3981213"/>
              <a:chOff x="0" y="0"/>
              <a:chExt cx="549341" cy="233805"/>
            </a:xfrm>
          </p:grpSpPr>
          <p:sp>
            <p:nvSpPr>
              <p:cNvPr name="Freeform 34" id="34"/>
              <p:cNvSpPr/>
              <p:nvPr/>
            </p:nvSpPr>
            <p:spPr>
              <a:xfrm flipH="false" flipV="false" rot="0">
                <a:off x="0" y="0"/>
                <a:ext cx="549341" cy="233805"/>
              </a:xfrm>
              <a:custGeom>
                <a:avLst/>
                <a:gdLst/>
                <a:ahLst/>
                <a:cxnLst/>
                <a:rect r="r" b="b" t="t" l="l"/>
                <a:pathLst>
                  <a:path h="233805" w="549341">
                    <a:moveTo>
                      <a:pt x="21553" y="0"/>
                    </a:moveTo>
                    <a:lnTo>
                      <a:pt x="527788" y="0"/>
                    </a:lnTo>
                    <a:cubicBezTo>
                      <a:pt x="539691" y="0"/>
                      <a:pt x="549341" y="9650"/>
                      <a:pt x="549341" y="21553"/>
                    </a:cubicBezTo>
                    <a:lnTo>
                      <a:pt x="549341" y="212252"/>
                    </a:lnTo>
                    <a:cubicBezTo>
                      <a:pt x="549341" y="224155"/>
                      <a:pt x="539691" y="233805"/>
                      <a:pt x="527788" y="233805"/>
                    </a:cubicBezTo>
                    <a:lnTo>
                      <a:pt x="21553" y="233805"/>
                    </a:lnTo>
                    <a:cubicBezTo>
                      <a:pt x="9650" y="233805"/>
                      <a:pt x="0" y="224155"/>
                      <a:pt x="0" y="212252"/>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35" id="35"/>
              <p:cNvSpPr txBox="true"/>
              <p:nvPr/>
            </p:nvSpPr>
            <p:spPr>
              <a:xfrm>
                <a:off x="0" y="-47625"/>
                <a:ext cx="549341" cy="281430"/>
              </a:xfrm>
              <a:prstGeom prst="rect">
                <a:avLst/>
              </a:prstGeom>
            </p:spPr>
            <p:txBody>
              <a:bodyPr anchor="ctr" rtlCol="false" tIns="50800" lIns="50800" bIns="50800" rIns="50800"/>
              <a:lstStyle/>
              <a:p>
                <a:pPr algn="ctr">
                  <a:lnSpc>
                    <a:spcPts val="2800"/>
                  </a:lnSpc>
                </a:pPr>
              </a:p>
            </p:txBody>
          </p:sp>
        </p:grpSp>
        <p:sp>
          <p:nvSpPr>
            <p:cNvPr name="TextBox 36" id="36"/>
            <p:cNvSpPr txBox="true"/>
            <p:nvPr/>
          </p:nvSpPr>
          <p:spPr>
            <a:xfrm rot="0">
              <a:off x="257170" y="256422"/>
              <a:ext cx="8847485" cy="3420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Grafos: Qué tipo de búsqueda usar. En la abstracción pareciera que para el recorrido es más eficiente en DFS. Al seguir analizándolo, decidimos utilizar los 2 modelos porque habían 2 necesidades, la primera era el recorrido entre carpetas y subcarpetas, el árbol, en ese caso utilizamos recorrido preorder, con DFS, sin embargo al momento de la utilización de grafos en el servidor nos pareció más eficiente el modelo de BFS, ya que en diferentes fuentes consultadas así lo sugerían.</a:t>
              </a:r>
            </a:p>
          </p:txBody>
        </p:sp>
      </p:grpSp>
      <p:grpSp>
        <p:nvGrpSpPr>
          <p:cNvPr name="Group 37" id="37"/>
          <p:cNvGrpSpPr/>
          <p:nvPr/>
        </p:nvGrpSpPr>
        <p:grpSpPr>
          <a:xfrm rot="0">
            <a:off x="891313" y="2229412"/>
            <a:ext cx="7015604" cy="985660"/>
            <a:chOff x="0" y="0"/>
            <a:chExt cx="9354138" cy="1314213"/>
          </a:xfrm>
        </p:grpSpPr>
        <p:grpSp>
          <p:nvGrpSpPr>
            <p:cNvPr name="Group 38" id="38"/>
            <p:cNvGrpSpPr/>
            <p:nvPr/>
          </p:nvGrpSpPr>
          <p:grpSpPr>
            <a:xfrm rot="0">
              <a:off x="0" y="0"/>
              <a:ext cx="9354138" cy="1314213"/>
              <a:chOff x="0" y="0"/>
              <a:chExt cx="549341" cy="77180"/>
            </a:xfrm>
          </p:grpSpPr>
          <p:sp>
            <p:nvSpPr>
              <p:cNvPr name="Freeform 39" id="39"/>
              <p:cNvSpPr/>
              <p:nvPr/>
            </p:nvSpPr>
            <p:spPr>
              <a:xfrm flipH="false" flipV="false" rot="0">
                <a:off x="0" y="0"/>
                <a:ext cx="549341" cy="77180"/>
              </a:xfrm>
              <a:custGeom>
                <a:avLst/>
                <a:gdLst/>
                <a:ahLst/>
                <a:cxnLst/>
                <a:rect r="r" b="b" t="t" l="l"/>
                <a:pathLst>
                  <a:path h="77180" w="549341">
                    <a:moveTo>
                      <a:pt x="21553" y="0"/>
                    </a:moveTo>
                    <a:lnTo>
                      <a:pt x="527788" y="0"/>
                    </a:lnTo>
                    <a:cubicBezTo>
                      <a:pt x="539691" y="0"/>
                      <a:pt x="549341" y="9650"/>
                      <a:pt x="549341" y="21553"/>
                    </a:cubicBezTo>
                    <a:lnTo>
                      <a:pt x="549341" y="55627"/>
                    </a:lnTo>
                    <a:cubicBezTo>
                      <a:pt x="549341" y="67530"/>
                      <a:pt x="539691" y="77180"/>
                      <a:pt x="527788" y="77180"/>
                    </a:cubicBezTo>
                    <a:lnTo>
                      <a:pt x="21553" y="77180"/>
                    </a:lnTo>
                    <a:cubicBezTo>
                      <a:pt x="9650" y="77180"/>
                      <a:pt x="0" y="67530"/>
                      <a:pt x="0" y="5562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40" id="40"/>
              <p:cNvSpPr txBox="true"/>
              <p:nvPr/>
            </p:nvSpPr>
            <p:spPr>
              <a:xfrm>
                <a:off x="0" y="-47625"/>
                <a:ext cx="549341" cy="124805"/>
              </a:xfrm>
              <a:prstGeom prst="rect">
                <a:avLst/>
              </a:prstGeom>
            </p:spPr>
            <p:txBody>
              <a:bodyPr anchor="ctr" rtlCol="false" tIns="50800" lIns="50800" bIns="50800" rIns="50800"/>
              <a:lstStyle/>
              <a:p>
                <a:pPr algn="ctr">
                  <a:lnSpc>
                    <a:spcPts val="2800"/>
                  </a:lnSpc>
                </a:pPr>
              </a:p>
            </p:txBody>
          </p:sp>
        </p:grpSp>
        <p:sp>
          <p:nvSpPr>
            <p:cNvPr name="TextBox 41" id="41"/>
            <p:cNvSpPr txBox="true"/>
            <p:nvPr/>
          </p:nvSpPr>
          <p:spPr>
            <a:xfrm rot="0">
              <a:off x="257170" y="256422"/>
              <a:ext cx="8847485" cy="753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Comprensión de las consignas y el posterior trabajo grupal para llevarlas a cabo.</a:t>
              </a:r>
            </a:p>
          </p:txBody>
        </p:sp>
      </p:grpSp>
      <p:grpSp>
        <p:nvGrpSpPr>
          <p:cNvPr name="Group 42" id="42"/>
          <p:cNvGrpSpPr/>
          <p:nvPr/>
        </p:nvGrpSpPr>
        <p:grpSpPr>
          <a:xfrm rot="0">
            <a:off x="891313" y="3386522"/>
            <a:ext cx="7015604" cy="985660"/>
            <a:chOff x="0" y="0"/>
            <a:chExt cx="9354138" cy="1314213"/>
          </a:xfrm>
        </p:grpSpPr>
        <p:grpSp>
          <p:nvGrpSpPr>
            <p:cNvPr name="Group 43" id="43"/>
            <p:cNvGrpSpPr/>
            <p:nvPr/>
          </p:nvGrpSpPr>
          <p:grpSpPr>
            <a:xfrm rot="0">
              <a:off x="0" y="0"/>
              <a:ext cx="9354138" cy="1314213"/>
              <a:chOff x="0" y="0"/>
              <a:chExt cx="549341" cy="77180"/>
            </a:xfrm>
          </p:grpSpPr>
          <p:sp>
            <p:nvSpPr>
              <p:cNvPr name="Freeform 44" id="44"/>
              <p:cNvSpPr/>
              <p:nvPr/>
            </p:nvSpPr>
            <p:spPr>
              <a:xfrm flipH="false" flipV="false" rot="0">
                <a:off x="0" y="0"/>
                <a:ext cx="549341" cy="77180"/>
              </a:xfrm>
              <a:custGeom>
                <a:avLst/>
                <a:gdLst/>
                <a:ahLst/>
                <a:cxnLst/>
                <a:rect r="r" b="b" t="t" l="l"/>
                <a:pathLst>
                  <a:path h="77180" w="549341">
                    <a:moveTo>
                      <a:pt x="21553" y="0"/>
                    </a:moveTo>
                    <a:lnTo>
                      <a:pt x="527788" y="0"/>
                    </a:lnTo>
                    <a:cubicBezTo>
                      <a:pt x="539691" y="0"/>
                      <a:pt x="549341" y="9650"/>
                      <a:pt x="549341" y="21553"/>
                    </a:cubicBezTo>
                    <a:lnTo>
                      <a:pt x="549341" y="55627"/>
                    </a:lnTo>
                    <a:cubicBezTo>
                      <a:pt x="549341" y="67530"/>
                      <a:pt x="539691" y="77180"/>
                      <a:pt x="527788" y="77180"/>
                    </a:cubicBezTo>
                    <a:lnTo>
                      <a:pt x="21553" y="77180"/>
                    </a:lnTo>
                    <a:cubicBezTo>
                      <a:pt x="9650" y="77180"/>
                      <a:pt x="0" y="67530"/>
                      <a:pt x="0" y="5562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45" id="45"/>
              <p:cNvSpPr txBox="true"/>
              <p:nvPr/>
            </p:nvSpPr>
            <p:spPr>
              <a:xfrm>
                <a:off x="0" y="-47625"/>
                <a:ext cx="549341" cy="124805"/>
              </a:xfrm>
              <a:prstGeom prst="rect">
                <a:avLst/>
              </a:prstGeom>
            </p:spPr>
            <p:txBody>
              <a:bodyPr anchor="ctr" rtlCol="false" tIns="50800" lIns="50800" bIns="50800" rIns="50800"/>
              <a:lstStyle/>
              <a:p>
                <a:pPr algn="ctr">
                  <a:lnSpc>
                    <a:spcPts val="2800"/>
                  </a:lnSpc>
                </a:pPr>
              </a:p>
            </p:txBody>
          </p:sp>
        </p:grpSp>
        <p:sp>
          <p:nvSpPr>
            <p:cNvPr name="TextBox 46" id="46"/>
            <p:cNvSpPr txBox="true"/>
            <p:nvPr/>
          </p:nvSpPr>
          <p:spPr>
            <a:xfrm rot="0">
              <a:off x="257170" y="256422"/>
              <a:ext cx="8847485" cy="753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Al armar la estructura recursiva de carpetas, el árbol fallaba, en varios lados.</a:t>
              </a:r>
            </a:p>
          </p:txBody>
        </p:sp>
      </p:grpSp>
      <p:grpSp>
        <p:nvGrpSpPr>
          <p:cNvPr name="Group 47" id="47"/>
          <p:cNvGrpSpPr/>
          <p:nvPr/>
        </p:nvGrpSpPr>
        <p:grpSpPr>
          <a:xfrm rot="0">
            <a:off x="891313" y="8786841"/>
            <a:ext cx="7015604" cy="985660"/>
            <a:chOff x="0" y="0"/>
            <a:chExt cx="9354138" cy="1314213"/>
          </a:xfrm>
        </p:grpSpPr>
        <p:grpSp>
          <p:nvGrpSpPr>
            <p:cNvPr name="Group 48" id="48"/>
            <p:cNvGrpSpPr/>
            <p:nvPr/>
          </p:nvGrpSpPr>
          <p:grpSpPr>
            <a:xfrm rot="0">
              <a:off x="0" y="0"/>
              <a:ext cx="9354138" cy="1314213"/>
              <a:chOff x="0" y="0"/>
              <a:chExt cx="549341" cy="77180"/>
            </a:xfrm>
          </p:grpSpPr>
          <p:sp>
            <p:nvSpPr>
              <p:cNvPr name="Freeform 49" id="49"/>
              <p:cNvSpPr/>
              <p:nvPr/>
            </p:nvSpPr>
            <p:spPr>
              <a:xfrm flipH="false" flipV="false" rot="0">
                <a:off x="0" y="0"/>
                <a:ext cx="549341" cy="77180"/>
              </a:xfrm>
              <a:custGeom>
                <a:avLst/>
                <a:gdLst/>
                <a:ahLst/>
                <a:cxnLst/>
                <a:rect r="r" b="b" t="t" l="l"/>
                <a:pathLst>
                  <a:path h="77180" w="549341">
                    <a:moveTo>
                      <a:pt x="21553" y="0"/>
                    </a:moveTo>
                    <a:lnTo>
                      <a:pt x="527788" y="0"/>
                    </a:lnTo>
                    <a:cubicBezTo>
                      <a:pt x="539691" y="0"/>
                      <a:pt x="549341" y="9650"/>
                      <a:pt x="549341" y="21553"/>
                    </a:cubicBezTo>
                    <a:lnTo>
                      <a:pt x="549341" y="55627"/>
                    </a:lnTo>
                    <a:cubicBezTo>
                      <a:pt x="549341" y="67530"/>
                      <a:pt x="539691" y="77180"/>
                      <a:pt x="527788" y="77180"/>
                    </a:cubicBezTo>
                    <a:lnTo>
                      <a:pt x="21553" y="77180"/>
                    </a:lnTo>
                    <a:cubicBezTo>
                      <a:pt x="9650" y="77180"/>
                      <a:pt x="0" y="67530"/>
                      <a:pt x="0" y="5562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50" id="50"/>
              <p:cNvSpPr txBox="true"/>
              <p:nvPr/>
            </p:nvSpPr>
            <p:spPr>
              <a:xfrm>
                <a:off x="0" y="-47625"/>
                <a:ext cx="549341" cy="124805"/>
              </a:xfrm>
              <a:prstGeom prst="rect">
                <a:avLst/>
              </a:prstGeom>
            </p:spPr>
            <p:txBody>
              <a:bodyPr anchor="ctr" rtlCol="false" tIns="50800" lIns="50800" bIns="50800" rIns="50800"/>
              <a:lstStyle/>
              <a:p>
                <a:pPr algn="ctr">
                  <a:lnSpc>
                    <a:spcPts val="2800"/>
                  </a:lnSpc>
                </a:pPr>
              </a:p>
            </p:txBody>
          </p:sp>
        </p:grpSp>
        <p:sp>
          <p:nvSpPr>
            <p:cNvPr name="TextBox 51" id="51"/>
            <p:cNvSpPr txBox="true"/>
            <p:nvPr/>
          </p:nvSpPr>
          <p:spPr>
            <a:xfrm rot="0">
              <a:off x="257170" y="256422"/>
              <a:ext cx="8847485" cy="753745"/>
            </a:xfrm>
            <a:prstGeom prst="rect">
              <a:avLst/>
            </a:prstGeom>
          </p:spPr>
          <p:txBody>
            <a:bodyPr anchor="t" rtlCol="false" tIns="0" lIns="0" bIns="0" rIns="0">
              <a:spAutoFit/>
            </a:bodyPr>
            <a:lstStyle/>
            <a:p>
              <a:pPr algn="just">
                <a:lnSpc>
                  <a:spcPts val="2310"/>
                </a:lnSpc>
                <a:spcBef>
                  <a:spcPct val="0"/>
                </a:spcBef>
              </a:pPr>
              <a:r>
                <a:rPr lang="en-US" sz="1650">
                  <a:solidFill>
                    <a:srgbClr val="FFFFFF"/>
                  </a:solidFill>
                  <a:latin typeface="Archivo Black"/>
                  <a:ea typeface="Archivo Black"/>
                  <a:cs typeface="Archivo Black"/>
                  <a:sym typeface="Archivo Black"/>
                </a:rPr>
                <a:t>Manejo de los mensajes prioritarios. No se utilizó una heap, sino una cola, falto tiempo de desarrollo</a:t>
              </a:r>
            </a:p>
          </p:txBody>
        </p:sp>
      </p:grpSp>
      <p:grpSp>
        <p:nvGrpSpPr>
          <p:cNvPr name="Group 52" id="52"/>
          <p:cNvGrpSpPr/>
          <p:nvPr/>
        </p:nvGrpSpPr>
        <p:grpSpPr>
          <a:xfrm rot="0">
            <a:off x="10404691" y="6169936"/>
            <a:ext cx="7015604" cy="699910"/>
            <a:chOff x="0" y="0"/>
            <a:chExt cx="9354138" cy="933213"/>
          </a:xfrm>
        </p:grpSpPr>
        <p:grpSp>
          <p:nvGrpSpPr>
            <p:cNvPr name="Group 53" id="53"/>
            <p:cNvGrpSpPr/>
            <p:nvPr/>
          </p:nvGrpSpPr>
          <p:grpSpPr>
            <a:xfrm rot="0">
              <a:off x="0" y="0"/>
              <a:ext cx="9354138" cy="933213"/>
              <a:chOff x="0" y="0"/>
              <a:chExt cx="549341" cy="54805"/>
            </a:xfrm>
          </p:grpSpPr>
          <p:sp>
            <p:nvSpPr>
              <p:cNvPr name="Freeform 54" id="54"/>
              <p:cNvSpPr/>
              <p:nvPr/>
            </p:nvSpPr>
            <p:spPr>
              <a:xfrm flipH="false" flipV="false" rot="0">
                <a:off x="0" y="0"/>
                <a:ext cx="549341" cy="54805"/>
              </a:xfrm>
              <a:custGeom>
                <a:avLst/>
                <a:gdLst/>
                <a:ahLst/>
                <a:cxnLst/>
                <a:rect r="r" b="b" t="t" l="l"/>
                <a:pathLst>
                  <a:path h="54805" w="549341">
                    <a:moveTo>
                      <a:pt x="21553" y="0"/>
                    </a:moveTo>
                    <a:lnTo>
                      <a:pt x="527788" y="0"/>
                    </a:lnTo>
                    <a:cubicBezTo>
                      <a:pt x="539691" y="0"/>
                      <a:pt x="549341" y="9650"/>
                      <a:pt x="549341" y="21553"/>
                    </a:cubicBezTo>
                    <a:lnTo>
                      <a:pt x="549341" y="33252"/>
                    </a:lnTo>
                    <a:cubicBezTo>
                      <a:pt x="549341" y="45155"/>
                      <a:pt x="539691" y="54805"/>
                      <a:pt x="527788" y="54805"/>
                    </a:cubicBezTo>
                    <a:lnTo>
                      <a:pt x="21553" y="54805"/>
                    </a:lnTo>
                    <a:cubicBezTo>
                      <a:pt x="9650" y="54805"/>
                      <a:pt x="0" y="45155"/>
                      <a:pt x="0" y="33252"/>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55" id="55"/>
              <p:cNvSpPr txBox="true"/>
              <p:nvPr/>
            </p:nvSpPr>
            <p:spPr>
              <a:xfrm>
                <a:off x="0" y="-47625"/>
                <a:ext cx="549341" cy="102430"/>
              </a:xfrm>
              <a:prstGeom prst="rect">
                <a:avLst/>
              </a:prstGeom>
            </p:spPr>
            <p:txBody>
              <a:bodyPr anchor="ctr" rtlCol="false" tIns="50800" lIns="50800" bIns="50800" rIns="50800"/>
              <a:lstStyle/>
              <a:p>
                <a:pPr algn="ctr">
                  <a:lnSpc>
                    <a:spcPts val="2800"/>
                  </a:lnSpc>
                </a:pPr>
              </a:p>
            </p:txBody>
          </p:sp>
        </p:grpSp>
        <p:sp>
          <p:nvSpPr>
            <p:cNvPr name="TextBox 56" id="56"/>
            <p:cNvSpPr txBox="true"/>
            <p:nvPr/>
          </p:nvSpPr>
          <p:spPr>
            <a:xfrm rot="0">
              <a:off x="257170" y="256422"/>
              <a:ext cx="8847485" cy="372745"/>
            </a:xfrm>
            <a:prstGeom prst="rect">
              <a:avLst/>
            </a:prstGeom>
          </p:spPr>
          <p:txBody>
            <a:bodyPr anchor="t" rtlCol="false" tIns="0" lIns="0" bIns="0" rIns="0">
              <a:spAutoFit/>
            </a:bodyPr>
            <a:lstStyle/>
            <a:p>
              <a:pPr algn="ctr">
                <a:lnSpc>
                  <a:spcPts val="2310"/>
                </a:lnSpc>
                <a:spcBef>
                  <a:spcPct val="0"/>
                </a:spcBef>
              </a:pPr>
              <a:r>
                <a:rPr lang="en-US" sz="1650">
                  <a:solidFill>
                    <a:srgbClr val="FFFFFF"/>
                  </a:solidFill>
                  <a:latin typeface="Archivo Black"/>
                  <a:ea typeface="Archivo Black"/>
                  <a:cs typeface="Archivo Black"/>
                  <a:sym typeface="Archivo Black"/>
                </a:rPr>
                <a:t>Errores de importación por nombres de archivo</a:t>
              </a:r>
            </a:p>
          </p:txBody>
        </p:sp>
      </p:grpSp>
      <p:grpSp>
        <p:nvGrpSpPr>
          <p:cNvPr name="Group 57" id="57"/>
          <p:cNvGrpSpPr/>
          <p:nvPr/>
        </p:nvGrpSpPr>
        <p:grpSpPr>
          <a:xfrm rot="0">
            <a:off x="10404691" y="7003196"/>
            <a:ext cx="7015604" cy="699910"/>
            <a:chOff x="0" y="0"/>
            <a:chExt cx="9354138" cy="933213"/>
          </a:xfrm>
        </p:grpSpPr>
        <p:grpSp>
          <p:nvGrpSpPr>
            <p:cNvPr name="Group 58" id="58"/>
            <p:cNvGrpSpPr/>
            <p:nvPr/>
          </p:nvGrpSpPr>
          <p:grpSpPr>
            <a:xfrm rot="0">
              <a:off x="0" y="0"/>
              <a:ext cx="9354138" cy="933213"/>
              <a:chOff x="0" y="0"/>
              <a:chExt cx="549341" cy="54805"/>
            </a:xfrm>
          </p:grpSpPr>
          <p:sp>
            <p:nvSpPr>
              <p:cNvPr name="Freeform 59" id="59"/>
              <p:cNvSpPr/>
              <p:nvPr/>
            </p:nvSpPr>
            <p:spPr>
              <a:xfrm flipH="false" flipV="false" rot="0">
                <a:off x="0" y="0"/>
                <a:ext cx="549341" cy="54805"/>
              </a:xfrm>
              <a:custGeom>
                <a:avLst/>
                <a:gdLst/>
                <a:ahLst/>
                <a:cxnLst/>
                <a:rect r="r" b="b" t="t" l="l"/>
                <a:pathLst>
                  <a:path h="54805" w="549341">
                    <a:moveTo>
                      <a:pt x="21553" y="0"/>
                    </a:moveTo>
                    <a:lnTo>
                      <a:pt x="527788" y="0"/>
                    </a:lnTo>
                    <a:cubicBezTo>
                      <a:pt x="539691" y="0"/>
                      <a:pt x="549341" y="9650"/>
                      <a:pt x="549341" y="21553"/>
                    </a:cubicBezTo>
                    <a:lnTo>
                      <a:pt x="549341" y="33252"/>
                    </a:lnTo>
                    <a:cubicBezTo>
                      <a:pt x="549341" y="45155"/>
                      <a:pt x="539691" y="54805"/>
                      <a:pt x="527788" y="54805"/>
                    </a:cubicBezTo>
                    <a:lnTo>
                      <a:pt x="21553" y="54805"/>
                    </a:lnTo>
                    <a:cubicBezTo>
                      <a:pt x="9650" y="54805"/>
                      <a:pt x="0" y="45155"/>
                      <a:pt x="0" y="33252"/>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60" id="60"/>
              <p:cNvSpPr txBox="true"/>
              <p:nvPr/>
            </p:nvSpPr>
            <p:spPr>
              <a:xfrm>
                <a:off x="0" y="-47625"/>
                <a:ext cx="549341" cy="102430"/>
              </a:xfrm>
              <a:prstGeom prst="rect">
                <a:avLst/>
              </a:prstGeom>
            </p:spPr>
            <p:txBody>
              <a:bodyPr anchor="ctr" rtlCol="false" tIns="50800" lIns="50800" bIns="50800" rIns="50800"/>
              <a:lstStyle/>
              <a:p>
                <a:pPr algn="ctr">
                  <a:lnSpc>
                    <a:spcPts val="2800"/>
                  </a:lnSpc>
                </a:pPr>
              </a:p>
            </p:txBody>
          </p:sp>
        </p:grpSp>
        <p:sp>
          <p:nvSpPr>
            <p:cNvPr name="TextBox 61" id="61"/>
            <p:cNvSpPr txBox="true"/>
            <p:nvPr/>
          </p:nvSpPr>
          <p:spPr>
            <a:xfrm rot="0">
              <a:off x="257170" y="256422"/>
              <a:ext cx="8847485" cy="372745"/>
            </a:xfrm>
            <a:prstGeom prst="rect">
              <a:avLst/>
            </a:prstGeom>
          </p:spPr>
          <p:txBody>
            <a:bodyPr anchor="t" rtlCol="false" tIns="0" lIns="0" bIns="0" rIns="0">
              <a:spAutoFit/>
            </a:bodyPr>
            <a:lstStyle/>
            <a:p>
              <a:pPr algn="ctr">
                <a:lnSpc>
                  <a:spcPts val="2310"/>
                </a:lnSpc>
                <a:spcBef>
                  <a:spcPct val="0"/>
                </a:spcBef>
              </a:pPr>
              <a:r>
                <a:rPr lang="en-US" sz="1650">
                  <a:solidFill>
                    <a:srgbClr val="FFFFFF"/>
                  </a:solidFill>
                  <a:latin typeface="Archivo Black"/>
                  <a:ea typeface="Archivo Black"/>
                  <a:cs typeface="Archivo Black"/>
                  <a:sym typeface="Archivo Black"/>
                </a:rPr>
                <a:t>Errores  típicos de escritura</a:t>
              </a:r>
            </a:p>
          </p:txBody>
        </p:sp>
      </p:grpSp>
      <p:grpSp>
        <p:nvGrpSpPr>
          <p:cNvPr name="Group 62" id="62"/>
          <p:cNvGrpSpPr/>
          <p:nvPr/>
        </p:nvGrpSpPr>
        <p:grpSpPr>
          <a:xfrm rot="0">
            <a:off x="10404691" y="7817406"/>
            <a:ext cx="7015604" cy="699910"/>
            <a:chOff x="0" y="0"/>
            <a:chExt cx="9354138" cy="933213"/>
          </a:xfrm>
        </p:grpSpPr>
        <p:grpSp>
          <p:nvGrpSpPr>
            <p:cNvPr name="Group 63" id="63"/>
            <p:cNvGrpSpPr/>
            <p:nvPr/>
          </p:nvGrpSpPr>
          <p:grpSpPr>
            <a:xfrm rot="0">
              <a:off x="0" y="0"/>
              <a:ext cx="9354138" cy="933213"/>
              <a:chOff x="0" y="0"/>
              <a:chExt cx="549341" cy="54805"/>
            </a:xfrm>
          </p:grpSpPr>
          <p:sp>
            <p:nvSpPr>
              <p:cNvPr name="Freeform 64" id="64"/>
              <p:cNvSpPr/>
              <p:nvPr/>
            </p:nvSpPr>
            <p:spPr>
              <a:xfrm flipH="false" flipV="false" rot="0">
                <a:off x="0" y="0"/>
                <a:ext cx="549341" cy="54805"/>
              </a:xfrm>
              <a:custGeom>
                <a:avLst/>
                <a:gdLst/>
                <a:ahLst/>
                <a:cxnLst/>
                <a:rect r="r" b="b" t="t" l="l"/>
                <a:pathLst>
                  <a:path h="54805" w="549341">
                    <a:moveTo>
                      <a:pt x="21553" y="0"/>
                    </a:moveTo>
                    <a:lnTo>
                      <a:pt x="527788" y="0"/>
                    </a:lnTo>
                    <a:cubicBezTo>
                      <a:pt x="539691" y="0"/>
                      <a:pt x="549341" y="9650"/>
                      <a:pt x="549341" y="21553"/>
                    </a:cubicBezTo>
                    <a:lnTo>
                      <a:pt x="549341" y="33252"/>
                    </a:lnTo>
                    <a:cubicBezTo>
                      <a:pt x="549341" y="45155"/>
                      <a:pt x="539691" y="54805"/>
                      <a:pt x="527788" y="54805"/>
                    </a:cubicBezTo>
                    <a:lnTo>
                      <a:pt x="21553" y="54805"/>
                    </a:lnTo>
                    <a:cubicBezTo>
                      <a:pt x="9650" y="54805"/>
                      <a:pt x="0" y="45155"/>
                      <a:pt x="0" y="33252"/>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65" id="65"/>
              <p:cNvSpPr txBox="true"/>
              <p:nvPr/>
            </p:nvSpPr>
            <p:spPr>
              <a:xfrm>
                <a:off x="0" y="-47625"/>
                <a:ext cx="549341" cy="102430"/>
              </a:xfrm>
              <a:prstGeom prst="rect">
                <a:avLst/>
              </a:prstGeom>
            </p:spPr>
            <p:txBody>
              <a:bodyPr anchor="ctr" rtlCol="false" tIns="50800" lIns="50800" bIns="50800" rIns="50800"/>
              <a:lstStyle/>
              <a:p>
                <a:pPr algn="ctr">
                  <a:lnSpc>
                    <a:spcPts val="2800"/>
                  </a:lnSpc>
                </a:pPr>
              </a:p>
            </p:txBody>
          </p:sp>
        </p:grpSp>
        <p:sp>
          <p:nvSpPr>
            <p:cNvPr name="TextBox 66" id="66"/>
            <p:cNvSpPr txBox="true"/>
            <p:nvPr/>
          </p:nvSpPr>
          <p:spPr>
            <a:xfrm rot="0">
              <a:off x="257170" y="256422"/>
              <a:ext cx="8847485" cy="372745"/>
            </a:xfrm>
            <a:prstGeom prst="rect">
              <a:avLst/>
            </a:prstGeom>
          </p:spPr>
          <p:txBody>
            <a:bodyPr anchor="t" rtlCol="false" tIns="0" lIns="0" bIns="0" rIns="0">
              <a:spAutoFit/>
            </a:bodyPr>
            <a:lstStyle/>
            <a:p>
              <a:pPr algn="ctr">
                <a:lnSpc>
                  <a:spcPts val="2310"/>
                </a:lnSpc>
                <a:spcBef>
                  <a:spcPct val="0"/>
                </a:spcBef>
              </a:pPr>
              <a:r>
                <a:rPr lang="en-US" sz="1650">
                  <a:solidFill>
                    <a:srgbClr val="FFFFFF"/>
                  </a:solidFill>
                  <a:latin typeface="Archivo Black"/>
                  <a:ea typeface="Archivo Black"/>
                  <a:cs typeface="Archivo Black"/>
                  <a:sym typeface="Archivo Black"/>
                </a:rPr>
                <a:t>Estado inicial de los usuarios</a:t>
              </a:r>
            </a:p>
          </p:txBody>
        </p:sp>
      </p:grpSp>
      <p:grpSp>
        <p:nvGrpSpPr>
          <p:cNvPr name="Group 67" id="67"/>
          <p:cNvGrpSpPr/>
          <p:nvPr/>
        </p:nvGrpSpPr>
        <p:grpSpPr>
          <a:xfrm rot="0">
            <a:off x="10404691" y="8631616"/>
            <a:ext cx="7015604" cy="1557160"/>
            <a:chOff x="0" y="0"/>
            <a:chExt cx="9354138" cy="2076213"/>
          </a:xfrm>
        </p:grpSpPr>
        <p:grpSp>
          <p:nvGrpSpPr>
            <p:cNvPr name="Group 68" id="68"/>
            <p:cNvGrpSpPr/>
            <p:nvPr/>
          </p:nvGrpSpPr>
          <p:grpSpPr>
            <a:xfrm rot="0">
              <a:off x="0" y="0"/>
              <a:ext cx="9354138" cy="2076213"/>
              <a:chOff x="0" y="0"/>
              <a:chExt cx="549341" cy="121930"/>
            </a:xfrm>
          </p:grpSpPr>
          <p:sp>
            <p:nvSpPr>
              <p:cNvPr name="Freeform 69" id="69"/>
              <p:cNvSpPr/>
              <p:nvPr/>
            </p:nvSpPr>
            <p:spPr>
              <a:xfrm flipH="false" flipV="false" rot="0">
                <a:off x="0" y="0"/>
                <a:ext cx="549341" cy="121930"/>
              </a:xfrm>
              <a:custGeom>
                <a:avLst/>
                <a:gdLst/>
                <a:ahLst/>
                <a:cxnLst/>
                <a:rect r="r" b="b" t="t" l="l"/>
                <a:pathLst>
                  <a:path h="121930" w="549341">
                    <a:moveTo>
                      <a:pt x="21553" y="0"/>
                    </a:moveTo>
                    <a:lnTo>
                      <a:pt x="527788" y="0"/>
                    </a:lnTo>
                    <a:cubicBezTo>
                      <a:pt x="539691" y="0"/>
                      <a:pt x="549341" y="9650"/>
                      <a:pt x="549341" y="21553"/>
                    </a:cubicBezTo>
                    <a:lnTo>
                      <a:pt x="549341" y="100377"/>
                    </a:lnTo>
                    <a:cubicBezTo>
                      <a:pt x="549341" y="112280"/>
                      <a:pt x="539691" y="121930"/>
                      <a:pt x="527788" y="121930"/>
                    </a:cubicBezTo>
                    <a:lnTo>
                      <a:pt x="21553" y="121930"/>
                    </a:lnTo>
                    <a:cubicBezTo>
                      <a:pt x="9650" y="121930"/>
                      <a:pt x="0" y="112280"/>
                      <a:pt x="0" y="100377"/>
                    </a:cubicBezTo>
                    <a:lnTo>
                      <a:pt x="0" y="21553"/>
                    </a:lnTo>
                    <a:cubicBezTo>
                      <a:pt x="0" y="9650"/>
                      <a:pt x="9650" y="0"/>
                      <a:pt x="21553" y="0"/>
                    </a:cubicBezTo>
                    <a:close/>
                  </a:path>
                </a:pathLst>
              </a:custGeom>
              <a:solidFill>
                <a:srgbClr val="5BB5DC"/>
              </a:solidFill>
              <a:ln w="133350" cap="rnd">
                <a:solidFill>
                  <a:srgbClr val="F8DCBF"/>
                </a:solidFill>
                <a:prstDash val="solid"/>
                <a:round/>
              </a:ln>
            </p:spPr>
          </p:sp>
          <p:sp>
            <p:nvSpPr>
              <p:cNvPr name="TextBox 70" id="70"/>
              <p:cNvSpPr txBox="true"/>
              <p:nvPr/>
            </p:nvSpPr>
            <p:spPr>
              <a:xfrm>
                <a:off x="0" y="-47625"/>
                <a:ext cx="549341" cy="169555"/>
              </a:xfrm>
              <a:prstGeom prst="rect">
                <a:avLst/>
              </a:prstGeom>
            </p:spPr>
            <p:txBody>
              <a:bodyPr anchor="ctr" rtlCol="false" tIns="50800" lIns="50800" bIns="50800" rIns="50800"/>
              <a:lstStyle/>
              <a:p>
                <a:pPr algn="ctr">
                  <a:lnSpc>
                    <a:spcPts val="2800"/>
                  </a:lnSpc>
                </a:pPr>
              </a:p>
            </p:txBody>
          </p:sp>
        </p:grpSp>
        <p:sp>
          <p:nvSpPr>
            <p:cNvPr name="TextBox 71" id="71"/>
            <p:cNvSpPr txBox="true"/>
            <p:nvPr/>
          </p:nvSpPr>
          <p:spPr>
            <a:xfrm rot="0">
              <a:off x="257170" y="256422"/>
              <a:ext cx="8847485" cy="1515745"/>
            </a:xfrm>
            <a:prstGeom prst="rect">
              <a:avLst/>
            </a:prstGeom>
          </p:spPr>
          <p:txBody>
            <a:bodyPr anchor="t" rtlCol="false" tIns="0" lIns="0" bIns="0" rIns="0">
              <a:spAutoFit/>
            </a:bodyPr>
            <a:lstStyle/>
            <a:p>
              <a:pPr algn="ctr">
                <a:lnSpc>
                  <a:spcPts val="2310"/>
                </a:lnSpc>
                <a:spcBef>
                  <a:spcPct val="0"/>
                </a:spcBef>
              </a:pPr>
              <a:r>
                <a:rPr lang="en-US" sz="1650">
                  <a:solidFill>
                    <a:srgbClr val="FFFFFF"/>
                  </a:solidFill>
                  <a:latin typeface="Archivo Black"/>
                  <a:ea typeface="Archivo Black"/>
                  <a:cs typeface="Archivo Black"/>
                  <a:sym typeface="Archivo Black"/>
                </a:rPr>
                <a:t>Nos hubiera gustado tener un poco más de tiempo para hacer restricciones, ya que actualmente: Mail solo requiere tener @ y (.); y celular solo se valida con isdigit() y largo 10.</a:t>
              </a:r>
            </a:p>
          </p:txBody>
        </p:sp>
      </p:grpSp>
      <p:sp>
        <p:nvSpPr>
          <p:cNvPr name="TextBox 72" id="72"/>
          <p:cNvSpPr txBox="true"/>
          <p:nvPr/>
        </p:nvSpPr>
        <p:spPr>
          <a:xfrm rot="0">
            <a:off x="1959448" y="-11816"/>
            <a:ext cx="14966433" cy="1005205"/>
          </a:xfrm>
          <a:prstGeom prst="rect">
            <a:avLst/>
          </a:prstGeom>
        </p:spPr>
        <p:txBody>
          <a:bodyPr anchor="t" rtlCol="false" tIns="0" lIns="0" bIns="0" rIns="0">
            <a:spAutoFit/>
          </a:bodyPr>
          <a:lstStyle/>
          <a:p>
            <a:pPr algn="ctr">
              <a:lnSpc>
                <a:spcPts val="8119"/>
              </a:lnSpc>
            </a:pPr>
            <a:r>
              <a:rPr lang="en-US" sz="5799">
                <a:solidFill>
                  <a:srgbClr val="103E6A"/>
                </a:solidFill>
                <a:latin typeface="Archivo Black"/>
                <a:ea typeface="Archivo Black"/>
                <a:cs typeface="Archivo Black"/>
                <a:sym typeface="Archivo Black"/>
              </a:rPr>
              <a:t>Problematicas surgidas en el trabajo</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0" y="0"/>
            <a:ext cx="10051952" cy="10287000"/>
            <a:chOff x="0" y="0"/>
            <a:chExt cx="2647428" cy="2709333"/>
          </a:xfrm>
        </p:grpSpPr>
        <p:sp>
          <p:nvSpPr>
            <p:cNvPr name="Freeform 3" id="3"/>
            <p:cNvSpPr/>
            <p:nvPr/>
          </p:nvSpPr>
          <p:spPr>
            <a:xfrm flipH="false" flipV="false" rot="0">
              <a:off x="0" y="0"/>
              <a:ext cx="2647428" cy="2709333"/>
            </a:xfrm>
            <a:custGeom>
              <a:avLst/>
              <a:gdLst/>
              <a:ahLst/>
              <a:cxnLst/>
              <a:rect r="r" b="b" t="t" l="l"/>
              <a:pathLst>
                <a:path h="2709333" w="2647428">
                  <a:moveTo>
                    <a:pt x="0" y="0"/>
                  </a:moveTo>
                  <a:lnTo>
                    <a:pt x="2647428" y="0"/>
                  </a:lnTo>
                  <a:lnTo>
                    <a:pt x="2647428" y="2709333"/>
                  </a:lnTo>
                  <a:lnTo>
                    <a:pt x="0" y="2709333"/>
                  </a:lnTo>
                  <a:close/>
                </a:path>
              </a:pathLst>
            </a:custGeom>
            <a:solidFill>
              <a:srgbClr val="5BB5DC"/>
            </a:solidFill>
          </p:spPr>
        </p:sp>
        <p:sp>
          <p:nvSpPr>
            <p:cNvPr name="TextBox 4" id="4"/>
            <p:cNvSpPr txBox="true"/>
            <p:nvPr/>
          </p:nvSpPr>
          <p:spPr>
            <a:xfrm>
              <a:off x="0" y="-38100"/>
              <a:ext cx="264742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07655" y="-4352533"/>
            <a:ext cx="16280345" cy="15199151"/>
            <a:chOff x="0" y="0"/>
            <a:chExt cx="4287828" cy="4003069"/>
          </a:xfrm>
        </p:grpSpPr>
        <p:sp>
          <p:nvSpPr>
            <p:cNvPr name="Freeform 6" id="6"/>
            <p:cNvSpPr/>
            <p:nvPr/>
          </p:nvSpPr>
          <p:spPr>
            <a:xfrm flipH="false" flipV="false" rot="0">
              <a:off x="0" y="0"/>
              <a:ext cx="4287827" cy="4003068"/>
            </a:xfrm>
            <a:custGeom>
              <a:avLst/>
              <a:gdLst/>
              <a:ahLst/>
              <a:cxnLst/>
              <a:rect r="r" b="b" t="t" l="l"/>
              <a:pathLst>
                <a:path h="4003068" w="4287827">
                  <a:moveTo>
                    <a:pt x="2143914" y="0"/>
                  </a:moveTo>
                  <a:lnTo>
                    <a:pt x="4287827" y="4003068"/>
                  </a:lnTo>
                  <a:lnTo>
                    <a:pt x="0" y="4003068"/>
                  </a:lnTo>
                  <a:lnTo>
                    <a:pt x="2143914" y="0"/>
                  </a:lnTo>
                  <a:close/>
                </a:path>
              </a:pathLst>
            </a:custGeom>
            <a:solidFill>
              <a:srgbClr val="103E6A"/>
            </a:solidFill>
          </p:spPr>
        </p:sp>
        <p:sp>
          <p:nvSpPr>
            <p:cNvPr name="TextBox 7" id="7"/>
            <p:cNvSpPr txBox="true"/>
            <p:nvPr/>
          </p:nvSpPr>
          <p:spPr>
            <a:xfrm>
              <a:off x="669973" y="1820468"/>
              <a:ext cx="2947881" cy="189666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65" y="7631158"/>
            <a:ext cx="18295165" cy="2700338"/>
            <a:chOff x="0" y="0"/>
            <a:chExt cx="4818480" cy="711200"/>
          </a:xfrm>
        </p:grpSpPr>
        <p:sp>
          <p:nvSpPr>
            <p:cNvPr name="Freeform 9" id="9"/>
            <p:cNvSpPr/>
            <p:nvPr/>
          </p:nvSpPr>
          <p:spPr>
            <a:xfrm flipH="false" flipV="false" rot="0">
              <a:off x="0" y="0"/>
              <a:ext cx="4818480" cy="711200"/>
            </a:xfrm>
            <a:custGeom>
              <a:avLst/>
              <a:gdLst/>
              <a:ahLst/>
              <a:cxnLst/>
              <a:rect r="r" b="b" t="t" l="l"/>
              <a:pathLst>
                <a:path h="711200" w="4818480">
                  <a:moveTo>
                    <a:pt x="2409240" y="0"/>
                  </a:moveTo>
                  <a:lnTo>
                    <a:pt x="4818480" y="711200"/>
                  </a:lnTo>
                  <a:lnTo>
                    <a:pt x="0" y="711200"/>
                  </a:lnTo>
                  <a:lnTo>
                    <a:pt x="2409240" y="0"/>
                  </a:lnTo>
                  <a:close/>
                </a:path>
              </a:pathLst>
            </a:custGeom>
            <a:solidFill>
              <a:srgbClr val="DC8651"/>
            </a:solidFill>
          </p:spPr>
        </p:sp>
        <p:sp>
          <p:nvSpPr>
            <p:cNvPr name="TextBox 10" id="10"/>
            <p:cNvSpPr txBox="true"/>
            <p:nvPr/>
          </p:nvSpPr>
          <p:spPr>
            <a:xfrm>
              <a:off x="752887" y="292100"/>
              <a:ext cx="3312705" cy="3683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259300" y="0"/>
            <a:ext cx="1028700" cy="10287000"/>
            <a:chOff x="0" y="0"/>
            <a:chExt cx="270933" cy="2709333"/>
          </a:xfrm>
        </p:grpSpPr>
        <p:sp>
          <p:nvSpPr>
            <p:cNvPr name="Freeform 12" id="12"/>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F8DCBF"/>
            </a:solidFill>
          </p:spPr>
        </p:sp>
        <p:sp>
          <p:nvSpPr>
            <p:cNvPr name="TextBox 13" id="13"/>
            <p:cNvSpPr txBox="true"/>
            <p:nvPr/>
          </p:nvSpPr>
          <p:spPr>
            <a:xfrm>
              <a:off x="0" y="-38100"/>
              <a:ext cx="270933" cy="27474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144000" y="0"/>
            <a:ext cx="8426055" cy="10287000"/>
            <a:chOff x="0" y="0"/>
            <a:chExt cx="2219208" cy="2709333"/>
          </a:xfrm>
        </p:grpSpPr>
        <p:sp>
          <p:nvSpPr>
            <p:cNvPr name="Freeform 15" id="15"/>
            <p:cNvSpPr/>
            <p:nvPr/>
          </p:nvSpPr>
          <p:spPr>
            <a:xfrm flipH="false" flipV="false" rot="0">
              <a:off x="0" y="0"/>
              <a:ext cx="2219208" cy="2709333"/>
            </a:xfrm>
            <a:custGeom>
              <a:avLst/>
              <a:gdLst/>
              <a:ahLst/>
              <a:cxnLst/>
              <a:rect r="r" b="b" t="t" l="l"/>
              <a:pathLst>
                <a:path h="2709333" w="2219208">
                  <a:moveTo>
                    <a:pt x="0" y="0"/>
                  </a:moveTo>
                  <a:lnTo>
                    <a:pt x="2219208" y="0"/>
                  </a:lnTo>
                  <a:lnTo>
                    <a:pt x="2219208" y="2709333"/>
                  </a:lnTo>
                  <a:lnTo>
                    <a:pt x="0" y="2709333"/>
                  </a:lnTo>
                  <a:close/>
                </a:path>
              </a:pathLst>
            </a:custGeom>
            <a:solidFill>
              <a:srgbClr val="5BB5DC"/>
            </a:solidFill>
          </p:spPr>
        </p:sp>
        <p:sp>
          <p:nvSpPr>
            <p:cNvPr name="TextBox 16" id="16"/>
            <p:cNvSpPr txBox="true"/>
            <p:nvPr/>
          </p:nvSpPr>
          <p:spPr>
            <a:xfrm>
              <a:off x="0" y="-38100"/>
              <a:ext cx="2219208" cy="2747433"/>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flipV="true">
            <a:off x="3331371" y="-271460"/>
            <a:ext cx="4568425" cy="8646464"/>
          </a:xfrm>
          <a:prstGeom prst="line">
            <a:avLst/>
          </a:prstGeom>
          <a:ln cap="flat" w="142875">
            <a:solidFill>
              <a:srgbClr val="FFFFFF"/>
            </a:solidFill>
            <a:prstDash val="solid"/>
            <a:headEnd type="none" len="sm" w="sm"/>
            <a:tailEnd type="none" len="sm" w="sm"/>
          </a:ln>
        </p:spPr>
      </p:sp>
      <p:grpSp>
        <p:nvGrpSpPr>
          <p:cNvPr name="Group 18" id="18"/>
          <p:cNvGrpSpPr/>
          <p:nvPr/>
        </p:nvGrpSpPr>
        <p:grpSpPr>
          <a:xfrm rot="0">
            <a:off x="-7165" y="7200900"/>
            <a:ext cx="10272959" cy="3130595"/>
            <a:chOff x="0" y="0"/>
            <a:chExt cx="1958710" cy="596900"/>
          </a:xfrm>
        </p:grpSpPr>
        <p:sp>
          <p:nvSpPr>
            <p:cNvPr name="Freeform 19" id="19"/>
            <p:cNvSpPr/>
            <p:nvPr/>
          </p:nvSpPr>
          <p:spPr>
            <a:xfrm flipH="false" flipV="false" rot="0">
              <a:off x="0" y="0"/>
              <a:ext cx="1958710" cy="596900"/>
            </a:xfrm>
            <a:custGeom>
              <a:avLst/>
              <a:gdLst/>
              <a:ahLst/>
              <a:cxnLst/>
              <a:rect r="r" b="b" t="t" l="l"/>
              <a:pathLst>
                <a:path h="596900" w="1958710">
                  <a:moveTo>
                    <a:pt x="1958710" y="596900"/>
                  </a:moveTo>
                  <a:lnTo>
                    <a:pt x="0" y="596900"/>
                  </a:lnTo>
                  <a:lnTo>
                    <a:pt x="0" y="0"/>
                  </a:lnTo>
                  <a:lnTo>
                    <a:pt x="1958710" y="596900"/>
                  </a:lnTo>
                  <a:close/>
                </a:path>
              </a:pathLst>
            </a:custGeom>
            <a:solidFill>
              <a:srgbClr val="F1A372"/>
            </a:solidFill>
          </p:spPr>
        </p:sp>
        <p:sp>
          <p:nvSpPr>
            <p:cNvPr name="TextBox 20" id="20"/>
            <p:cNvSpPr txBox="true"/>
            <p:nvPr/>
          </p:nvSpPr>
          <p:spPr>
            <a:xfrm>
              <a:off x="0" y="260350"/>
              <a:ext cx="979355" cy="33528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472120" y="160943"/>
            <a:ext cx="7787180" cy="9895931"/>
            <a:chOff x="0" y="0"/>
            <a:chExt cx="2050945" cy="2606336"/>
          </a:xfrm>
        </p:grpSpPr>
        <p:sp>
          <p:nvSpPr>
            <p:cNvPr name="Freeform 22" id="22"/>
            <p:cNvSpPr/>
            <p:nvPr/>
          </p:nvSpPr>
          <p:spPr>
            <a:xfrm flipH="false" flipV="false" rot="0">
              <a:off x="0" y="0"/>
              <a:ext cx="2050945" cy="2606336"/>
            </a:xfrm>
            <a:custGeom>
              <a:avLst/>
              <a:gdLst/>
              <a:ahLst/>
              <a:cxnLst/>
              <a:rect r="r" b="b" t="t" l="l"/>
              <a:pathLst>
                <a:path h="2606336" w="2050945">
                  <a:moveTo>
                    <a:pt x="1971526" y="0"/>
                  </a:moveTo>
                  <a:lnTo>
                    <a:pt x="79418" y="0"/>
                  </a:lnTo>
                  <a:cubicBezTo>
                    <a:pt x="79418" y="43699"/>
                    <a:pt x="44079" y="79418"/>
                    <a:pt x="0" y="79418"/>
                  </a:cubicBezTo>
                  <a:lnTo>
                    <a:pt x="0" y="2526917"/>
                  </a:lnTo>
                  <a:cubicBezTo>
                    <a:pt x="43699" y="2526917"/>
                    <a:pt x="79418" y="2562257"/>
                    <a:pt x="79418" y="2606336"/>
                  </a:cubicBezTo>
                  <a:lnTo>
                    <a:pt x="1971526" y="2606336"/>
                  </a:lnTo>
                  <a:cubicBezTo>
                    <a:pt x="1971526" y="2562636"/>
                    <a:pt x="2006865" y="2526917"/>
                    <a:pt x="2050945" y="2526917"/>
                  </a:cubicBezTo>
                  <a:lnTo>
                    <a:pt x="2050945" y="79418"/>
                  </a:lnTo>
                  <a:cubicBezTo>
                    <a:pt x="2007245" y="79418"/>
                    <a:pt x="1971526" y="44079"/>
                    <a:pt x="1971526" y="0"/>
                  </a:cubicBezTo>
                  <a:close/>
                </a:path>
              </a:pathLst>
            </a:custGeom>
            <a:solidFill>
              <a:srgbClr val="F8DCBF"/>
            </a:solidFill>
          </p:spPr>
        </p:sp>
        <p:sp>
          <p:nvSpPr>
            <p:cNvPr name="TextBox 23" id="23"/>
            <p:cNvSpPr txBox="true"/>
            <p:nvPr/>
          </p:nvSpPr>
          <p:spPr>
            <a:xfrm>
              <a:off x="38100" y="0"/>
              <a:ext cx="1974745" cy="2568236"/>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3743392">
            <a:off x="1406215" y="3242469"/>
            <a:ext cx="6727817" cy="1203326"/>
          </a:xfrm>
          <a:prstGeom prst="rect">
            <a:avLst/>
          </a:prstGeom>
        </p:spPr>
        <p:txBody>
          <a:bodyPr anchor="t" rtlCol="false" tIns="0" lIns="0" bIns="0" rIns="0">
            <a:spAutoFit/>
          </a:bodyPr>
          <a:lstStyle/>
          <a:p>
            <a:pPr algn="l">
              <a:lnSpc>
                <a:spcPts val="9799"/>
              </a:lnSpc>
            </a:pPr>
            <a:r>
              <a:rPr lang="en-US" sz="6999">
                <a:solidFill>
                  <a:srgbClr val="FFFFFF"/>
                </a:solidFill>
                <a:latin typeface="Archivo Black"/>
                <a:ea typeface="Archivo Black"/>
                <a:cs typeface="Archivo Black"/>
                <a:sym typeface="Archivo Black"/>
              </a:rPr>
              <a:t>CONCLUSIÓN</a:t>
            </a:r>
          </a:p>
        </p:txBody>
      </p:sp>
      <p:sp>
        <p:nvSpPr>
          <p:cNvPr name="TextBox 25" id="25"/>
          <p:cNvSpPr txBox="true"/>
          <p:nvPr/>
        </p:nvSpPr>
        <p:spPr>
          <a:xfrm rot="0">
            <a:off x="9708593" y="625777"/>
            <a:ext cx="7314234" cy="8987822"/>
          </a:xfrm>
          <a:prstGeom prst="rect">
            <a:avLst/>
          </a:prstGeom>
        </p:spPr>
        <p:txBody>
          <a:bodyPr anchor="t" rtlCol="false" tIns="0" lIns="0" bIns="0" rIns="0">
            <a:spAutoFit/>
          </a:bodyPr>
          <a:lstStyle/>
          <a:p>
            <a:pPr algn="l">
              <a:lnSpc>
                <a:spcPts val="2221"/>
              </a:lnSpc>
            </a:pPr>
            <a:r>
              <a:rPr lang="en-US" sz="1586">
                <a:solidFill>
                  <a:srgbClr val="103E6A"/>
                </a:solidFill>
                <a:latin typeface="Archivo Black"/>
                <a:ea typeface="Archivo Black"/>
                <a:cs typeface="Archivo Black"/>
                <a:sym typeface="Archivo Black"/>
              </a:rPr>
              <a:t>ARRANCAR ESTE PROYECTO FUE BASTANTE MÁS DIFÍCIL DE LO QUE IMAGINABA. AL PRINCIPIO NO TENÍA BASES SÓLIDAS DE PROGRAMACIÓN ORIENTADA A OBJETOS NI DE ESTRUCTURAS DE DATOS COMPLEJAS, ASÍ QUE MUCHAS COSAS SE SINTIERON  FRUSTRANTES. PERO FRUSTRACIÓN QUE VENÍA JUSTAMENTE DE LAS GANAS DE APRENDER Y QUE NO SALGA. </a:t>
            </a:r>
          </a:p>
          <a:p>
            <a:pPr algn="l">
              <a:lnSpc>
                <a:spcPts val="2221"/>
              </a:lnSpc>
            </a:pPr>
            <a:r>
              <a:rPr lang="en-US" sz="1586">
                <a:solidFill>
                  <a:srgbClr val="103E6A"/>
                </a:solidFill>
                <a:latin typeface="Archivo Black"/>
                <a:ea typeface="Archivo Black"/>
                <a:cs typeface="Archivo Black"/>
                <a:sym typeface="Archivo Black"/>
              </a:rPr>
              <a:t>Pero, justamente por eso, el trabajo terminó siendo un proceso de aprendizaje gradual: al principio todo era confuso, después algunas piezas empezaron a encajar, y hacia la mitad ya podía reconocer patrones, justificar decisiones y entender por qué algo funcionaba o dejaba de funcionar. Hubo momentos en los que corregir algo rompía otra cosa, y tocó rearmar código varias veces.</a:t>
            </a:r>
          </a:p>
          <a:p>
            <a:pPr algn="l">
              <a:lnSpc>
                <a:spcPts val="2221"/>
              </a:lnSpc>
            </a:pPr>
            <a:r>
              <a:rPr lang="en-US" sz="1586">
                <a:solidFill>
                  <a:srgbClr val="103E6A"/>
                </a:solidFill>
                <a:latin typeface="Archivo Black"/>
                <a:ea typeface="Archivo Black"/>
                <a:cs typeface="Archivo Black"/>
                <a:sym typeface="Archivo Black"/>
              </a:rPr>
              <a:t>Todo eso llevó tiempo. Y sinceramente, aunque el proyecto se trabajó de manera progresiva, la mayor parte del esfuerzo fuerte se concentró en las últimas semanas. La baja de compañeros del grupo hizo que se deba reorganizar el trabajo, avanzar más rápido y resolver cosas con menos margen.</a:t>
            </a:r>
          </a:p>
          <a:p>
            <a:pPr algn="l">
              <a:lnSpc>
                <a:spcPts val="2221"/>
              </a:lnSpc>
            </a:pPr>
            <a:r>
              <a:rPr lang="en-US" sz="1586">
                <a:solidFill>
                  <a:srgbClr val="103E6A"/>
                </a:solidFill>
                <a:latin typeface="Archivo Black"/>
                <a:ea typeface="Archivo Black"/>
                <a:cs typeface="Archivo Black"/>
                <a:sym typeface="Archivo Black"/>
              </a:rPr>
              <a:t>Aun así, el proyecto salió. No está perfecto ni es definitivo, pero sí es una versión sólida teniendo en cuenta el punto de partida. Sobre todo, es una base que se puede seguir mejorando.</a:t>
            </a:r>
          </a:p>
          <a:p>
            <a:pPr algn="l">
              <a:lnSpc>
                <a:spcPts val="2221"/>
              </a:lnSpc>
              <a:spcBef>
                <a:spcPct val="0"/>
              </a:spcBef>
            </a:pPr>
            <a:r>
              <a:rPr lang="en-US" sz="1586">
                <a:solidFill>
                  <a:srgbClr val="103E6A"/>
                </a:solidFill>
                <a:latin typeface="Archivo Black"/>
                <a:ea typeface="Archivo Black"/>
                <a:cs typeface="Archivo Black"/>
                <a:sym typeface="Archivo Black"/>
              </a:rPr>
              <a:t>En resumen: fue un trabajo desafiante, frustrante por momentos, pero muy formativo. Ahora entiendo mucho más sobre código, estructuras de datos, recursión, grafos y cómo se integran en un sistema real. Y aunque me hubiera gustado tener más tiempo para dejarlo aún más prolijo, me quedo con que aprendí muchísimo y que en el futuro puedo seguir construyendo sobre esta versión inicial.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DAG5WzTpKC4</dc:identifier>
  <dcterms:modified xsi:type="dcterms:W3CDTF">2011-08-01T06:04:30Z</dcterms:modified>
  <cp:revision>1</cp:revision>
  <dc:title>Presentación Entrega Final</dc:title>
</cp:coreProperties>
</file>